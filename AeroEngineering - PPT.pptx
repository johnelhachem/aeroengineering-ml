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65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6535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I'm John El Hachem, and together with Samir Jabara and Charbel Mouawad, we present AeroFusion — our machine learning pipeline for reconstructing aircraft trajectories over the North Atlantic. Let me start with the problem we set out to solve.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our presentation is structured. I'll cover the problem, data, and pipeline. Samir will walk you through the three reconstruction methods and our GRU architecture. Charbel will close with results, the live demo, and conclusions.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once a flight crosses 15 degrees west longitude — roughly the Irish coast — it disappears from ADS-B radar entirely. The average blackout lasts nearly four hours. Over 400 flights per day cross this blind spot, and controllers have zero real-time position data during this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just an academic gap. Today, controllers must use procedural separation — time-based, not position-based — with inflated safety margins. With accurate trajectory reconstruction, we could enable tighter separation and more fuel-efficient routing.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combined two sources. ADS-B from OpenSky gives us dense, one-per-second reports over land — our coastal anchors. ADS-C via satellite gives sparse oceanic reports every 10 to 40 minutes — our ground truth. Together, across two years of data, we validated 1,704 complete North Atlantic crossings.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Samir Jabara. Our pipeline has eight steps: ingest raw data from Trino, clean and validate, compute a geometric baseline, build the ML dataset, run both Kalman and GRU reconstruction, evaluate analytics, expose via API, and monitor live. The headline: GRU cuts error 51 percent.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geometric baseline uses SLERP — spherical linear interpolation — between the last ADS-B fix on each coast. It draws a great-circle arc and assumes the aircraft flew straight. It knows nothing about the atmosphere, jet streams, or NAT routing. Median error: 131 kilometers.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Kalman RTS smoother adds physics. We model four state variables: along-track and cross-track position and velocity. A forward Kalman pass is followed by a backward RTS smoothing pass — non-causal, using information from both ends of the gap. Median error: 83 kilometers, a 37 percent improvement.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GRU takes a different approach entirely. We feed it 64 steps of ADS-B before the gap and 32 steps after, encode them with a bidirectional GRU, and decode the oceanic waypoints sequentially. Crucially, we predict residuals on top of the great-circle baseline — the network only needs to learn the deviation, not the absolute path. Trained on 1,094 real crossings.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details: we split by ICAO24 aircraft identifier to prevent any data leakage. 160 hidden units, 2 bidirectional layers, AdamW optimizer. Early stopping triggered at epoch 27. Trained on Google Colab with a Tesla T4 GPU. 693,891 total parameters.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Charbel Mouawad. On our held-out test set of 240 flights, the great-circle baseline gives 131 km median error. Kalman improves to 83 km — 37 percent better. Our GRU achieves 64 km — a 51 percent reduction. The 90th percentile drops from 355 to 171 km.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distribution across all 240 test flights: the GRU consistently outperforms both other methods. The median improvement is 51 percent, but many individual flights see much larger gains — especially on days with strong jet stream activity.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best single result: flight BAW2273, British Airways, August 1st 2025. The great-circle was 439 km off. The jet stream pushed this aircraft far north of the direct path. Our GRU reconstructed the trajectory to within 45 km — an 89.7 percent improvement. The network had learned the jet stream. The geometry never could.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AeroFusion dashboard brings it all together. Select any of 10 showcase flights, click reconstruct, and all three trajectories appear on a North Atlantic map. GRU in green, Kalman in blue, baseline in red, ground truth in white. Per-flight metrics update instantly. The whole system runs with one Docker command.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1,704 validated transatlantic crossings, a GRU model that cuts error 51 percent on 240 unseen flights, a full 8-step pipeline from ingestion to live demo, and a public Docker image for one-command deployment. Future work: Pacific and polar corridors, real-time ATC integration, and a GRU-Kalman ensemble. Thank you —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pic>
        <p:nvPicPr>
          <p:cNvPr id="7" name="Image 0" descr="preencoded.png"/>
          <p:cNvPicPr>
            <a:picLocks noChangeAspect="1"/>
          </p:cNvPicPr>
          <p:nvPr/>
        </p:nvPicPr>
        <p:blipFill>
          <a:blip r:embed="rId3">
            <a:alphaModFix amt="15000"/>
          </a:blip>
          <a:stretch>
            <a:fillRect/>
          </a:stretch>
        </p:blipFill>
        <p:spPr>
          <a:xfrm>
            <a:off x="0" y="0"/>
            <a:ext cx="18288001" cy="10287000"/>
          </a:xfrm>
          <a:prstGeom prst="rect">
            <a:avLst/>
          </a:prstGeom>
        </p:spPr>
      </p:pic>
      <p:sp>
        <p:nvSpPr>
          <p:cNvPr id="8" name="Text 5"/>
          <p:cNvSpPr/>
          <p:nvPr/>
        </p:nvSpPr>
        <p:spPr>
          <a:xfrm rot="-1199999">
            <a:off x="8953104" y="2571750"/>
            <a:ext cx="533400" cy="647700"/>
          </a:xfrm>
          <a:prstGeom prst="rect">
            <a:avLst/>
          </a:prstGeom>
          <a:noFill/>
          <a:ln/>
        </p:spPr>
        <p:txBody>
          <a:bodyPr wrap="square" lIns="25400" tIns="25400" rIns="25400" bIns="25400" rtlCol="0" anchor="t">
            <a:normAutofit/>
          </a:bodyPr>
          <a:lstStyle/>
          <a:p>
            <a:pPr marL="0" indent="0" algn="l">
              <a:buNone/>
            </a:pPr>
            <a:r>
              <a:rPr lang="en-US" sz="3600" dirty="0">
                <a:solidFill>
                  <a:srgbClr val="FFFFFF">
                    <a:alpha val="60000"/>
                  </a:srgbClr>
                </a:solidFill>
                <a:latin typeface="Arial" pitchFamily="34" charset="0"/>
                <a:ea typeface="Arial" pitchFamily="34" charset="-122"/>
                <a:cs typeface="Arial" pitchFamily="34" charset="-120"/>
              </a:rPr>
              <a:t>✈</a:t>
            </a:r>
            <a:endParaRPr lang="en-US" sz="3600" dirty="0"/>
          </a:p>
        </p:txBody>
      </p:sp>
      <p:sp>
        <p:nvSpPr>
          <p:cNvPr id="9" name="Shape 6"/>
          <p:cNvSpPr/>
          <p:nvPr/>
        </p:nvSpPr>
        <p:spPr>
          <a:xfrm>
            <a:off x="1333500" y="2914650"/>
            <a:ext cx="5682774" cy="398780"/>
          </a:xfrm>
          <a:prstGeom prst="roundRect">
            <a:avLst>
              <a:gd name="adj" fmla="val 9554"/>
            </a:avLst>
          </a:prstGeom>
          <a:ln w="10160">
            <a:solidFill>
              <a:srgbClr val="00D4FF"/>
            </a:solidFill>
            <a:prstDash val="solid"/>
          </a:ln>
        </p:spPr>
      </p:sp>
      <p:sp>
        <p:nvSpPr>
          <p:cNvPr id="10" name="Text 7"/>
          <p:cNvSpPr/>
          <p:nvPr/>
        </p:nvSpPr>
        <p:spPr>
          <a:xfrm>
            <a:off x="1534160" y="2981960"/>
            <a:ext cx="5451937" cy="302260"/>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180" dirty="0">
                <a:solidFill>
                  <a:srgbClr val="00D4FF"/>
                </a:solidFill>
                <a:latin typeface="Courier New" pitchFamily="34" charset="0"/>
                <a:ea typeface="Courier New" pitchFamily="34" charset="-122"/>
                <a:cs typeface="Courier New" pitchFamily="34" charset="-120"/>
              </a:rPr>
              <a:t>Machine Learning · 2026</a:t>
            </a:r>
            <a:endParaRPr lang="en-US" sz="1800" dirty="0"/>
          </a:p>
        </p:txBody>
      </p:sp>
      <p:sp>
        <p:nvSpPr>
          <p:cNvPr id="11" name="Text 8"/>
          <p:cNvSpPr/>
          <p:nvPr/>
        </p:nvSpPr>
        <p:spPr>
          <a:xfrm>
            <a:off x="1333500" y="3618230"/>
            <a:ext cx="9444973" cy="1878330"/>
          </a:xfrm>
          <a:prstGeom prst="rect">
            <a:avLst/>
          </a:prstGeom>
          <a:noFill/>
          <a:ln/>
        </p:spPr>
        <p:txBody>
          <a:bodyPr wrap="square" lIns="25400" tIns="25400" rIns="25400" bIns="25400" rtlCol="0" anchor="t">
            <a:normAutofit/>
          </a:bodyPr>
          <a:lstStyle/>
          <a:p>
            <a:pPr marL="0" indent="0" algn="l">
              <a:lnSpc>
                <a:spcPct val="105000"/>
              </a:lnSpc>
              <a:buNone/>
            </a:pPr>
            <a:r>
              <a:rPr lang="en-US" sz="6900" b="1" dirty="0">
                <a:solidFill>
                  <a:srgbClr val="FFFFFF"/>
                </a:solidFill>
                <a:latin typeface="Arial" pitchFamily="34" charset="0"/>
                <a:ea typeface="Arial" pitchFamily="34" charset="-122"/>
                <a:cs typeface="Arial" pitchFamily="34" charset="-120"/>
              </a:rPr>
              <a:t>ADS-B &amp; ADS-C </a:t>
            </a:r>
            <a:r>
              <a:rPr lang="en-US" sz="6900" b="1" dirty="0">
                <a:solidFill>
                  <a:srgbClr val="00D4FF"/>
                </a:solidFill>
                <a:latin typeface="Arial" pitchFamily="34" charset="0"/>
                <a:ea typeface="Arial" pitchFamily="34" charset="-122"/>
                <a:cs typeface="Arial" pitchFamily="34" charset="-120"/>
              </a:rPr>
              <a:t>Trajectory Fusion</a:t>
            </a:r>
            <a:endParaRPr lang="en-US" sz="6900" dirty="0"/>
          </a:p>
        </p:txBody>
      </p:sp>
      <p:sp>
        <p:nvSpPr>
          <p:cNvPr id="12" name="Text 9"/>
          <p:cNvSpPr/>
          <p:nvPr/>
        </p:nvSpPr>
        <p:spPr>
          <a:xfrm>
            <a:off x="1333500" y="5687060"/>
            <a:ext cx="9444973" cy="474980"/>
          </a:xfrm>
          <a:prstGeom prst="rect">
            <a:avLst/>
          </a:prstGeom>
          <a:noFill/>
          <a:ln/>
        </p:spPr>
        <p:txBody>
          <a:bodyPr wrap="square" lIns="25400" tIns="25400" rIns="25400" bIns="25400" rtlCol="0" anchor="t">
            <a:normAutofit/>
          </a:bodyPr>
          <a:lstStyle/>
          <a:p>
            <a:pPr marL="0" indent="0" algn="l">
              <a:buNone/>
            </a:pPr>
            <a:r>
              <a:rPr lang="en-US" sz="3000" dirty="0">
                <a:solidFill>
                  <a:srgbClr val="E8F4FF">
                    <a:alpha val="70000"/>
                  </a:srgbClr>
                </a:solidFill>
                <a:latin typeface="Arial" pitchFamily="34" charset="0"/>
                <a:ea typeface="Arial" pitchFamily="34" charset="-122"/>
                <a:cs typeface="Arial" pitchFamily="34" charset="-120"/>
              </a:rPr>
              <a:t>Gap-Filling and Route Analytics over the North Atlantic</a:t>
            </a:r>
            <a:endParaRPr lang="en-US" sz="3000" dirty="0"/>
          </a:p>
        </p:txBody>
      </p:sp>
      <p:sp>
        <p:nvSpPr>
          <p:cNvPr id="13" name="Text 10"/>
          <p:cNvSpPr/>
          <p:nvPr/>
        </p:nvSpPr>
        <p:spPr>
          <a:xfrm>
            <a:off x="1333500" y="6619240"/>
            <a:ext cx="9444973" cy="383540"/>
          </a:xfrm>
          <a:prstGeom prst="rect">
            <a:avLst/>
          </a:prstGeom>
          <a:noFill/>
          <a:ln/>
        </p:spPr>
        <p:txBody>
          <a:bodyPr wrap="square" lIns="25400" tIns="25400" rIns="25400" bIns="25400" rtlCol="0" anchor="t">
            <a:normAutofit/>
          </a:bodyPr>
          <a:lstStyle/>
          <a:p>
            <a:pPr marL="0" indent="0" algn="l">
              <a:buNone/>
            </a:pPr>
            <a:r>
              <a:rPr lang="en-US" sz="2400" kern="0" spc="144" dirty="0">
                <a:solidFill>
                  <a:srgbClr val="FFFFFF"/>
                </a:solidFill>
                <a:latin typeface="Arial" pitchFamily="34" charset="0"/>
                <a:ea typeface="Arial" pitchFamily="34" charset="-122"/>
                <a:cs typeface="Arial" pitchFamily="34" charset="-120"/>
              </a:rPr>
              <a:t>John El Hachem · Samir Jabara · Charbel Mouawad</a:t>
            </a:r>
            <a:endParaRPr lang="en-US" sz="2400" dirty="0"/>
          </a:p>
        </p:txBody>
      </p:sp>
      <p:sp>
        <p:nvSpPr>
          <p:cNvPr id="14" name="Text 11"/>
          <p:cNvSpPr/>
          <p:nvPr/>
        </p:nvSpPr>
        <p:spPr>
          <a:xfrm>
            <a:off x="1333500" y="7098030"/>
            <a:ext cx="9444973" cy="312420"/>
          </a:xfrm>
          <a:prstGeom prst="rect">
            <a:avLst/>
          </a:prstGeom>
          <a:noFill/>
          <a:ln/>
        </p:spPr>
        <p:txBody>
          <a:bodyPr wrap="square" lIns="25400" tIns="25400" rIns="25400" bIns="25400" rtlCol="0" anchor="t">
            <a:normAutofit fontScale="92500" lnSpcReduction="10000"/>
          </a:bodyPr>
          <a:lstStyle/>
          <a:p>
            <a:pPr marL="0" indent="0" algn="l">
              <a:buNone/>
            </a:pPr>
            <a:r>
              <a:rPr lang="en-US" sz="1950" kern="0" spc="156" dirty="0">
                <a:solidFill>
                  <a:srgbClr val="5A7A9A"/>
                </a:solidFill>
                <a:latin typeface="Courier New" pitchFamily="34" charset="0"/>
                <a:ea typeface="Courier New" pitchFamily="34" charset="-122"/>
                <a:cs typeface="Courier New" pitchFamily="34" charset="-120"/>
              </a:rPr>
              <a:t>UNIVERSITÉ SAINT-JOSEPH DE BEYROUTH · ESIB</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sp>
        <p:nvSpPr>
          <p:cNvPr id="7" name="Shape 5"/>
          <p:cNvSpPr/>
          <p:nvPr/>
        </p:nvSpPr>
        <p:spPr>
          <a:xfrm>
            <a:off x="952500" y="762000"/>
            <a:ext cx="16383001" cy="398780"/>
          </a:xfrm>
          <a:prstGeom prst="roundRect">
            <a:avLst>
              <a:gd name="adj" fmla="val 9554"/>
            </a:avLst>
          </a:prstGeom>
          <a:ln w="10160">
            <a:solidFill>
              <a:srgbClr val="00D4FF"/>
            </a:solidFill>
            <a:prstDash val="solid"/>
          </a:ln>
        </p:spPr>
      </p:sp>
      <p:sp>
        <p:nvSpPr>
          <p:cNvPr id="8" name="Text 6"/>
          <p:cNvSpPr/>
          <p:nvPr/>
        </p:nvSpPr>
        <p:spPr>
          <a:xfrm>
            <a:off x="1153160" y="829310"/>
            <a:ext cx="16473171"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D4FF"/>
                </a:solidFill>
                <a:latin typeface="Courier New" pitchFamily="34" charset="0"/>
                <a:ea typeface="Courier New" pitchFamily="34" charset="-122"/>
                <a:cs typeface="Courier New" pitchFamily="34" charset="-120"/>
              </a:rPr>
              <a:t>OVERVIEW</a:t>
            </a:r>
            <a:endParaRPr lang="en-US" sz="1800" dirty="0"/>
          </a:p>
        </p:txBody>
      </p:sp>
      <p:sp>
        <p:nvSpPr>
          <p:cNvPr id="9" name="Text 7"/>
          <p:cNvSpPr/>
          <p:nvPr/>
        </p:nvSpPr>
        <p:spPr>
          <a:xfrm>
            <a:off x="952500" y="1465580"/>
            <a:ext cx="16874491" cy="708660"/>
          </a:xfrm>
          <a:prstGeom prst="rect">
            <a:avLst/>
          </a:prstGeom>
          <a:noFill/>
          <a:ln/>
        </p:spPr>
        <p:txBody>
          <a:bodyPr wrap="square" lIns="25400" tIns="25400" rIns="25400" bIns="25400" rtlCol="0" anchor="t">
            <a:normAutofit/>
          </a:bodyPr>
          <a:lstStyle/>
          <a:p>
            <a:pPr marL="0" indent="0" algn="l">
              <a:lnSpc>
                <a:spcPct val="110000"/>
              </a:lnSpc>
              <a:buNone/>
            </a:pPr>
            <a:r>
              <a:rPr lang="en-US" sz="4800" b="1" dirty="0">
                <a:solidFill>
                  <a:srgbClr val="E8F4FF"/>
                </a:solidFill>
                <a:latin typeface="Arial" pitchFamily="34" charset="0"/>
                <a:ea typeface="Arial" pitchFamily="34" charset="-122"/>
                <a:cs typeface="Arial" pitchFamily="34" charset="-120"/>
              </a:rPr>
              <a:t>Presentation </a:t>
            </a:r>
            <a:r>
              <a:rPr lang="en-US" sz="4800" b="1" dirty="0">
                <a:solidFill>
                  <a:srgbClr val="00D4FF"/>
                </a:solidFill>
                <a:latin typeface="Arial" pitchFamily="34" charset="0"/>
                <a:ea typeface="Arial" pitchFamily="34" charset="-122"/>
                <a:cs typeface="Arial" pitchFamily="34" charset="-120"/>
              </a:rPr>
              <a:t>Overview</a:t>
            </a:r>
            <a:endParaRPr lang="en-US" sz="4800" dirty="0"/>
          </a:p>
        </p:txBody>
      </p:sp>
      <p:sp>
        <p:nvSpPr>
          <p:cNvPr id="10" name="Shape 8"/>
          <p:cNvSpPr/>
          <p:nvPr/>
        </p:nvSpPr>
        <p:spPr>
          <a:xfrm>
            <a:off x="952500" y="2745740"/>
            <a:ext cx="5232400" cy="6588761"/>
          </a:xfrm>
          <a:prstGeom prst="roundRect">
            <a:avLst>
              <a:gd name="adj" fmla="val 1820"/>
            </a:avLst>
          </a:prstGeom>
          <a:solidFill>
            <a:srgbClr val="00D4FF">
              <a:alpha val="7000"/>
            </a:srgbClr>
          </a:solidFill>
          <a:ln w="10160">
            <a:solidFill>
              <a:srgbClr val="00D4FF">
                <a:alpha val="20000"/>
              </a:srgbClr>
            </a:solidFill>
            <a:prstDash val="solid"/>
          </a:ln>
        </p:spPr>
      </p:sp>
      <p:sp>
        <p:nvSpPr>
          <p:cNvPr id="11" name="Text 9"/>
          <p:cNvSpPr/>
          <p:nvPr/>
        </p:nvSpPr>
        <p:spPr>
          <a:xfrm>
            <a:off x="1381760" y="3213100"/>
            <a:ext cx="4505097" cy="485140"/>
          </a:xfrm>
          <a:prstGeom prst="rect">
            <a:avLst/>
          </a:prstGeom>
          <a:noFill/>
          <a:ln/>
        </p:spPr>
        <p:txBody>
          <a:bodyPr wrap="square" lIns="25400" tIns="25400" rIns="25400" bIns="25400" rtlCol="0" anchor="t">
            <a:normAutofit/>
          </a:bodyPr>
          <a:lstStyle/>
          <a:p>
            <a:pPr marL="0" indent="0" algn="l">
              <a:buNone/>
            </a:pPr>
            <a:r>
              <a:rPr lang="en-US" sz="2700" b="1" dirty="0">
                <a:solidFill>
                  <a:srgbClr val="00D4FF"/>
                </a:solidFill>
                <a:latin typeface="Arial" pitchFamily="34" charset="0"/>
                <a:ea typeface="Arial" pitchFamily="34" charset="-122"/>
                <a:cs typeface="Arial" pitchFamily="34" charset="-120"/>
              </a:rPr>
              <a:t>✈ Part 01</a:t>
            </a:r>
            <a:endParaRPr lang="en-US" sz="2700" dirty="0"/>
          </a:p>
        </p:txBody>
      </p:sp>
      <p:sp>
        <p:nvSpPr>
          <p:cNvPr id="14" name="Shape 12"/>
          <p:cNvSpPr/>
          <p:nvPr/>
        </p:nvSpPr>
        <p:spPr>
          <a:xfrm>
            <a:off x="1381760" y="5181600"/>
            <a:ext cx="4373880" cy="10160"/>
          </a:xfrm>
          <a:prstGeom prst="rect">
            <a:avLst/>
          </a:prstGeom>
          <a:solidFill>
            <a:srgbClr val="00D4FF">
              <a:alpha val="20000"/>
            </a:srgbClr>
          </a:solidFill>
          <a:ln/>
        </p:spPr>
      </p:sp>
      <p:sp>
        <p:nvSpPr>
          <p:cNvPr id="15" name="Text 13"/>
          <p:cNvSpPr/>
          <p:nvPr/>
        </p:nvSpPr>
        <p:spPr>
          <a:xfrm>
            <a:off x="1181735" y="5420360"/>
            <a:ext cx="4650105" cy="1619250"/>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The Problem</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Operational Impact</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Data Sources</a:t>
            </a:r>
            <a:endParaRPr lang="en-US" sz="2250" dirty="0"/>
          </a:p>
        </p:txBody>
      </p:sp>
      <p:sp>
        <p:nvSpPr>
          <p:cNvPr id="16" name="Text 14"/>
          <p:cNvSpPr/>
          <p:nvPr/>
        </p:nvSpPr>
        <p:spPr>
          <a:xfrm>
            <a:off x="1381760" y="8602981"/>
            <a:ext cx="4505097" cy="302260"/>
          </a:xfrm>
          <a:prstGeom prst="rect">
            <a:avLst/>
          </a:prstGeom>
          <a:noFill/>
          <a:ln/>
        </p:spPr>
        <p:txBody>
          <a:bodyPr wrap="square" lIns="25400" tIns="25400" rIns="25400" bIns="25400" rtlCol="0" anchor="t">
            <a:normAutofit/>
          </a:bodyPr>
          <a:lstStyle/>
          <a:p>
            <a:pPr marL="0" indent="0" algn="l">
              <a:buNone/>
            </a:pPr>
            <a:r>
              <a:rPr lang="en-US" sz="1800" dirty="0">
                <a:solidFill>
                  <a:srgbClr val="5A7A9A"/>
                </a:solidFill>
                <a:latin typeface="Courier New" pitchFamily="34" charset="0"/>
                <a:ea typeface="Courier New" pitchFamily="34" charset="-122"/>
                <a:cs typeface="Courier New" pitchFamily="34" charset="-120"/>
              </a:rPr>
              <a:t>SLIDES 1 – 5</a:t>
            </a:r>
            <a:endParaRPr lang="en-US" sz="1800" dirty="0"/>
          </a:p>
        </p:txBody>
      </p:sp>
      <p:sp>
        <p:nvSpPr>
          <p:cNvPr id="17" name="Shape 15"/>
          <p:cNvSpPr/>
          <p:nvPr/>
        </p:nvSpPr>
        <p:spPr>
          <a:xfrm>
            <a:off x="6527800" y="2745740"/>
            <a:ext cx="5232400" cy="6588761"/>
          </a:xfrm>
          <a:prstGeom prst="roundRect">
            <a:avLst>
              <a:gd name="adj" fmla="val 1820"/>
            </a:avLst>
          </a:prstGeom>
          <a:solidFill>
            <a:srgbClr val="4488FF">
              <a:alpha val="7000"/>
            </a:srgbClr>
          </a:solidFill>
          <a:ln w="10160">
            <a:solidFill>
              <a:srgbClr val="4488FF">
                <a:alpha val="30000"/>
              </a:srgbClr>
            </a:solidFill>
            <a:prstDash val="solid"/>
          </a:ln>
        </p:spPr>
      </p:sp>
      <p:sp>
        <p:nvSpPr>
          <p:cNvPr id="18" name="Text 16"/>
          <p:cNvSpPr/>
          <p:nvPr/>
        </p:nvSpPr>
        <p:spPr>
          <a:xfrm>
            <a:off x="6957060" y="3213100"/>
            <a:ext cx="4505097" cy="485140"/>
          </a:xfrm>
          <a:prstGeom prst="rect">
            <a:avLst/>
          </a:prstGeom>
          <a:noFill/>
          <a:ln/>
        </p:spPr>
        <p:txBody>
          <a:bodyPr wrap="square" lIns="25400" tIns="25400" rIns="25400" bIns="25400" rtlCol="0" anchor="t">
            <a:normAutofit/>
          </a:bodyPr>
          <a:lstStyle/>
          <a:p>
            <a:pPr marL="0" indent="0" algn="l">
              <a:buNone/>
            </a:pPr>
            <a:r>
              <a:rPr lang="en-US" sz="2700" b="1" dirty="0">
                <a:solidFill>
                  <a:srgbClr val="4488FF"/>
                </a:solidFill>
                <a:latin typeface="Arial" pitchFamily="34" charset="0"/>
                <a:ea typeface="Arial" pitchFamily="34" charset="-122"/>
                <a:cs typeface="Arial" pitchFamily="34" charset="-120"/>
              </a:rPr>
              <a:t>✈ Part 02</a:t>
            </a:r>
            <a:endParaRPr lang="en-US" sz="2700" dirty="0"/>
          </a:p>
        </p:txBody>
      </p:sp>
      <p:sp>
        <p:nvSpPr>
          <p:cNvPr id="21" name="Shape 19"/>
          <p:cNvSpPr/>
          <p:nvPr/>
        </p:nvSpPr>
        <p:spPr>
          <a:xfrm>
            <a:off x="6957060" y="5181600"/>
            <a:ext cx="4373880" cy="10160"/>
          </a:xfrm>
          <a:prstGeom prst="rect">
            <a:avLst/>
          </a:prstGeom>
          <a:solidFill>
            <a:srgbClr val="4488FF">
              <a:alpha val="20000"/>
            </a:srgbClr>
          </a:solidFill>
          <a:ln/>
        </p:spPr>
      </p:sp>
      <p:sp>
        <p:nvSpPr>
          <p:cNvPr id="22" name="Text 20"/>
          <p:cNvSpPr/>
          <p:nvPr/>
        </p:nvSpPr>
        <p:spPr>
          <a:xfrm>
            <a:off x="6757035" y="5420360"/>
            <a:ext cx="4650105" cy="1619250"/>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8-Step Pipeline</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Three Methods</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GRU Architecture</a:t>
            </a:r>
            <a:endParaRPr lang="en-US" sz="2250" dirty="0"/>
          </a:p>
        </p:txBody>
      </p:sp>
      <p:sp>
        <p:nvSpPr>
          <p:cNvPr id="23" name="Text 21"/>
          <p:cNvSpPr/>
          <p:nvPr/>
        </p:nvSpPr>
        <p:spPr>
          <a:xfrm>
            <a:off x="6957060" y="8602981"/>
            <a:ext cx="4505097" cy="302260"/>
          </a:xfrm>
          <a:prstGeom prst="rect">
            <a:avLst/>
          </a:prstGeom>
          <a:noFill/>
          <a:ln/>
        </p:spPr>
        <p:txBody>
          <a:bodyPr wrap="square" lIns="25400" tIns="25400" rIns="25400" bIns="25400" rtlCol="0" anchor="t">
            <a:normAutofit/>
          </a:bodyPr>
          <a:lstStyle/>
          <a:p>
            <a:pPr marL="0" indent="0" algn="l">
              <a:buNone/>
            </a:pPr>
            <a:r>
              <a:rPr lang="en-US" sz="1800" dirty="0">
                <a:solidFill>
                  <a:srgbClr val="5A7A9A"/>
                </a:solidFill>
                <a:latin typeface="Courier New" pitchFamily="34" charset="0"/>
                <a:ea typeface="Courier New" pitchFamily="34" charset="-122"/>
                <a:cs typeface="Courier New" pitchFamily="34" charset="-120"/>
              </a:rPr>
              <a:t>SLIDES 6 – 10</a:t>
            </a:r>
            <a:endParaRPr lang="en-US" sz="1800" dirty="0"/>
          </a:p>
        </p:txBody>
      </p:sp>
      <p:sp>
        <p:nvSpPr>
          <p:cNvPr id="24" name="Shape 22"/>
          <p:cNvSpPr/>
          <p:nvPr/>
        </p:nvSpPr>
        <p:spPr>
          <a:xfrm>
            <a:off x="12103101" y="2745740"/>
            <a:ext cx="5232400" cy="6588761"/>
          </a:xfrm>
          <a:prstGeom prst="roundRect">
            <a:avLst>
              <a:gd name="adj" fmla="val 1820"/>
            </a:avLst>
          </a:prstGeom>
          <a:solidFill>
            <a:srgbClr val="00FF88">
              <a:alpha val="7000"/>
            </a:srgbClr>
          </a:solidFill>
          <a:ln w="10160">
            <a:solidFill>
              <a:srgbClr val="00FF88">
                <a:alpha val="30000"/>
              </a:srgbClr>
            </a:solidFill>
            <a:prstDash val="solid"/>
          </a:ln>
        </p:spPr>
      </p:sp>
      <p:sp>
        <p:nvSpPr>
          <p:cNvPr id="25" name="Text 23"/>
          <p:cNvSpPr/>
          <p:nvPr/>
        </p:nvSpPr>
        <p:spPr>
          <a:xfrm>
            <a:off x="12532361" y="3213100"/>
            <a:ext cx="4505097" cy="485140"/>
          </a:xfrm>
          <a:prstGeom prst="rect">
            <a:avLst/>
          </a:prstGeom>
          <a:noFill/>
          <a:ln/>
        </p:spPr>
        <p:txBody>
          <a:bodyPr wrap="square" lIns="25400" tIns="25400" rIns="25400" bIns="25400" rtlCol="0" anchor="t">
            <a:normAutofit/>
          </a:bodyPr>
          <a:lstStyle/>
          <a:p>
            <a:pPr marL="0" indent="0" algn="l">
              <a:buNone/>
            </a:pPr>
            <a:r>
              <a:rPr lang="en-US" sz="2700" b="1" dirty="0">
                <a:solidFill>
                  <a:srgbClr val="00FF88"/>
                </a:solidFill>
                <a:latin typeface="Arial" pitchFamily="34" charset="0"/>
                <a:ea typeface="Arial" pitchFamily="34" charset="-122"/>
                <a:cs typeface="Arial" pitchFamily="34" charset="-120"/>
              </a:rPr>
              <a:t>✈ Part 03</a:t>
            </a:r>
            <a:endParaRPr lang="en-US" sz="2700" dirty="0"/>
          </a:p>
        </p:txBody>
      </p:sp>
      <p:sp>
        <p:nvSpPr>
          <p:cNvPr id="28" name="Shape 26"/>
          <p:cNvSpPr/>
          <p:nvPr/>
        </p:nvSpPr>
        <p:spPr>
          <a:xfrm>
            <a:off x="12532361" y="5181600"/>
            <a:ext cx="4373880" cy="10160"/>
          </a:xfrm>
          <a:prstGeom prst="rect">
            <a:avLst/>
          </a:prstGeom>
          <a:solidFill>
            <a:srgbClr val="00FF88">
              <a:alpha val="20000"/>
            </a:srgbClr>
          </a:solidFill>
          <a:ln/>
        </p:spPr>
      </p:sp>
      <p:sp>
        <p:nvSpPr>
          <p:cNvPr id="29" name="Text 27"/>
          <p:cNvSpPr/>
          <p:nvPr/>
        </p:nvSpPr>
        <p:spPr>
          <a:xfrm>
            <a:off x="12332336" y="5420360"/>
            <a:ext cx="4650105" cy="1619250"/>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Results &amp; Charts</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Live Demo</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Conclusion</a:t>
            </a:r>
            <a:endParaRPr lang="en-US" sz="2250" dirty="0"/>
          </a:p>
        </p:txBody>
      </p:sp>
      <p:sp>
        <p:nvSpPr>
          <p:cNvPr id="30" name="Text 28"/>
          <p:cNvSpPr/>
          <p:nvPr/>
        </p:nvSpPr>
        <p:spPr>
          <a:xfrm>
            <a:off x="12532361" y="8602981"/>
            <a:ext cx="4505097" cy="302260"/>
          </a:xfrm>
          <a:prstGeom prst="rect">
            <a:avLst/>
          </a:prstGeom>
          <a:noFill/>
          <a:ln/>
        </p:spPr>
        <p:txBody>
          <a:bodyPr wrap="square" lIns="25400" tIns="25400" rIns="25400" bIns="25400" rtlCol="0" anchor="t">
            <a:normAutofit/>
          </a:bodyPr>
          <a:lstStyle/>
          <a:p>
            <a:pPr marL="0" indent="0" algn="l">
              <a:buNone/>
            </a:pPr>
            <a:r>
              <a:rPr lang="en-US" sz="1800" dirty="0">
                <a:solidFill>
                  <a:srgbClr val="5A7A9A"/>
                </a:solidFill>
                <a:latin typeface="Courier New" pitchFamily="34" charset="0"/>
                <a:ea typeface="Courier New" pitchFamily="34" charset="-122"/>
                <a:cs typeface="Courier New" pitchFamily="34" charset="-120"/>
              </a:rPr>
              <a:t>SLIDES 11 – 15</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sp>
        <p:nvSpPr>
          <p:cNvPr id="7" name="Shape 5"/>
          <p:cNvSpPr/>
          <p:nvPr/>
        </p:nvSpPr>
        <p:spPr>
          <a:xfrm>
            <a:off x="952500" y="762000"/>
            <a:ext cx="2161858" cy="398780"/>
          </a:xfrm>
          <a:prstGeom prst="roundRect">
            <a:avLst>
              <a:gd name="adj" fmla="val 9554"/>
            </a:avLst>
          </a:prstGeom>
          <a:ln w="10160">
            <a:solidFill>
              <a:srgbClr val="00D4FF"/>
            </a:solidFill>
            <a:prstDash val="solid"/>
          </a:ln>
        </p:spPr>
      </p:sp>
      <p:sp>
        <p:nvSpPr>
          <p:cNvPr id="8" name="Text 6"/>
          <p:cNvSpPr/>
          <p:nvPr/>
        </p:nvSpPr>
        <p:spPr>
          <a:xfrm>
            <a:off x="1153160" y="829310"/>
            <a:ext cx="1836738"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D4FF"/>
                </a:solidFill>
                <a:latin typeface="Courier New" pitchFamily="34" charset="0"/>
                <a:ea typeface="Courier New" pitchFamily="34" charset="-122"/>
                <a:cs typeface="Courier New" pitchFamily="34" charset="-120"/>
              </a:rPr>
              <a:t>THE PROBLEM</a:t>
            </a:r>
            <a:endParaRPr lang="en-US" sz="1800" dirty="0"/>
          </a:p>
        </p:txBody>
      </p:sp>
      <p:sp>
        <p:nvSpPr>
          <p:cNvPr id="9" name="Text 7"/>
          <p:cNvSpPr/>
          <p:nvPr/>
        </p:nvSpPr>
        <p:spPr>
          <a:xfrm>
            <a:off x="952500" y="1465580"/>
            <a:ext cx="11184255" cy="1379220"/>
          </a:xfrm>
          <a:prstGeom prst="rect">
            <a:avLst/>
          </a:prstGeom>
          <a:noFill/>
          <a:ln/>
        </p:spPr>
        <p:txBody>
          <a:bodyPr wrap="square" lIns="25400" tIns="25400" rIns="25400" bIns="25400" rtlCol="0" anchor="t">
            <a:normAutofit/>
          </a:bodyPr>
          <a:lstStyle/>
          <a:p>
            <a:pPr marL="0" indent="0" algn="l">
              <a:lnSpc>
                <a:spcPct val="110000"/>
              </a:lnSpc>
              <a:buNone/>
            </a:pPr>
            <a:r>
              <a:rPr lang="en-US" sz="4800" b="1" dirty="0">
                <a:solidFill>
                  <a:srgbClr val="E8F4FF"/>
                </a:solidFill>
                <a:latin typeface="Arial" pitchFamily="34" charset="0"/>
                <a:ea typeface="Arial" pitchFamily="34" charset="-122"/>
                <a:cs typeface="Arial" pitchFamily="34" charset="-120"/>
              </a:rPr>
              <a:t>Aircraft Disappear Over the </a:t>
            </a:r>
            <a:r>
              <a:rPr lang="en-US" sz="4800" b="1" dirty="0">
                <a:solidFill>
                  <a:srgbClr val="FF4444"/>
                </a:solidFill>
                <a:latin typeface="Arial" pitchFamily="34" charset="0"/>
                <a:ea typeface="Arial" pitchFamily="34" charset="-122"/>
                <a:cs typeface="Arial" pitchFamily="34" charset="-120"/>
              </a:rPr>
              <a:t>Atlantic</a:t>
            </a:r>
            <a:endParaRPr lang="en-US" sz="4800" dirty="0"/>
          </a:p>
        </p:txBody>
      </p:sp>
      <p:sp>
        <p:nvSpPr>
          <p:cNvPr id="10" name="Shape 8"/>
          <p:cNvSpPr/>
          <p:nvPr/>
        </p:nvSpPr>
        <p:spPr>
          <a:xfrm>
            <a:off x="952500" y="3340100"/>
            <a:ext cx="3416300" cy="2447290"/>
          </a:xfrm>
          <a:prstGeom prst="roundRect">
            <a:avLst>
              <a:gd name="adj" fmla="val 3892"/>
            </a:avLst>
          </a:prstGeom>
          <a:solidFill>
            <a:srgbClr val="00D4FF">
              <a:alpha val="7000"/>
            </a:srgbClr>
          </a:solidFill>
          <a:ln w="10160">
            <a:solidFill>
              <a:srgbClr val="00D4FF">
                <a:alpha val="20000"/>
              </a:srgbClr>
            </a:solidFill>
            <a:prstDash val="solid"/>
          </a:ln>
        </p:spPr>
      </p:sp>
      <p:sp>
        <p:nvSpPr>
          <p:cNvPr id="11" name="Text 9"/>
          <p:cNvSpPr/>
          <p:nvPr/>
        </p:nvSpPr>
        <p:spPr>
          <a:xfrm>
            <a:off x="1186421" y="3693160"/>
            <a:ext cx="2948458" cy="990600"/>
          </a:xfrm>
          <a:prstGeom prst="rect">
            <a:avLst/>
          </a:prstGeom>
          <a:noFill/>
          <a:ln/>
        </p:spPr>
        <p:txBody>
          <a:bodyPr wrap="square" lIns="25400" tIns="25400" rIns="25400" bIns="25400" rtlCol="0" anchor="t">
            <a:normAutofit/>
          </a:bodyPr>
          <a:lstStyle/>
          <a:p>
            <a:pPr marL="0" indent="0" algn="ctr">
              <a:lnSpc>
                <a:spcPct val="100000"/>
              </a:lnSpc>
              <a:buNone/>
            </a:pPr>
            <a:r>
              <a:rPr lang="en-US" sz="7500" b="1" dirty="0">
                <a:solidFill>
                  <a:srgbClr val="00D4FF"/>
                </a:solidFill>
                <a:latin typeface="Courier New" pitchFamily="34" charset="0"/>
                <a:ea typeface="Courier New" pitchFamily="34" charset="-122"/>
                <a:cs typeface="Courier New" pitchFamily="34" charset="-120"/>
              </a:rPr>
              <a:t>239'</a:t>
            </a:r>
            <a:endParaRPr lang="en-US" sz="7500" dirty="0"/>
          </a:p>
        </p:txBody>
      </p:sp>
      <p:sp>
        <p:nvSpPr>
          <p:cNvPr id="12" name="Text 10"/>
          <p:cNvSpPr/>
          <p:nvPr/>
        </p:nvSpPr>
        <p:spPr>
          <a:xfrm>
            <a:off x="1186421" y="4740910"/>
            <a:ext cx="2948458" cy="731520"/>
          </a:xfrm>
          <a:prstGeom prst="rect">
            <a:avLst/>
          </a:prstGeom>
          <a:noFill/>
          <a:ln/>
        </p:spPr>
        <p:txBody>
          <a:bodyPr wrap="square" lIns="25400" tIns="25400" rIns="25400" bIns="25400" rtlCol="0" anchor="t">
            <a:normAutofit/>
          </a:bodyPr>
          <a:lstStyle/>
          <a:p>
            <a:pPr marL="0" indent="0" algn="ctr">
              <a:lnSpc>
                <a:spcPct val="130000"/>
              </a:lnSpc>
              <a:buNone/>
            </a:pPr>
            <a:r>
              <a:rPr lang="en-US" sz="2100" dirty="0">
                <a:solidFill>
                  <a:srgbClr val="E8F4FF">
                    <a:alpha val="70000"/>
                  </a:srgbClr>
                </a:solidFill>
                <a:latin typeface="Arial" pitchFamily="34" charset="0"/>
                <a:ea typeface="Arial" pitchFamily="34" charset="-122"/>
                <a:cs typeface="Arial" pitchFamily="34" charset="-120"/>
              </a:rPr>
              <a:t>average radar blackout per crossing</a:t>
            </a:r>
            <a:endParaRPr lang="en-US" sz="2100" dirty="0"/>
          </a:p>
        </p:txBody>
      </p:sp>
      <p:sp>
        <p:nvSpPr>
          <p:cNvPr id="13" name="Shape 11"/>
          <p:cNvSpPr/>
          <p:nvPr/>
        </p:nvSpPr>
        <p:spPr>
          <a:xfrm>
            <a:off x="4673600" y="3340100"/>
            <a:ext cx="3416300" cy="2447290"/>
          </a:xfrm>
          <a:prstGeom prst="roundRect">
            <a:avLst>
              <a:gd name="adj" fmla="val 3892"/>
            </a:avLst>
          </a:prstGeom>
          <a:solidFill>
            <a:srgbClr val="FF4444">
              <a:alpha val="7000"/>
            </a:srgbClr>
          </a:solidFill>
          <a:ln w="10160">
            <a:solidFill>
              <a:srgbClr val="FF4444">
                <a:alpha val="30000"/>
              </a:srgbClr>
            </a:solidFill>
            <a:prstDash val="solid"/>
          </a:ln>
        </p:spPr>
      </p:sp>
      <p:sp>
        <p:nvSpPr>
          <p:cNvPr id="14" name="Text 12"/>
          <p:cNvSpPr/>
          <p:nvPr/>
        </p:nvSpPr>
        <p:spPr>
          <a:xfrm>
            <a:off x="4907521" y="3693160"/>
            <a:ext cx="2948458" cy="990600"/>
          </a:xfrm>
          <a:prstGeom prst="rect">
            <a:avLst/>
          </a:prstGeom>
          <a:noFill/>
          <a:ln/>
        </p:spPr>
        <p:txBody>
          <a:bodyPr wrap="square" lIns="25400" tIns="25400" rIns="25400" bIns="25400" rtlCol="0" anchor="t">
            <a:normAutofit/>
          </a:bodyPr>
          <a:lstStyle/>
          <a:p>
            <a:pPr marL="0" indent="0" algn="ctr">
              <a:lnSpc>
                <a:spcPct val="100000"/>
              </a:lnSpc>
              <a:buNone/>
            </a:pPr>
            <a:r>
              <a:rPr lang="en-US" sz="7500" b="1" dirty="0">
                <a:solidFill>
                  <a:srgbClr val="FF4444"/>
                </a:solidFill>
                <a:latin typeface="Courier New" pitchFamily="34" charset="0"/>
                <a:ea typeface="Courier New" pitchFamily="34" charset="-122"/>
                <a:cs typeface="Courier New" pitchFamily="34" charset="-120"/>
              </a:rPr>
              <a:t>400+</a:t>
            </a:r>
            <a:endParaRPr lang="en-US" sz="7500" dirty="0"/>
          </a:p>
        </p:txBody>
      </p:sp>
      <p:sp>
        <p:nvSpPr>
          <p:cNvPr id="15" name="Text 13"/>
          <p:cNvSpPr/>
          <p:nvPr/>
        </p:nvSpPr>
        <p:spPr>
          <a:xfrm>
            <a:off x="4907521" y="4740910"/>
            <a:ext cx="2948458" cy="731520"/>
          </a:xfrm>
          <a:prstGeom prst="rect">
            <a:avLst/>
          </a:prstGeom>
          <a:noFill/>
          <a:ln/>
        </p:spPr>
        <p:txBody>
          <a:bodyPr wrap="square" lIns="25400" tIns="25400" rIns="25400" bIns="25400" rtlCol="0" anchor="t">
            <a:normAutofit/>
          </a:bodyPr>
          <a:lstStyle/>
          <a:p>
            <a:pPr marL="0" indent="0" algn="ctr">
              <a:lnSpc>
                <a:spcPct val="130000"/>
              </a:lnSpc>
              <a:buNone/>
            </a:pPr>
            <a:r>
              <a:rPr lang="en-US" sz="2100" dirty="0">
                <a:solidFill>
                  <a:srgbClr val="E8F4FF">
                    <a:alpha val="70000"/>
                  </a:srgbClr>
                </a:solidFill>
                <a:latin typeface="Arial" pitchFamily="34" charset="0"/>
                <a:ea typeface="Arial" pitchFamily="34" charset="-122"/>
                <a:cs typeface="Arial" pitchFamily="34" charset="-120"/>
              </a:rPr>
              <a:t>daily flights cross the blind spot</a:t>
            </a:r>
            <a:endParaRPr lang="en-US" sz="2100" dirty="0"/>
          </a:p>
        </p:txBody>
      </p:sp>
      <p:sp>
        <p:nvSpPr>
          <p:cNvPr id="16" name="Shape 14"/>
          <p:cNvSpPr/>
          <p:nvPr/>
        </p:nvSpPr>
        <p:spPr>
          <a:xfrm>
            <a:off x="8394700" y="3340100"/>
            <a:ext cx="3416300" cy="2447290"/>
          </a:xfrm>
          <a:prstGeom prst="roundRect">
            <a:avLst>
              <a:gd name="adj" fmla="val 3892"/>
            </a:avLst>
          </a:prstGeom>
          <a:solidFill>
            <a:srgbClr val="FF4444">
              <a:alpha val="4000"/>
            </a:srgbClr>
          </a:solidFill>
          <a:ln w="10160">
            <a:solidFill>
              <a:srgbClr val="FF4444">
                <a:alpha val="20000"/>
              </a:srgbClr>
            </a:solidFill>
            <a:prstDash val="solid"/>
          </a:ln>
        </p:spPr>
      </p:sp>
      <p:sp>
        <p:nvSpPr>
          <p:cNvPr id="17" name="Text 15"/>
          <p:cNvSpPr/>
          <p:nvPr/>
        </p:nvSpPr>
        <p:spPr>
          <a:xfrm>
            <a:off x="8628622" y="3693160"/>
            <a:ext cx="2948458" cy="990600"/>
          </a:xfrm>
          <a:prstGeom prst="rect">
            <a:avLst/>
          </a:prstGeom>
          <a:noFill/>
          <a:ln/>
        </p:spPr>
        <p:txBody>
          <a:bodyPr wrap="square" lIns="25400" tIns="25400" rIns="25400" bIns="25400" rtlCol="0" anchor="t">
            <a:normAutofit/>
          </a:bodyPr>
          <a:lstStyle/>
          <a:p>
            <a:pPr marL="0" indent="0" algn="ctr">
              <a:lnSpc>
                <a:spcPct val="100000"/>
              </a:lnSpc>
              <a:buNone/>
            </a:pPr>
            <a:r>
              <a:rPr lang="en-US" sz="7500" b="1" dirty="0">
                <a:solidFill>
                  <a:srgbClr val="FF4444"/>
                </a:solidFill>
                <a:latin typeface="Courier New" pitchFamily="34" charset="0"/>
                <a:ea typeface="Courier New" pitchFamily="34" charset="-122"/>
                <a:cs typeface="Courier New" pitchFamily="34" charset="-120"/>
              </a:rPr>
              <a:t>0</a:t>
            </a:r>
            <a:endParaRPr lang="en-US" sz="7500" dirty="0"/>
          </a:p>
        </p:txBody>
      </p:sp>
      <p:sp>
        <p:nvSpPr>
          <p:cNvPr id="18" name="Text 16"/>
          <p:cNvSpPr/>
          <p:nvPr/>
        </p:nvSpPr>
        <p:spPr>
          <a:xfrm>
            <a:off x="8628622" y="4740910"/>
            <a:ext cx="2948458" cy="731520"/>
          </a:xfrm>
          <a:prstGeom prst="rect">
            <a:avLst/>
          </a:prstGeom>
          <a:noFill/>
          <a:ln/>
        </p:spPr>
        <p:txBody>
          <a:bodyPr wrap="square" lIns="25400" tIns="25400" rIns="25400" bIns="25400" rtlCol="0" anchor="t">
            <a:normAutofit/>
          </a:bodyPr>
          <a:lstStyle/>
          <a:p>
            <a:pPr marL="0" indent="0" algn="ctr">
              <a:lnSpc>
                <a:spcPct val="130000"/>
              </a:lnSpc>
              <a:buNone/>
            </a:pPr>
            <a:r>
              <a:rPr lang="en-US" sz="2100" dirty="0">
                <a:solidFill>
                  <a:srgbClr val="E8F4FF">
                    <a:alpha val="70000"/>
                  </a:srgbClr>
                </a:solidFill>
                <a:latin typeface="Arial" pitchFamily="34" charset="0"/>
                <a:ea typeface="Arial" pitchFamily="34" charset="-122"/>
                <a:cs typeface="Arial" pitchFamily="34" charset="-120"/>
              </a:rPr>
              <a:t>real-time positions available mid-ocean</a:t>
            </a:r>
            <a:endParaRPr lang="en-US" sz="2100" dirty="0"/>
          </a:p>
        </p:txBody>
      </p:sp>
      <p:sp>
        <p:nvSpPr>
          <p:cNvPr id="19" name="Shape 17"/>
          <p:cNvSpPr/>
          <p:nvPr/>
        </p:nvSpPr>
        <p:spPr>
          <a:xfrm>
            <a:off x="952500" y="6206490"/>
            <a:ext cx="10858500" cy="1410970"/>
          </a:xfrm>
          <a:prstGeom prst="rect">
            <a:avLst/>
          </a:prstGeom>
          <a:solidFill>
            <a:srgbClr val="FF4444">
              <a:alpha val="5000"/>
            </a:srgbClr>
          </a:solidFill>
          <a:ln/>
        </p:spPr>
      </p:sp>
      <p:sp>
        <p:nvSpPr>
          <p:cNvPr id="20" name="Shape 18"/>
          <p:cNvSpPr/>
          <p:nvPr/>
        </p:nvSpPr>
        <p:spPr>
          <a:xfrm>
            <a:off x="952500" y="6206490"/>
            <a:ext cx="20320" cy="1410970"/>
          </a:xfrm>
          <a:prstGeom prst="rect">
            <a:avLst/>
          </a:prstGeom>
          <a:solidFill>
            <a:srgbClr val="FF4444"/>
          </a:solidFill>
          <a:ln/>
        </p:spPr>
      </p:sp>
      <p:sp>
        <p:nvSpPr>
          <p:cNvPr id="21" name="Text 19"/>
          <p:cNvSpPr/>
          <p:nvPr/>
        </p:nvSpPr>
        <p:spPr>
          <a:xfrm>
            <a:off x="1315720" y="6473190"/>
            <a:ext cx="10456952" cy="915670"/>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E8F4FF">
                    <a:alpha val="85000"/>
                  </a:srgbClr>
                </a:solidFill>
                <a:latin typeface="Arial" pitchFamily="34" charset="0"/>
                <a:ea typeface="Arial" pitchFamily="34" charset="-122"/>
                <a:cs typeface="Arial" pitchFamily="34" charset="-120"/>
              </a:rPr>
              <a:t>Beyond </a:t>
            </a:r>
            <a:r>
              <a:rPr lang="en-US" sz="2250" b="1" dirty="0">
                <a:solidFill>
                  <a:srgbClr val="00D4FF"/>
                </a:solidFill>
                <a:latin typeface="Courier New" pitchFamily="34" charset="0"/>
                <a:ea typeface="Courier New" pitchFamily="34" charset="-122"/>
                <a:cs typeface="Courier New" pitchFamily="34" charset="-120"/>
              </a:rPr>
              <a:t>15°W </a:t>
            </a:r>
            <a:r>
              <a:rPr lang="en-US" sz="2250" dirty="0">
                <a:solidFill>
                  <a:srgbClr val="E8F4FF">
                    <a:alpha val="85000"/>
                  </a:srgbClr>
                </a:solidFill>
                <a:latin typeface="Arial" pitchFamily="34" charset="0"/>
                <a:ea typeface="Arial" pitchFamily="34" charset="-122"/>
                <a:cs typeface="Arial" pitchFamily="34" charset="-120"/>
              </a:rPr>
              <a:t>(Irish coast), ADS-B radar reaches no further. Controllers must rely on procedural separation — time-based estimates, not real positions.</a:t>
            </a:r>
            <a:endParaRPr lang="en-US" sz="2250" dirty="0"/>
          </a:p>
        </p:txBody>
      </p:sp>
      <p:pic>
        <p:nvPicPr>
          <p:cNvPr id="22" name="Image 0" descr="preencoded.png"/>
          <p:cNvPicPr>
            <a:picLocks noChangeAspect="1"/>
          </p:cNvPicPr>
          <p:nvPr/>
        </p:nvPicPr>
        <p:blipFill>
          <a:blip r:embed="rId3"/>
          <a:stretch>
            <a:fillRect/>
          </a:stretch>
        </p:blipFill>
        <p:spPr>
          <a:xfrm>
            <a:off x="12382501" y="1714500"/>
            <a:ext cx="4762500" cy="66675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sp>
        <p:nvSpPr>
          <p:cNvPr id="7" name="Shape 5"/>
          <p:cNvSpPr/>
          <p:nvPr/>
        </p:nvSpPr>
        <p:spPr>
          <a:xfrm>
            <a:off x="952500" y="762000"/>
            <a:ext cx="3282156" cy="398780"/>
          </a:xfrm>
          <a:prstGeom prst="roundRect">
            <a:avLst>
              <a:gd name="adj" fmla="val 9554"/>
            </a:avLst>
          </a:prstGeom>
          <a:ln w="10160">
            <a:solidFill>
              <a:srgbClr val="00D4FF"/>
            </a:solidFill>
            <a:prstDash val="solid"/>
          </a:ln>
        </p:spPr>
      </p:sp>
      <p:sp>
        <p:nvSpPr>
          <p:cNvPr id="8" name="Text 6"/>
          <p:cNvSpPr/>
          <p:nvPr/>
        </p:nvSpPr>
        <p:spPr>
          <a:xfrm>
            <a:off x="1153160" y="829310"/>
            <a:ext cx="2979301"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D4FF"/>
                </a:solidFill>
                <a:latin typeface="Courier New" pitchFamily="34" charset="0"/>
                <a:ea typeface="Courier New" pitchFamily="34" charset="-122"/>
                <a:cs typeface="Courier New" pitchFamily="34" charset="-120"/>
              </a:rPr>
              <a:t>OPERATIONAL IMPACT</a:t>
            </a:r>
            <a:endParaRPr lang="en-US" sz="1800" dirty="0"/>
          </a:p>
        </p:txBody>
      </p:sp>
      <p:sp>
        <p:nvSpPr>
          <p:cNvPr id="9" name="Text 7"/>
          <p:cNvSpPr/>
          <p:nvPr/>
        </p:nvSpPr>
        <p:spPr>
          <a:xfrm>
            <a:off x="952500" y="1465580"/>
            <a:ext cx="16874491" cy="708660"/>
          </a:xfrm>
          <a:prstGeom prst="rect">
            <a:avLst/>
          </a:prstGeom>
          <a:noFill/>
          <a:ln/>
        </p:spPr>
        <p:txBody>
          <a:bodyPr wrap="square" lIns="25400" tIns="25400" rIns="25400" bIns="25400" rtlCol="0" anchor="t">
            <a:normAutofit/>
          </a:bodyPr>
          <a:lstStyle/>
          <a:p>
            <a:pPr marL="0" indent="0" algn="l">
              <a:lnSpc>
                <a:spcPct val="110000"/>
              </a:lnSpc>
              <a:buNone/>
            </a:pPr>
            <a:r>
              <a:rPr lang="en-US" sz="4800" b="1" dirty="0">
                <a:solidFill>
                  <a:srgbClr val="E8F4FF"/>
                </a:solidFill>
                <a:latin typeface="Arial" pitchFamily="34" charset="0"/>
                <a:ea typeface="Arial" pitchFamily="34" charset="-122"/>
                <a:cs typeface="Arial" pitchFamily="34" charset="-120"/>
              </a:rPr>
              <a:t>The </a:t>
            </a:r>
            <a:r>
              <a:rPr lang="en-US" sz="4800" b="1" dirty="0">
                <a:solidFill>
                  <a:srgbClr val="00D4FF"/>
                </a:solidFill>
                <a:latin typeface="Arial" pitchFamily="34" charset="0"/>
                <a:ea typeface="Arial" pitchFamily="34" charset="-122"/>
                <a:cs typeface="Arial" pitchFamily="34" charset="-120"/>
              </a:rPr>
              <a:t>Operational </a:t>
            </a:r>
            <a:r>
              <a:rPr lang="en-US" sz="4800" b="1" dirty="0">
                <a:solidFill>
                  <a:srgbClr val="E8F4FF"/>
                </a:solidFill>
                <a:latin typeface="Arial" pitchFamily="34" charset="0"/>
                <a:ea typeface="Arial" pitchFamily="34" charset="-122"/>
                <a:cs typeface="Arial" pitchFamily="34" charset="-120"/>
              </a:rPr>
              <a:t>Impact</a:t>
            </a:r>
            <a:endParaRPr lang="en-US" sz="4800" dirty="0"/>
          </a:p>
        </p:txBody>
      </p:sp>
      <p:sp>
        <p:nvSpPr>
          <p:cNvPr id="10" name="Shape 8"/>
          <p:cNvSpPr/>
          <p:nvPr/>
        </p:nvSpPr>
        <p:spPr>
          <a:xfrm>
            <a:off x="952500" y="2669540"/>
            <a:ext cx="7962901" cy="4344670"/>
          </a:xfrm>
          <a:prstGeom prst="roundRect">
            <a:avLst>
              <a:gd name="adj" fmla="val 2192"/>
            </a:avLst>
          </a:prstGeom>
          <a:solidFill>
            <a:srgbClr val="FF4444">
              <a:alpha val="6000"/>
            </a:srgbClr>
          </a:solidFill>
          <a:ln w="10160">
            <a:solidFill>
              <a:srgbClr val="FF4444">
                <a:alpha val="25000"/>
              </a:srgbClr>
            </a:solidFill>
            <a:prstDash val="solid"/>
          </a:ln>
        </p:spPr>
      </p:sp>
      <p:sp>
        <p:nvSpPr>
          <p:cNvPr id="11" name="Text 9"/>
          <p:cNvSpPr/>
          <p:nvPr/>
        </p:nvSpPr>
        <p:spPr>
          <a:xfrm>
            <a:off x="1457960" y="3175000"/>
            <a:ext cx="7160540" cy="342900"/>
          </a:xfrm>
          <a:prstGeom prst="rect">
            <a:avLst/>
          </a:prstGeom>
          <a:noFill/>
          <a:ln/>
        </p:spPr>
        <p:txBody>
          <a:bodyPr wrap="square" lIns="25400" tIns="25400" rIns="25400" bIns="25400" rtlCol="0" anchor="t">
            <a:normAutofit/>
          </a:bodyPr>
          <a:lstStyle/>
          <a:p>
            <a:pPr marL="0" indent="0" algn="l">
              <a:buNone/>
            </a:pPr>
            <a:r>
              <a:rPr lang="en-US" sz="2100" kern="0" spc="210" dirty="0">
                <a:solidFill>
                  <a:srgbClr val="FF4444"/>
                </a:solidFill>
                <a:latin typeface="Courier New" pitchFamily="34" charset="0"/>
                <a:ea typeface="Courier New" pitchFamily="34" charset="-122"/>
                <a:cs typeface="Courier New" pitchFamily="34" charset="-120"/>
              </a:rPr>
              <a:t>TODAY — WITHOUT RECONSTRUCTION</a:t>
            </a:r>
            <a:endParaRPr lang="en-US" sz="2100" dirty="0"/>
          </a:p>
        </p:txBody>
      </p:sp>
      <p:sp>
        <p:nvSpPr>
          <p:cNvPr id="12" name="Text 10"/>
          <p:cNvSpPr/>
          <p:nvPr/>
        </p:nvSpPr>
        <p:spPr>
          <a:xfrm>
            <a:off x="1257935" y="3746500"/>
            <a:ext cx="7228205" cy="2800350"/>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Position estimates only — no real-time fix</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Separation based on time, not distance</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Safety margins inflated to compensate</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Fuel burn not optimized — fixed NAT tracks</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Incident detection delayed by minutes</a:t>
            </a:r>
            <a:endParaRPr lang="en-US" sz="2250" dirty="0"/>
          </a:p>
        </p:txBody>
      </p:sp>
      <p:sp>
        <p:nvSpPr>
          <p:cNvPr id="13" name="Shape 11"/>
          <p:cNvSpPr/>
          <p:nvPr/>
        </p:nvSpPr>
        <p:spPr>
          <a:xfrm>
            <a:off x="9372601" y="2669540"/>
            <a:ext cx="7962901" cy="4344670"/>
          </a:xfrm>
          <a:prstGeom prst="roundRect">
            <a:avLst>
              <a:gd name="adj" fmla="val 2192"/>
            </a:avLst>
          </a:prstGeom>
          <a:solidFill>
            <a:srgbClr val="00FF88">
              <a:alpha val="6000"/>
            </a:srgbClr>
          </a:solidFill>
          <a:ln w="10160">
            <a:solidFill>
              <a:srgbClr val="00FF88">
                <a:alpha val="25000"/>
              </a:srgbClr>
            </a:solidFill>
            <a:prstDash val="solid"/>
          </a:ln>
        </p:spPr>
      </p:sp>
      <p:sp>
        <p:nvSpPr>
          <p:cNvPr id="14" name="Text 12"/>
          <p:cNvSpPr/>
          <p:nvPr/>
        </p:nvSpPr>
        <p:spPr>
          <a:xfrm>
            <a:off x="9878061" y="3175000"/>
            <a:ext cx="7160540" cy="342900"/>
          </a:xfrm>
          <a:prstGeom prst="rect">
            <a:avLst/>
          </a:prstGeom>
          <a:noFill/>
          <a:ln/>
        </p:spPr>
        <p:txBody>
          <a:bodyPr wrap="square" lIns="25400" tIns="25400" rIns="25400" bIns="25400" rtlCol="0" anchor="t">
            <a:normAutofit/>
          </a:bodyPr>
          <a:lstStyle/>
          <a:p>
            <a:pPr marL="0" indent="0" algn="l">
              <a:buNone/>
            </a:pPr>
            <a:r>
              <a:rPr lang="en-US" sz="2100" kern="0" spc="210" dirty="0">
                <a:solidFill>
                  <a:srgbClr val="00FF88"/>
                </a:solidFill>
                <a:latin typeface="Courier New" pitchFamily="34" charset="0"/>
                <a:ea typeface="Courier New" pitchFamily="34" charset="-122"/>
                <a:cs typeface="Courier New" pitchFamily="34" charset="-120"/>
              </a:rPr>
              <a:t>WITH TRAJECTORY RECONSTRUCTION</a:t>
            </a:r>
            <a:endParaRPr lang="en-US" sz="2100" dirty="0"/>
          </a:p>
        </p:txBody>
      </p:sp>
      <p:sp>
        <p:nvSpPr>
          <p:cNvPr id="15" name="Text 13"/>
          <p:cNvSpPr/>
          <p:nvPr/>
        </p:nvSpPr>
        <p:spPr>
          <a:xfrm>
            <a:off x="9678036" y="3746500"/>
            <a:ext cx="7228205" cy="2800350"/>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64 km median position estimate — not zero</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Tighter separation becomes achievable</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Safety margins can be reduced intelligently</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Jet-stream routing awareness unlocked</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Historical analytics for route optimization</a:t>
            </a:r>
            <a:endParaRPr lang="en-US" sz="2250" dirty="0"/>
          </a:p>
        </p:txBody>
      </p:sp>
      <p:sp>
        <p:nvSpPr>
          <p:cNvPr id="16" name="Shape 14"/>
          <p:cNvSpPr/>
          <p:nvPr/>
        </p:nvSpPr>
        <p:spPr>
          <a:xfrm>
            <a:off x="952500" y="7433310"/>
            <a:ext cx="16383001" cy="1305560"/>
          </a:xfrm>
          <a:prstGeom prst="roundRect">
            <a:avLst>
              <a:gd name="adj" fmla="val 5837"/>
            </a:avLst>
          </a:prstGeom>
          <a:solidFill>
            <a:srgbClr val="00D4FF">
              <a:alpha val="6000"/>
            </a:srgbClr>
          </a:solidFill>
          <a:ln w="10160">
            <a:solidFill>
              <a:srgbClr val="00D4FF">
                <a:alpha val="15000"/>
              </a:srgbClr>
            </a:solidFill>
            <a:prstDash val="solid"/>
          </a:ln>
        </p:spPr>
      </p:sp>
      <p:sp>
        <p:nvSpPr>
          <p:cNvPr id="17" name="Text 15"/>
          <p:cNvSpPr/>
          <p:nvPr/>
        </p:nvSpPr>
        <p:spPr>
          <a:xfrm>
            <a:off x="1109650" y="7710171"/>
            <a:ext cx="16068701" cy="789940"/>
          </a:xfrm>
          <a:prstGeom prst="rect">
            <a:avLst/>
          </a:prstGeom>
          <a:noFill/>
          <a:ln/>
        </p:spPr>
        <p:txBody>
          <a:bodyPr wrap="square" lIns="25400" tIns="25400" rIns="25400" bIns="25400" rtlCol="0" anchor="t">
            <a:normAutofit/>
          </a:bodyPr>
          <a:lstStyle/>
          <a:p>
            <a:pPr marL="0" indent="0" algn="ctr">
              <a:buNone/>
            </a:pPr>
            <a:r>
              <a:rPr lang="en-US" sz="2400" dirty="0">
                <a:solidFill>
                  <a:srgbClr val="E8F4FF">
                    <a:alpha val="85000"/>
                  </a:srgbClr>
                </a:solidFill>
                <a:latin typeface="Arial" pitchFamily="34" charset="0"/>
                <a:ea typeface="Arial" pitchFamily="34" charset="-122"/>
                <a:cs typeface="Arial" pitchFamily="34" charset="-120"/>
              </a:rPr>
              <a:t>✈ Every km of error reduction translates to tighter separation standards and safer, more efficient oceanic crossings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sp>
        <p:nvSpPr>
          <p:cNvPr id="7" name="Shape 5"/>
          <p:cNvSpPr/>
          <p:nvPr/>
        </p:nvSpPr>
        <p:spPr>
          <a:xfrm>
            <a:off x="952500" y="762000"/>
            <a:ext cx="2321878" cy="398780"/>
          </a:xfrm>
          <a:prstGeom prst="roundRect">
            <a:avLst>
              <a:gd name="adj" fmla="val 9554"/>
            </a:avLst>
          </a:prstGeom>
          <a:ln w="10160">
            <a:solidFill>
              <a:srgbClr val="00D4FF"/>
            </a:solidFill>
            <a:prstDash val="solid"/>
          </a:ln>
        </p:spPr>
      </p:sp>
      <p:sp>
        <p:nvSpPr>
          <p:cNvPr id="8" name="Text 6"/>
          <p:cNvSpPr/>
          <p:nvPr/>
        </p:nvSpPr>
        <p:spPr>
          <a:xfrm>
            <a:off x="1153160" y="829310"/>
            <a:ext cx="1996758"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D4FF"/>
                </a:solidFill>
                <a:latin typeface="Courier New" pitchFamily="34" charset="0"/>
                <a:ea typeface="Courier New" pitchFamily="34" charset="-122"/>
                <a:cs typeface="Courier New" pitchFamily="34" charset="-120"/>
              </a:rPr>
              <a:t>DATA SOURCES</a:t>
            </a:r>
            <a:endParaRPr lang="en-US" sz="1800" dirty="0"/>
          </a:p>
        </p:txBody>
      </p:sp>
      <p:sp>
        <p:nvSpPr>
          <p:cNvPr id="9" name="Text 7"/>
          <p:cNvSpPr/>
          <p:nvPr/>
        </p:nvSpPr>
        <p:spPr>
          <a:xfrm>
            <a:off x="952500" y="1465580"/>
            <a:ext cx="16874491" cy="708660"/>
          </a:xfrm>
          <a:prstGeom prst="rect">
            <a:avLst/>
          </a:prstGeom>
          <a:noFill/>
          <a:ln/>
        </p:spPr>
        <p:txBody>
          <a:bodyPr wrap="square" lIns="25400" tIns="25400" rIns="25400" bIns="25400" rtlCol="0" anchor="t">
            <a:normAutofit/>
          </a:bodyPr>
          <a:lstStyle/>
          <a:p>
            <a:pPr marL="0" indent="0" algn="l">
              <a:lnSpc>
                <a:spcPct val="110000"/>
              </a:lnSpc>
              <a:buNone/>
            </a:pPr>
            <a:r>
              <a:rPr lang="en-US" sz="4800" b="1" dirty="0">
                <a:solidFill>
                  <a:srgbClr val="E8F4FF"/>
                </a:solidFill>
                <a:latin typeface="Arial" pitchFamily="34" charset="0"/>
                <a:ea typeface="Arial" pitchFamily="34" charset="-122"/>
                <a:cs typeface="Arial" pitchFamily="34" charset="-120"/>
              </a:rPr>
              <a:t>Two </a:t>
            </a:r>
            <a:r>
              <a:rPr lang="en-US" sz="4800" b="1" dirty="0">
                <a:solidFill>
                  <a:srgbClr val="00D4FF"/>
                </a:solidFill>
                <a:latin typeface="Arial" pitchFamily="34" charset="0"/>
                <a:ea typeface="Arial" pitchFamily="34" charset="-122"/>
                <a:cs typeface="Arial" pitchFamily="34" charset="-120"/>
              </a:rPr>
              <a:t>Complementary </a:t>
            </a:r>
            <a:r>
              <a:rPr lang="en-US" sz="4800" b="1" dirty="0">
                <a:solidFill>
                  <a:srgbClr val="E8F4FF"/>
                </a:solidFill>
                <a:latin typeface="Arial" pitchFamily="34" charset="0"/>
                <a:ea typeface="Arial" pitchFamily="34" charset="-122"/>
                <a:cs typeface="Arial" pitchFamily="34" charset="-120"/>
              </a:rPr>
              <a:t>Surveillance Sources</a:t>
            </a:r>
            <a:endParaRPr lang="en-US" sz="4800" dirty="0"/>
          </a:p>
        </p:txBody>
      </p:sp>
      <p:sp>
        <p:nvSpPr>
          <p:cNvPr id="10" name="Shape 8"/>
          <p:cNvSpPr/>
          <p:nvPr/>
        </p:nvSpPr>
        <p:spPr>
          <a:xfrm>
            <a:off x="952500" y="2631440"/>
            <a:ext cx="6229351" cy="5194300"/>
          </a:xfrm>
          <a:prstGeom prst="roundRect">
            <a:avLst>
              <a:gd name="adj" fmla="val 1834"/>
            </a:avLst>
          </a:prstGeom>
          <a:solidFill>
            <a:srgbClr val="00D4FF">
              <a:alpha val="7000"/>
            </a:srgbClr>
          </a:solidFill>
          <a:ln w="10160">
            <a:solidFill>
              <a:srgbClr val="00D4FF">
                <a:alpha val="20000"/>
              </a:srgbClr>
            </a:solidFill>
            <a:prstDash val="solid"/>
          </a:ln>
        </p:spPr>
      </p:sp>
      <p:sp>
        <p:nvSpPr>
          <p:cNvPr id="11" name="Text 9"/>
          <p:cNvSpPr/>
          <p:nvPr/>
        </p:nvSpPr>
        <p:spPr>
          <a:xfrm>
            <a:off x="1381760" y="3098800"/>
            <a:ext cx="5531955"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D4FF"/>
                </a:solidFill>
                <a:latin typeface="Courier New" pitchFamily="34" charset="0"/>
                <a:ea typeface="Courier New" pitchFamily="34" charset="-122"/>
                <a:cs typeface="Courier New" pitchFamily="34" charset="-120"/>
              </a:rPr>
              <a:t>ADS-B</a:t>
            </a:r>
            <a:endParaRPr lang="en-US" sz="1800" dirty="0"/>
          </a:p>
        </p:txBody>
      </p:sp>
      <p:sp>
        <p:nvSpPr>
          <p:cNvPr id="12" name="Text 10"/>
          <p:cNvSpPr/>
          <p:nvPr/>
        </p:nvSpPr>
        <p:spPr>
          <a:xfrm>
            <a:off x="1381760" y="3515360"/>
            <a:ext cx="5531955" cy="952500"/>
          </a:xfrm>
          <a:prstGeom prst="rect">
            <a:avLst/>
          </a:prstGeom>
          <a:noFill/>
          <a:ln/>
        </p:spPr>
        <p:txBody>
          <a:bodyPr wrap="square" lIns="25400" tIns="25400" rIns="25400" bIns="25400" rtlCol="0" anchor="t">
            <a:normAutofit/>
          </a:bodyPr>
          <a:lstStyle/>
          <a:p>
            <a:pPr marL="0" indent="0" algn="l">
              <a:lnSpc>
                <a:spcPct val="120000"/>
              </a:lnSpc>
              <a:buNone/>
            </a:pPr>
            <a:r>
              <a:rPr lang="en-US" sz="3000" b="1" dirty="0">
                <a:solidFill>
                  <a:srgbClr val="FFFFFF"/>
                </a:solidFill>
                <a:latin typeface="Arial" pitchFamily="34" charset="0"/>
                <a:ea typeface="Arial" pitchFamily="34" charset="-122"/>
                <a:cs typeface="Arial" pitchFamily="34" charset="-120"/>
              </a:rPr>
              <a:t>OpenSky Network Trino Database</a:t>
            </a:r>
            <a:endParaRPr lang="en-US" sz="3000" dirty="0"/>
          </a:p>
        </p:txBody>
      </p:sp>
      <p:sp>
        <p:nvSpPr>
          <p:cNvPr id="13" name="Shape 11"/>
          <p:cNvSpPr/>
          <p:nvPr/>
        </p:nvSpPr>
        <p:spPr>
          <a:xfrm>
            <a:off x="1381760" y="5354320"/>
            <a:ext cx="5370830" cy="10160"/>
          </a:xfrm>
          <a:prstGeom prst="rect">
            <a:avLst/>
          </a:prstGeom>
          <a:solidFill>
            <a:srgbClr val="FFFFFF">
              <a:alpha val="7000"/>
            </a:srgbClr>
          </a:solidFill>
          <a:ln/>
        </p:spPr>
      </p:sp>
      <p:sp>
        <p:nvSpPr>
          <p:cNvPr id="14" name="Text 12"/>
          <p:cNvSpPr/>
          <p:nvPr/>
        </p:nvSpPr>
        <p:spPr>
          <a:xfrm>
            <a:off x="1381760" y="4898391"/>
            <a:ext cx="1634966"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FREQUENCY</a:t>
            </a:r>
            <a:endParaRPr lang="en-US" sz="1800" dirty="0"/>
          </a:p>
        </p:txBody>
      </p:sp>
      <p:sp>
        <p:nvSpPr>
          <p:cNvPr id="15" name="Text 13"/>
          <p:cNvSpPr/>
          <p:nvPr/>
        </p:nvSpPr>
        <p:spPr>
          <a:xfrm>
            <a:off x="4866640" y="4867910"/>
            <a:ext cx="1962150" cy="353060"/>
          </a:xfrm>
          <a:prstGeom prst="rect">
            <a:avLst/>
          </a:prstGeom>
          <a:noFill/>
          <a:ln/>
        </p:spPr>
        <p:txBody>
          <a:bodyPr wrap="square" lIns="25400" tIns="25400" rIns="25400" bIns="25400" rtlCol="0" anchor="t">
            <a:normAutofit/>
          </a:bodyPr>
          <a:lstStyle/>
          <a:p>
            <a:pPr marL="0" indent="0" algn="l">
              <a:buNone/>
            </a:pPr>
            <a:r>
              <a:rPr lang="en-US" sz="2250" dirty="0">
                <a:solidFill>
                  <a:srgbClr val="E8F4FF"/>
                </a:solidFill>
                <a:latin typeface="Courier New" pitchFamily="34" charset="0"/>
                <a:ea typeface="Courier New" pitchFamily="34" charset="-122"/>
                <a:cs typeface="Courier New" pitchFamily="34" charset="-120"/>
              </a:rPr>
              <a:t>~1 / second</a:t>
            </a:r>
            <a:endParaRPr lang="en-US" sz="2250" dirty="0"/>
          </a:p>
        </p:txBody>
      </p:sp>
      <p:sp>
        <p:nvSpPr>
          <p:cNvPr id="16" name="Shape 14"/>
          <p:cNvSpPr/>
          <p:nvPr/>
        </p:nvSpPr>
        <p:spPr>
          <a:xfrm>
            <a:off x="1381760" y="6022340"/>
            <a:ext cx="5370830" cy="10160"/>
          </a:xfrm>
          <a:prstGeom prst="rect">
            <a:avLst/>
          </a:prstGeom>
          <a:solidFill>
            <a:srgbClr val="FFFFFF">
              <a:alpha val="7000"/>
            </a:srgbClr>
          </a:solidFill>
          <a:ln/>
        </p:spPr>
      </p:sp>
      <p:sp>
        <p:nvSpPr>
          <p:cNvPr id="17" name="Text 15"/>
          <p:cNvSpPr/>
          <p:nvPr/>
        </p:nvSpPr>
        <p:spPr>
          <a:xfrm>
            <a:off x="1381760" y="5566410"/>
            <a:ext cx="1481773"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COVERAGE</a:t>
            </a:r>
            <a:endParaRPr lang="en-US" sz="1800" dirty="0"/>
          </a:p>
        </p:txBody>
      </p:sp>
      <p:sp>
        <p:nvSpPr>
          <p:cNvPr id="18" name="Text 16"/>
          <p:cNvSpPr/>
          <p:nvPr/>
        </p:nvSpPr>
        <p:spPr>
          <a:xfrm>
            <a:off x="4009390" y="5535930"/>
            <a:ext cx="2825496" cy="353060"/>
          </a:xfrm>
          <a:prstGeom prst="rect">
            <a:avLst/>
          </a:prstGeom>
          <a:noFill/>
          <a:ln/>
        </p:spPr>
        <p:txBody>
          <a:bodyPr wrap="square" lIns="25400" tIns="25400" rIns="25400" bIns="25400" rtlCol="0" anchor="t">
            <a:normAutofit/>
          </a:bodyPr>
          <a:lstStyle/>
          <a:p>
            <a:pPr marL="0" indent="0" algn="l">
              <a:buNone/>
            </a:pPr>
            <a:r>
              <a:rPr lang="en-US" sz="2250" dirty="0">
                <a:solidFill>
                  <a:srgbClr val="E8F4FF"/>
                </a:solidFill>
                <a:latin typeface="Courier New" pitchFamily="34" charset="0"/>
                <a:ea typeface="Courier New" pitchFamily="34" charset="-122"/>
                <a:cs typeface="Courier New" pitchFamily="34" charset="-120"/>
              </a:rPr>
              <a:t>Continental only</a:t>
            </a:r>
            <a:endParaRPr lang="en-US" sz="2250" dirty="0"/>
          </a:p>
        </p:txBody>
      </p:sp>
      <p:sp>
        <p:nvSpPr>
          <p:cNvPr id="19" name="Shape 17"/>
          <p:cNvSpPr/>
          <p:nvPr/>
        </p:nvSpPr>
        <p:spPr>
          <a:xfrm>
            <a:off x="1381760" y="6690360"/>
            <a:ext cx="5370830" cy="10160"/>
          </a:xfrm>
          <a:prstGeom prst="rect">
            <a:avLst/>
          </a:prstGeom>
          <a:solidFill>
            <a:srgbClr val="FFFFFF">
              <a:alpha val="7000"/>
            </a:srgbClr>
          </a:solidFill>
          <a:ln/>
        </p:spPr>
      </p:sp>
      <p:sp>
        <p:nvSpPr>
          <p:cNvPr id="20" name="Text 18"/>
          <p:cNvSpPr/>
          <p:nvPr/>
        </p:nvSpPr>
        <p:spPr>
          <a:xfrm>
            <a:off x="1381760" y="6234431"/>
            <a:ext cx="1035050"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PERIOD</a:t>
            </a:r>
            <a:endParaRPr lang="en-US" sz="1800" dirty="0"/>
          </a:p>
        </p:txBody>
      </p:sp>
      <p:sp>
        <p:nvSpPr>
          <p:cNvPr id="21" name="Text 19"/>
          <p:cNvSpPr/>
          <p:nvPr/>
        </p:nvSpPr>
        <p:spPr>
          <a:xfrm>
            <a:off x="3495040" y="6203950"/>
            <a:ext cx="3355277" cy="353060"/>
          </a:xfrm>
          <a:prstGeom prst="rect">
            <a:avLst/>
          </a:prstGeom>
          <a:noFill/>
          <a:ln/>
        </p:spPr>
        <p:txBody>
          <a:bodyPr wrap="square" lIns="25400" tIns="25400" rIns="25400" bIns="25400" rtlCol="0" anchor="t">
            <a:normAutofit/>
          </a:bodyPr>
          <a:lstStyle/>
          <a:p>
            <a:pPr marL="0" indent="0" algn="l">
              <a:buNone/>
            </a:pPr>
            <a:r>
              <a:rPr lang="en-US" sz="2250" dirty="0">
                <a:solidFill>
                  <a:srgbClr val="E8F4FF"/>
                </a:solidFill>
                <a:latin typeface="Courier New" pitchFamily="34" charset="0"/>
                <a:ea typeface="Courier New" pitchFamily="34" charset="-122"/>
                <a:cs typeface="Courier New" pitchFamily="34" charset="-120"/>
              </a:rPr>
              <a:t>Jul 2023 – Aug 2025</a:t>
            </a:r>
            <a:endParaRPr lang="en-US" sz="2250" dirty="0"/>
          </a:p>
        </p:txBody>
      </p:sp>
      <p:sp>
        <p:nvSpPr>
          <p:cNvPr id="22" name="Text 20"/>
          <p:cNvSpPr/>
          <p:nvPr/>
        </p:nvSpPr>
        <p:spPr>
          <a:xfrm>
            <a:off x="1381760" y="6902450"/>
            <a:ext cx="753586"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ROLE</a:t>
            </a:r>
            <a:endParaRPr lang="en-US" sz="1800" dirty="0"/>
          </a:p>
        </p:txBody>
      </p:sp>
      <p:sp>
        <p:nvSpPr>
          <p:cNvPr id="23" name="Text 21"/>
          <p:cNvSpPr/>
          <p:nvPr/>
        </p:nvSpPr>
        <p:spPr>
          <a:xfrm>
            <a:off x="4180840" y="6871970"/>
            <a:ext cx="2648903" cy="353060"/>
          </a:xfrm>
          <a:prstGeom prst="rect">
            <a:avLst/>
          </a:prstGeom>
          <a:noFill/>
          <a:ln/>
        </p:spPr>
        <p:txBody>
          <a:bodyPr wrap="square" lIns="25400" tIns="25400" rIns="25400" bIns="25400" rtlCol="0" anchor="t">
            <a:normAutofit/>
          </a:bodyPr>
          <a:lstStyle/>
          <a:p>
            <a:pPr marL="0" indent="0" algn="l">
              <a:buNone/>
            </a:pPr>
            <a:r>
              <a:rPr lang="en-US" sz="2250" dirty="0">
                <a:solidFill>
                  <a:srgbClr val="E8F4FF"/>
                </a:solidFill>
                <a:latin typeface="Courier New" pitchFamily="34" charset="0"/>
                <a:ea typeface="Courier New" pitchFamily="34" charset="-122"/>
                <a:cs typeface="Courier New" pitchFamily="34" charset="-120"/>
              </a:rPr>
              <a:t>Coastal anchors</a:t>
            </a:r>
            <a:endParaRPr lang="en-US" sz="2250" dirty="0"/>
          </a:p>
        </p:txBody>
      </p:sp>
      <p:sp>
        <p:nvSpPr>
          <p:cNvPr id="24" name="Shape 22"/>
          <p:cNvSpPr/>
          <p:nvPr/>
        </p:nvSpPr>
        <p:spPr>
          <a:xfrm>
            <a:off x="7524751" y="2631440"/>
            <a:ext cx="6229351" cy="5265420"/>
          </a:xfrm>
          <a:prstGeom prst="roundRect">
            <a:avLst>
              <a:gd name="adj" fmla="val 1809"/>
            </a:avLst>
          </a:prstGeom>
          <a:solidFill>
            <a:srgbClr val="00FF88">
              <a:alpha val="7000"/>
            </a:srgbClr>
          </a:solidFill>
          <a:ln w="10160">
            <a:solidFill>
              <a:srgbClr val="00FF88">
                <a:alpha val="30000"/>
              </a:srgbClr>
            </a:solidFill>
            <a:prstDash val="solid"/>
          </a:ln>
        </p:spPr>
      </p:sp>
      <p:sp>
        <p:nvSpPr>
          <p:cNvPr id="25" name="Text 23"/>
          <p:cNvSpPr/>
          <p:nvPr/>
        </p:nvSpPr>
        <p:spPr>
          <a:xfrm>
            <a:off x="7954010" y="3098800"/>
            <a:ext cx="5531955"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FF88"/>
                </a:solidFill>
                <a:latin typeface="Courier New" pitchFamily="34" charset="0"/>
                <a:ea typeface="Courier New" pitchFamily="34" charset="-122"/>
                <a:cs typeface="Courier New" pitchFamily="34" charset="-120"/>
              </a:rPr>
              <a:t>ADS-C</a:t>
            </a:r>
            <a:endParaRPr lang="en-US" sz="1800" dirty="0"/>
          </a:p>
        </p:txBody>
      </p:sp>
      <p:sp>
        <p:nvSpPr>
          <p:cNvPr id="26" name="Text 24"/>
          <p:cNvSpPr/>
          <p:nvPr/>
        </p:nvSpPr>
        <p:spPr>
          <a:xfrm>
            <a:off x="7954010" y="3515360"/>
            <a:ext cx="5531955" cy="952500"/>
          </a:xfrm>
          <a:prstGeom prst="rect">
            <a:avLst/>
          </a:prstGeom>
          <a:noFill/>
          <a:ln/>
        </p:spPr>
        <p:txBody>
          <a:bodyPr wrap="square" lIns="25400" tIns="25400" rIns="25400" bIns="25400" rtlCol="0" anchor="t">
            <a:normAutofit/>
          </a:bodyPr>
          <a:lstStyle/>
          <a:p>
            <a:pPr marL="0" indent="0" algn="l">
              <a:lnSpc>
                <a:spcPct val="120000"/>
              </a:lnSpc>
              <a:buNone/>
            </a:pPr>
            <a:r>
              <a:rPr lang="en-US" sz="3000" b="1" dirty="0">
                <a:solidFill>
                  <a:srgbClr val="FFFFFF"/>
                </a:solidFill>
                <a:latin typeface="Arial" pitchFamily="34" charset="0"/>
                <a:ea typeface="Arial" pitchFamily="34" charset="-122"/>
                <a:cs typeface="Arial" pitchFamily="34" charset="-120"/>
              </a:rPr>
              <a:t>Satellite Relay Trino adsc table</a:t>
            </a:r>
            <a:endParaRPr lang="en-US" sz="3000" dirty="0"/>
          </a:p>
        </p:txBody>
      </p:sp>
      <p:sp>
        <p:nvSpPr>
          <p:cNvPr id="27" name="Shape 25"/>
          <p:cNvSpPr/>
          <p:nvPr/>
        </p:nvSpPr>
        <p:spPr>
          <a:xfrm>
            <a:off x="7954010" y="5354320"/>
            <a:ext cx="5370830" cy="10160"/>
          </a:xfrm>
          <a:prstGeom prst="rect">
            <a:avLst/>
          </a:prstGeom>
          <a:solidFill>
            <a:srgbClr val="FFFFFF">
              <a:alpha val="7000"/>
            </a:srgbClr>
          </a:solidFill>
          <a:ln/>
        </p:spPr>
      </p:sp>
      <p:sp>
        <p:nvSpPr>
          <p:cNvPr id="28" name="Text 26"/>
          <p:cNvSpPr/>
          <p:nvPr/>
        </p:nvSpPr>
        <p:spPr>
          <a:xfrm>
            <a:off x="7954010" y="4898391"/>
            <a:ext cx="1634966"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FREQUENCY</a:t>
            </a:r>
            <a:endParaRPr lang="en-US" sz="1800" dirty="0"/>
          </a:p>
        </p:txBody>
      </p:sp>
      <p:sp>
        <p:nvSpPr>
          <p:cNvPr id="29" name="Text 27"/>
          <p:cNvSpPr/>
          <p:nvPr/>
        </p:nvSpPr>
        <p:spPr>
          <a:xfrm>
            <a:off x="11438890" y="4867910"/>
            <a:ext cx="1962150" cy="353060"/>
          </a:xfrm>
          <a:prstGeom prst="rect">
            <a:avLst/>
          </a:prstGeom>
          <a:noFill/>
          <a:ln/>
        </p:spPr>
        <p:txBody>
          <a:bodyPr wrap="square" lIns="25400" tIns="25400" rIns="25400" bIns="25400" rtlCol="0" anchor="t">
            <a:normAutofit/>
          </a:bodyPr>
          <a:lstStyle/>
          <a:p>
            <a:pPr marL="0" indent="0" algn="l">
              <a:buNone/>
            </a:pPr>
            <a:r>
              <a:rPr lang="en-US" sz="2250" dirty="0">
                <a:solidFill>
                  <a:srgbClr val="E8F4FF"/>
                </a:solidFill>
                <a:latin typeface="Courier New" pitchFamily="34" charset="0"/>
                <a:ea typeface="Courier New" pitchFamily="34" charset="-122"/>
                <a:cs typeface="Courier New" pitchFamily="34" charset="-120"/>
              </a:rPr>
              <a:t>10 – 40 min</a:t>
            </a:r>
            <a:endParaRPr lang="en-US" sz="2250" dirty="0"/>
          </a:p>
        </p:txBody>
      </p:sp>
      <p:sp>
        <p:nvSpPr>
          <p:cNvPr id="30" name="Shape 28"/>
          <p:cNvSpPr/>
          <p:nvPr/>
        </p:nvSpPr>
        <p:spPr>
          <a:xfrm>
            <a:off x="7954010" y="6022340"/>
            <a:ext cx="5370830" cy="10160"/>
          </a:xfrm>
          <a:prstGeom prst="rect">
            <a:avLst/>
          </a:prstGeom>
          <a:solidFill>
            <a:srgbClr val="FFFFFF">
              <a:alpha val="7000"/>
            </a:srgbClr>
          </a:solidFill>
          <a:ln/>
        </p:spPr>
      </p:sp>
      <p:sp>
        <p:nvSpPr>
          <p:cNvPr id="31" name="Text 29"/>
          <p:cNvSpPr/>
          <p:nvPr/>
        </p:nvSpPr>
        <p:spPr>
          <a:xfrm>
            <a:off x="7954010" y="5566410"/>
            <a:ext cx="1481773"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COVERAGE</a:t>
            </a:r>
            <a:endParaRPr lang="en-US" sz="1800" dirty="0"/>
          </a:p>
        </p:txBody>
      </p:sp>
      <p:sp>
        <p:nvSpPr>
          <p:cNvPr id="32" name="Text 30"/>
          <p:cNvSpPr/>
          <p:nvPr/>
        </p:nvSpPr>
        <p:spPr>
          <a:xfrm>
            <a:off x="11267440" y="5535930"/>
            <a:ext cx="2133600" cy="353060"/>
          </a:xfrm>
          <a:prstGeom prst="rect">
            <a:avLst/>
          </a:prstGeom>
          <a:noFill/>
          <a:ln/>
        </p:spPr>
        <p:txBody>
          <a:bodyPr wrap="square" lIns="25400" tIns="25400" rIns="25400" bIns="25400" rtlCol="0" anchor="t">
            <a:normAutofit/>
          </a:bodyPr>
          <a:lstStyle/>
          <a:p>
            <a:pPr marL="0" indent="0" algn="l">
              <a:buNone/>
            </a:pPr>
            <a:r>
              <a:rPr lang="en-US" sz="2250" dirty="0">
                <a:solidFill>
                  <a:srgbClr val="E8F4FF"/>
                </a:solidFill>
                <a:latin typeface="Courier New" pitchFamily="34" charset="0"/>
                <a:ea typeface="Courier New" pitchFamily="34" charset="-122"/>
                <a:cs typeface="Courier New" pitchFamily="34" charset="-120"/>
              </a:rPr>
              <a:t>Full oceanic</a:t>
            </a:r>
            <a:endParaRPr lang="en-US" sz="2250" dirty="0"/>
          </a:p>
        </p:txBody>
      </p:sp>
      <p:sp>
        <p:nvSpPr>
          <p:cNvPr id="33" name="Shape 31"/>
          <p:cNvSpPr/>
          <p:nvPr/>
        </p:nvSpPr>
        <p:spPr>
          <a:xfrm>
            <a:off x="7954010" y="6690360"/>
            <a:ext cx="5370830" cy="10160"/>
          </a:xfrm>
          <a:prstGeom prst="rect">
            <a:avLst/>
          </a:prstGeom>
          <a:solidFill>
            <a:srgbClr val="FFFFFF">
              <a:alpha val="7000"/>
            </a:srgbClr>
          </a:solidFill>
          <a:ln/>
        </p:spPr>
      </p:sp>
      <p:sp>
        <p:nvSpPr>
          <p:cNvPr id="34" name="Text 32"/>
          <p:cNvSpPr/>
          <p:nvPr/>
        </p:nvSpPr>
        <p:spPr>
          <a:xfrm>
            <a:off x="7954010" y="6234431"/>
            <a:ext cx="1545908"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WAYPOINTS</a:t>
            </a:r>
            <a:endParaRPr lang="en-US" sz="1800" dirty="0"/>
          </a:p>
        </p:txBody>
      </p:sp>
      <p:sp>
        <p:nvSpPr>
          <p:cNvPr id="35" name="Text 33"/>
          <p:cNvSpPr/>
          <p:nvPr/>
        </p:nvSpPr>
        <p:spPr>
          <a:xfrm>
            <a:off x="10581640" y="6203950"/>
            <a:ext cx="2825496" cy="353060"/>
          </a:xfrm>
          <a:prstGeom prst="rect">
            <a:avLst/>
          </a:prstGeom>
          <a:noFill/>
          <a:ln/>
        </p:spPr>
        <p:txBody>
          <a:bodyPr wrap="square" lIns="25400" tIns="25400" rIns="25400" bIns="25400" rtlCol="0" anchor="t">
            <a:normAutofit/>
          </a:bodyPr>
          <a:lstStyle/>
          <a:p>
            <a:pPr marL="0" indent="0" algn="l">
              <a:buNone/>
            </a:pPr>
            <a:r>
              <a:rPr lang="en-US" sz="2250" dirty="0">
                <a:solidFill>
                  <a:srgbClr val="E8F4FF"/>
                </a:solidFill>
                <a:latin typeface="Courier New" pitchFamily="34" charset="0"/>
                <a:ea typeface="Courier New" pitchFamily="34" charset="-122"/>
                <a:cs typeface="Courier New" pitchFamily="34" charset="-120"/>
              </a:rPr>
              <a:t>5 – 8 per flight</a:t>
            </a:r>
            <a:endParaRPr lang="en-US" sz="2250" dirty="0"/>
          </a:p>
        </p:txBody>
      </p:sp>
      <p:sp>
        <p:nvSpPr>
          <p:cNvPr id="36" name="Text 34"/>
          <p:cNvSpPr/>
          <p:nvPr/>
        </p:nvSpPr>
        <p:spPr>
          <a:xfrm>
            <a:off x="7954010" y="6973570"/>
            <a:ext cx="753586"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ROLE</a:t>
            </a:r>
            <a:endParaRPr lang="en-US" sz="1800" dirty="0"/>
          </a:p>
        </p:txBody>
      </p:sp>
      <p:sp>
        <p:nvSpPr>
          <p:cNvPr id="37" name="Text 35"/>
          <p:cNvSpPr/>
          <p:nvPr/>
        </p:nvSpPr>
        <p:spPr>
          <a:xfrm>
            <a:off x="10858024" y="6871970"/>
            <a:ext cx="2543016" cy="424180"/>
          </a:xfrm>
          <a:prstGeom prst="rect">
            <a:avLst/>
          </a:prstGeom>
          <a:noFill/>
          <a:ln/>
        </p:spPr>
        <p:txBody>
          <a:bodyPr wrap="square" lIns="25400" tIns="25400" rIns="25400" bIns="25400" rtlCol="0" anchor="t">
            <a:normAutofit/>
          </a:bodyPr>
          <a:lstStyle/>
          <a:p>
            <a:pPr marL="0" indent="0" algn="l">
              <a:buNone/>
            </a:pPr>
            <a:r>
              <a:rPr lang="en-US" sz="2250" dirty="0">
                <a:solidFill>
                  <a:srgbClr val="E8F4FF"/>
                </a:solidFill>
                <a:latin typeface="Courier New" pitchFamily="34" charset="0"/>
                <a:ea typeface="Courier New" pitchFamily="34" charset="-122"/>
                <a:cs typeface="Courier New" pitchFamily="34" charset="-120"/>
              </a:rPr>
              <a:t>Ground truth ★</a:t>
            </a:r>
            <a:endParaRPr lang="en-US" sz="2250" dirty="0"/>
          </a:p>
        </p:txBody>
      </p:sp>
      <p:sp>
        <p:nvSpPr>
          <p:cNvPr id="38" name="Shape 36"/>
          <p:cNvSpPr/>
          <p:nvPr/>
        </p:nvSpPr>
        <p:spPr>
          <a:xfrm>
            <a:off x="14097001" y="2631440"/>
            <a:ext cx="3238500" cy="2244090"/>
          </a:xfrm>
          <a:prstGeom prst="roundRect">
            <a:avLst>
              <a:gd name="adj" fmla="val 4244"/>
            </a:avLst>
          </a:prstGeom>
          <a:solidFill>
            <a:srgbClr val="00D4FF">
              <a:alpha val="7000"/>
            </a:srgbClr>
          </a:solidFill>
          <a:ln w="10160">
            <a:solidFill>
              <a:srgbClr val="00D4FF">
                <a:alpha val="20000"/>
              </a:srgbClr>
            </a:solidFill>
            <a:prstDash val="solid"/>
          </a:ln>
        </p:spPr>
      </p:sp>
      <p:sp>
        <p:nvSpPr>
          <p:cNvPr id="39" name="Text 37"/>
          <p:cNvSpPr/>
          <p:nvPr/>
        </p:nvSpPr>
        <p:spPr>
          <a:xfrm>
            <a:off x="14333589" y="3022600"/>
            <a:ext cx="2765323" cy="302260"/>
          </a:xfrm>
          <a:prstGeom prst="rect">
            <a:avLst/>
          </a:prstGeom>
          <a:noFill/>
          <a:ln/>
        </p:spPr>
        <p:txBody>
          <a:bodyPr wrap="square" lIns="25400" tIns="25400" rIns="25400" bIns="25400" rtlCol="0" anchor="t">
            <a:normAutofit/>
          </a:bodyPr>
          <a:lstStyle/>
          <a:p>
            <a:pPr marL="0" indent="0" algn="ctr">
              <a:buNone/>
            </a:pPr>
            <a:r>
              <a:rPr lang="en-US" sz="1800" kern="0" spc="144" dirty="0">
                <a:solidFill>
                  <a:srgbClr val="5A7A9A"/>
                </a:solidFill>
                <a:latin typeface="Courier New" pitchFamily="34" charset="0"/>
                <a:ea typeface="Courier New" pitchFamily="34" charset="-122"/>
                <a:cs typeface="Courier New" pitchFamily="34" charset="-120"/>
              </a:rPr>
              <a:t>VALIDATED</a:t>
            </a:r>
            <a:endParaRPr lang="en-US" sz="1800" dirty="0"/>
          </a:p>
        </p:txBody>
      </p:sp>
      <p:sp>
        <p:nvSpPr>
          <p:cNvPr id="40" name="Text 38"/>
          <p:cNvSpPr/>
          <p:nvPr/>
        </p:nvSpPr>
        <p:spPr>
          <a:xfrm>
            <a:off x="14333589" y="3362960"/>
            <a:ext cx="2765323" cy="800100"/>
          </a:xfrm>
          <a:prstGeom prst="rect">
            <a:avLst/>
          </a:prstGeom>
          <a:noFill/>
          <a:ln/>
        </p:spPr>
        <p:txBody>
          <a:bodyPr wrap="square" lIns="25400" tIns="25400" rIns="25400" bIns="25400" rtlCol="0" anchor="t">
            <a:normAutofit/>
          </a:bodyPr>
          <a:lstStyle/>
          <a:p>
            <a:pPr marL="0" indent="0" algn="ctr">
              <a:lnSpc>
                <a:spcPct val="100000"/>
              </a:lnSpc>
              <a:buNone/>
            </a:pPr>
            <a:r>
              <a:rPr lang="en-US" sz="6000" b="1" dirty="0">
                <a:solidFill>
                  <a:srgbClr val="00D4FF"/>
                </a:solidFill>
                <a:latin typeface="Courier New" pitchFamily="34" charset="0"/>
                <a:ea typeface="Courier New" pitchFamily="34" charset="-122"/>
                <a:cs typeface="Courier New" pitchFamily="34" charset="-120"/>
              </a:rPr>
              <a:t>1,704</a:t>
            </a:r>
            <a:endParaRPr lang="en-US" sz="6000" dirty="0"/>
          </a:p>
        </p:txBody>
      </p:sp>
      <p:sp>
        <p:nvSpPr>
          <p:cNvPr id="41" name="Text 39"/>
          <p:cNvSpPr/>
          <p:nvPr/>
        </p:nvSpPr>
        <p:spPr>
          <a:xfrm>
            <a:off x="14333589" y="4220210"/>
            <a:ext cx="2765323" cy="302260"/>
          </a:xfrm>
          <a:prstGeom prst="rect">
            <a:avLst/>
          </a:prstGeom>
          <a:noFill/>
          <a:ln/>
        </p:spPr>
        <p:txBody>
          <a:bodyPr wrap="square" lIns="25400" tIns="25400" rIns="25400" bIns="25400" rtlCol="0" anchor="t">
            <a:normAutofit/>
          </a:bodyPr>
          <a:lstStyle/>
          <a:p>
            <a:pPr marL="0" indent="0" algn="ctr">
              <a:buNone/>
            </a:pPr>
            <a:r>
              <a:rPr lang="en-US" sz="1800" dirty="0">
                <a:solidFill>
                  <a:srgbClr val="E8F4FF">
                    <a:alpha val="70000"/>
                  </a:srgbClr>
                </a:solidFill>
                <a:latin typeface="Arial" pitchFamily="34" charset="0"/>
                <a:ea typeface="Arial" pitchFamily="34" charset="-122"/>
                <a:cs typeface="Arial" pitchFamily="34" charset="-120"/>
              </a:rPr>
              <a:t>NAT crossings</a:t>
            </a:r>
            <a:endParaRPr lang="en-US" sz="1800" dirty="0"/>
          </a:p>
        </p:txBody>
      </p:sp>
      <p:sp>
        <p:nvSpPr>
          <p:cNvPr id="42" name="Shape 40"/>
          <p:cNvSpPr/>
          <p:nvPr/>
        </p:nvSpPr>
        <p:spPr>
          <a:xfrm>
            <a:off x="14097001" y="5142230"/>
            <a:ext cx="3238500" cy="2244090"/>
          </a:xfrm>
          <a:prstGeom prst="roundRect">
            <a:avLst>
              <a:gd name="adj" fmla="val 4244"/>
            </a:avLst>
          </a:prstGeom>
          <a:solidFill>
            <a:srgbClr val="00FF88">
              <a:alpha val="7000"/>
            </a:srgbClr>
          </a:solidFill>
          <a:ln w="10160">
            <a:solidFill>
              <a:srgbClr val="00FF88">
                <a:alpha val="30000"/>
              </a:srgbClr>
            </a:solidFill>
            <a:prstDash val="solid"/>
          </a:ln>
        </p:spPr>
      </p:sp>
      <p:sp>
        <p:nvSpPr>
          <p:cNvPr id="43" name="Text 41"/>
          <p:cNvSpPr/>
          <p:nvPr/>
        </p:nvSpPr>
        <p:spPr>
          <a:xfrm>
            <a:off x="14333589" y="5533390"/>
            <a:ext cx="2765323" cy="302260"/>
          </a:xfrm>
          <a:prstGeom prst="rect">
            <a:avLst/>
          </a:prstGeom>
          <a:noFill/>
          <a:ln/>
        </p:spPr>
        <p:txBody>
          <a:bodyPr wrap="square" lIns="25400" tIns="25400" rIns="25400" bIns="25400" rtlCol="0" anchor="t">
            <a:normAutofit/>
          </a:bodyPr>
          <a:lstStyle/>
          <a:p>
            <a:pPr marL="0" indent="0" algn="ctr">
              <a:buNone/>
            </a:pPr>
            <a:r>
              <a:rPr lang="en-US" sz="1800" kern="0" spc="144" dirty="0">
                <a:solidFill>
                  <a:srgbClr val="5A7A9A"/>
                </a:solidFill>
                <a:latin typeface="Courier New" pitchFamily="34" charset="0"/>
                <a:ea typeface="Courier New" pitchFamily="34" charset="-122"/>
                <a:cs typeface="Courier New" pitchFamily="34" charset="-120"/>
              </a:rPr>
              <a:t>BLACKOUT AVG</a:t>
            </a:r>
            <a:endParaRPr lang="en-US" sz="1800" dirty="0"/>
          </a:p>
        </p:txBody>
      </p:sp>
      <p:sp>
        <p:nvSpPr>
          <p:cNvPr id="44" name="Text 42"/>
          <p:cNvSpPr/>
          <p:nvPr/>
        </p:nvSpPr>
        <p:spPr>
          <a:xfrm>
            <a:off x="14333589" y="5873750"/>
            <a:ext cx="2765323" cy="800100"/>
          </a:xfrm>
          <a:prstGeom prst="rect">
            <a:avLst/>
          </a:prstGeom>
          <a:noFill/>
          <a:ln/>
        </p:spPr>
        <p:txBody>
          <a:bodyPr wrap="square" lIns="25400" tIns="25400" rIns="25400" bIns="25400" rtlCol="0" anchor="t">
            <a:normAutofit/>
          </a:bodyPr>
          <a:lstStyle/>
          <a:p>
            <a:pPr marL="0" indent="0" algn="ctr">
              <a:lnSpc>
                <a:spcPct val="100000"/>
              </a:lnSpc>
              <a:buNone/>
            </a:pPr>
            <a:r>
              <a:rPr lang="en-US" sz="6000" b="1" dirty="0">
                <a:solidFill>
                  <a:srgbClr val="00FF88"/>
                </a:solidFill>
                <a:latin typeface="Courier New" pitchFamily="34" charset="0"/>
                <a:ea typeface="Courier New" pitchFamily="34" charset="-122"/>
                <a:cs typeface="Courier New" pitchFamily="34" charset="-120"/>
              </a:rPr>
              <a:t>239'</a:t>
            </a:r>
            <a:endParaRPr lang="en-US" sz="6000" dirty="0"/>
          </a:p>
        </p:txBody>
      </p:sp>
      <p:sp>
        <p:nvSpPr>
          <p:cNvPr id="45" name="Text 43"/>
          <p:cNvSpPr/>
          <p:nvPr/>
        </p:nvSpPr>
        <p:spPr>
          <a:xfrm>
            <a:off x="14333589" y="6731000"/>
            <a:ext cx="2765323" cy="302260"/>
          </a:xfrm>
          <a:prstGeom prst="rect">
            <a:avLst/>
          </a:prstGeom>
          <a:noFill/>
          <a:ln/>
        </p:spPr>
        <p:txBody>
          <a:bodyPr wrap="square" lIns="25400" tIns="25400" rIns="25400" bIns="25400" rtlCol="0" anchor="t">
            <a:normAutofit/>
          </a:bodyPr>
          <a:lstStyle/>
          <a:p>
            <a:pPr marL="0" indent="0" algn="ctr">
              <a:buNone/>
            </a:pPr>
            <a:r>
              <a:rPr lang="en-US" sz="1800" dirty="0">
                <a:solidFill>
                  <a:srgbClr val="E8F4FF">
                    <a:alpha val="70000"/>
                  </a:srgbClr>
                </a:solidFill>
                <a:latin typeface="Arial" pitchFamily="34" charset="0"/>
                <a:ea typeface="Arial" pitchFamily="34" charset="-122"/>
                <a:cs typeface="Arial" pitchFamily="34" charset="-120"/>
              </a:rPr>
              <a:t>min per crossing</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sp>
        <p:nvSpPr>
          <p:cNvPr id="7" name="Shape 5"/>
          <p:cNvSpPr/>
          <p:nvPr/>
        </p:nvSpPr>
        <p:spPr>
          <a:xfrm>
            <a:off x="952500" y="762000"/>
            <a:ext cx="2161858" cy="398780"/>
          </a:xfrm>
          <a:prstGeom prst="roundRect">
            <a:avLst>
              <a:gd name="adj" fmla="val 9554"/>
            </a:avLst>
          </a:prstGeom>
          <a:ln w="10160">
            <a:solidFill>
              <a:srgbClr val="00D4FF"/>
            </a:solidFill>
            <a:prstDash val="solid"/>
          </a:ln>
        </p:spPr>
      </p:sp>
      <p:sp>
        <p:nvSpPr>
          <p:cNvPr id="8" name="Text 6"/>
          <p:cNvSpPr/>
          <p:nvPr/>
        </p:nvSpPr>
        <p:spPr>
          <a:xfrm>
            <a:off x="1153160" y="829310"/>
            <a:ext cx="1836738"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D4FF"/>
                </a:solidFill>
                <a:latin typeface="Courier New" pitchFamily="34" charset="0"/>
                <a:ea typeface="Courier New" pitchFamily="34" charset="-122"/>
                <a:cs typeface="Courier New" pitchFamily="34" charset="-120"/>
              </a:rPr>
              <a:t>METHODOLOGY</a:t>
            </a:r>
            <a:endParaRPr lang="en-US" sz="1800" dirty="0"/>
          </a:p>
        </p:txBody>
      </p:sp>
      <p:sp>
        <p:nvSpPr>
          <p:cNvPr id="9" name="Text 7"/>
          <p:cNvSpPr/>
          <p:nvPr/>
        </p:nvSpPr>
        <p:spPr>
          <a:xfrm>
            <a:off x="952500" y="1465580"/>
            <a:ext cx="16874491" cy="708660"/>
          </a:xfrm>
          <a:prstGeom prst="rect">
            <a:avLst/>
          </a:prstGeom>
          <a:noFill/>
          <a:ln/>
        </p:spPr>
        <p:txBody>
          <a:bodyPr wrap="square" lIns="25400" tIns="25400" rIns="25400" bIns="25400" rtlCol="0" anchor="t">
            <a:normAutofit/>
          </a:bodyPr>
          <a:lstStyle/>
          <a:p>
            <a:pPr marL="0" indent="0" algn="l">
              <a:lnSpc>
                <a:spcPct val="110000"/>
              </a:lnSpc>
              <a:buNone/>
            </a:pPr>
            <a:r>
              <a:rPr lang="en-US" sz="4800" b="1" dirty="0">
                <a:solidFill>
                  <a:srgbClr val="E8F4FF"/>
                </a:solidFill>
                <a:latin typeface="Arial" pitchFamily="34" charset="0"/>
                <a:ea typeface="Arial" pitchFamily="34" charset="-122"/>
                <a:cs typeface="Arial" pitchFamily="34" charset="-120"/>
              </a:rPr>
              <a:t>8-Step </a:t>
            </a:r>
            <a:r>
              <a:rPr lang="en-US" sz="4800" b="1" dirty="0">
                <a:solidFill>
                  <a:srgbClr val="00D4FF"/>
                </a:solidFill>
                <a:latin typeface="Arial" pitchFamily="34" charset="0"/>
                <a:ea typeface="Arial" pitchFamily="34" charset="-122"/>
                <a:cs typeface="Arial" pitchFamily="34" charset="-120"/>
              </a:rPr>
              <a:t>Machine Learning </a:t>
            </a:r>
            <a:r>
              <a:rPr lang="en-US" sz="4800" b="1" dirty="0">
                <a:solidFill>
                  <a:srgbClr val="E8F4FF"/>
                </a:solidFill>
                <a:latin typeface="Arial" pitchFamily="34" charset="0"/>
                <a:ea typeface="Arial" pitchFamily="34" charset="-122"/>
                <a:cs typeface="Arial" pitchFamily="34" charset="-120"/>
              </a:rPr>
              <a:t>Pipeline</a:t>
            </a:r>
            <a:endParaRPr lang="en-US" sz="4800" dirty="0"/>
          </a:p>
        </p:txBody>
      </p:sp>
      <p:sp>
        <p:nvSpPr>
          <p:cNvPr id="10" name="Shape 8"/>
          <p:cNvSpPr/>
          <p:nvPr/>
        </p:nvSpPr>
        <p:spPr>
          <a:xfrm>
            <a:off x="952500" y="2707640"/>
            <a:ext cx="1944053" cy="1784350"/>
          </a:xfrm>
          <a:prstGeom prst="roundRect">
            <a:avLst>
              <a:gd name="adj" fmla="val 4270"/>
            </a:avLst>
          </a:prstGeom>
          <a:solidFill>
            <a:srgbClr val="00D4FF">
              <a:alpha val="8000"/>
            </a:srgbClr>
          </a:solidFill>
          <a:ln w="10160">
            <a:solidFill>
              <a:srgbClr val="00D4FF">
                <a:alpha val="25000"/>
              </a:srgbClr>
            </a:solidFill>
            <a:prstDash val="solid"/>
          </a:ln>
        </p:spPr>
      </p:sp>
      <p:sp>
        <p:nvSpPr>
          <p:cNvPr id="11" name="Text 9"/>
          <p:cNvSpPr/>
          <p:nvPr/>
        </p:nvSpPr>
        <p:spPr>
          <a:xfrm>
            <a:off x="1076960" y="2908300"/>
            <a:ext cx="1695133" cy="302260"/>
          </a:xfrm>
          <a:prstGeom prst="rect">
            <a:avLst/>
          </a:prstGeom>
          <a:noFill/>
          <a:ln/>
        </p:spPr>
        <p:txBody>
          <a:bodyPr wrap="square" lIns="25400" tIns="25400" rIns="25400" bIns="25400" rtlCol="0" anchor="t">
            <a:normAutofit/>
          </a:bodyPr>
          <a:lstStyle/>
          <a:p>
            <a:pPr marL="0" indent="0" algn="ctr">
              <a:buNone/>
            </a:pPr>
            <a:r>
              <a:rPr lang="en-US" sz="1800" b="1" dirty="0">
                <a:solidFill>
                  <a:srgbClr val="00D4FF"/>
                </a:solidFill>
                <a:latin typeface="Courier New" pitchFamily="34" charset="0"/>
                <a:ea typeface="Courier New" pitchFamily="34" charset="-122"/>
                <a:cs typeface="Courier New" pitchFamily="34" charset="-120"/>
              </a:rPr>
              <a:t>01</a:t>
            </a:r>
            <a:endParaRPr lang="en-US" sz="1800" dirty="0"/>
          </a:p>
        </p:txBody>
      </p:sp>
      <p:sp>
        <p:nvSpPr>
          <p:cNvPr id="12" name="Text 10"/>
          <p:cNvSpPr/>
          <p:nvPr/>
        </p:nvSpPr>
        <p:spPr>
          <a:xfrm>
            <a:off x="1076960" y="3248660"/>
            <a:ext cx="1695133" cy="353060"/>
          </a:xfrm>
          <a:prstGeom prst="rect">
            <a:avLst/>
          </a:prstGeom>
          <a:noFill/>
          <a:ln/>
        </p:spPr>
        <p:txBody>
          <a:bodyPr wrap="square" lIns="25400" tIns="25400" rIns="25400" bIns="25400" rtlCol="0" anchor="t">
            <a:normAutofit/>
          </a:bodyPr>
          <a:lstStyle/>
          <a:p>
            <a:pPr marL="0" indent="0" algn="ctr">
              <a:buNone/>
            </a:pPr>
            <a:r>
              <a:rPr lang="en-US" sz="2100" b="1" dirty="0">
                <a:solidFill>
                  <a:srgbClr val="E8F4FF"/>
                </a:solidFill>
                <a:latin typeface="Arial" pitchFamily="34" charset="0"/>
                <a:ea typeface="Arial" pitchFamily="34" charset="-122"/>
                <a:cs typeface="Arial" pitchFamily="34" charset="-120"/>
              </a:rPr>
              <a:t>Ingest</a:t>
            </a:r>
            <a:endParaRPr lang="en-US" sz="2100" dirty="0"/>
          </a:p>
        </p:txBody>
      </p:sp>
      <p:sp>
        <p:nvSpPr>
          <p:cNvPr id="13" name="Text 11"/>
          <p:cNvSpPr/>
          <p:nvPr/>
        </p:nvSpPr>
        <p:spPr>
          <a:xfrm>
            <a:off x="1076960" y="3696970"/>
            <a:ext cx="1695133" cy="632460"/>
          </a:xfrm>
          <a:prstGeom prst="rect">
            <a:avLst/>
          </a:prstGeom>
          <a:noFill/>
          <a:ln/>
        </p:spPr>
        <p:txBody>
          <a:bodyPr wrap="square" lIns="25400" tIns="25400" rIns="25400" bIns="25400" rtlCol="0" anchor="t">
            <a:normAutofit/>
          </a:bodyPr>
          <a:lstStyle/>
          <a:p>
            <a:pPr marL="0" indent="0" algn="ctr">
              <a:lnSpc>
                <a:spcPct val="130000"/>
              </a:lnSpc>
              <a:buNone/>
            </a:pPr>
            <a:r>
              <a:rPr lang="en-US" sz="1800" dirty="0">
                <a:solidFill>
                  <a:srgbClr val="5A7A9A"/>
                </a:solidFill>
                <a:latin typeface="Courier New" pitchFamily="34" charset="0"/>
                <a:ea typeface="Courier New" pitchFamily="34" charset="-122"/>
                <a:cs typeface="Courier New" pitchFamily="34" charset="-120"/>
              </a:rPr>
              <a:t>Raw Trino queries</a:t>
            </a:r>
            <a:endParaRPr lang="en-US" sz="1800" dirty="0"/>
          </a:p>
        </p:txBody>
      </p:sp>
      <p:sp>
        <p:nvSpPr>
          <p:cNvPr id="14" name="Text 12"/>
          <p:cNvSpPr/>
          <p:nvPr/>
        </p:nvSpPr>
        <p:spPr>
          <a:xfrm>
            <a:off x="2934653" y="3050540"/>
            <a:ext cx="165100" cy="353060"/>
          </a:xfrm>
          <a:prstGeom prst="rect">
            <a:avLst/>
          </a:prstGeom>
          <a:noFill/>
          <a:ln/>
        </p:spPr>
        <p:txBody>
          <a:bodyPr wrap="square" lIns="25400" tIns="25400" rIns="25400" bIns="25400" rtlCol="0" anchor="ctr">
            <a:normAutofit/>
          </a:bodyPr>
          <a:lstStyle/>
          <a:p>
            <a:pPr marL="0" indent="0" algn="l">
              <a:buNone/>
            </a:pPr>
            <a:r>
              <a:rPr lang="en-US" sz="2100" dirty="0">
                <a:solidFill>
                  <a:srgbClr val="5A7A9A"/>
                </a:solidFill>
                <a:latin typeface="Arial" pitchFamily="34" charset="0"/>
                <a:ea typeface="Arial" pitchFamily="34" charset="-122"/>
                <a:cs typeface="Arial" pitchFamily="34" charset="-120"/>
              </a:rPr>
              <a:t>›</a:t>
            </a:r>
            <a:endParaRPr lang="en-US" sz="2100" dirty="0"/>
          </a:p>
        </p:txBody>
      </p:sp>
      <p:sp>
        <p:nvSpPr>
          <p:cNvPr id="15" name="Shape 13"/>
          <p:cNvSpPr/>
          <p:nvPr/>
        </p:nvSpPr>
        <p:spPr>
          <a:xfrm>
            <a:off x="3061653" y="2707640"/>
            <a:ext cx="1944053" cy="1784350"/>
          </a:xfrm>
          <a:prstGeom prst="roundRect">
            <a:avLst>
              <a:gd name="adj" fmla="val 4270"/>
            </a:avLst>
          </a:prstGeom>
          <a:solidFill>
            <a:srgbClr val="00D4FF">
              <a:alpha val="8000"/>
            </a:srgbClr>
          </a:solidFill>
          <a:ln w="10160">
            <a:solidFill>
              <a:srgbClr val="00D4FF">
                <a:alpha val="25000"/>
              </a:srgbClr>
            </a:solidFill>
            <a:prstDash val="solid"/>
          </a:ln>
        </p:spPr>
      </p:sp>
      <p:sp>
        <p:nvSpPr>
          <p:cNvPr id="16" name="Text 14"/>
          <p:cNvSpPr/>
          <p:nvPr/>
        </p:nvSpPr>
        <p:spPr>
          <a:xfrm>
            <a:off x="3186113" y="2908300"/>
            <a:ext cx="1695133" cy="302260"/>
          </a:xfrm>
          <a:prstGeom prst="rect">
            <a:avLst/>
          </a:prstGeom>
          <a:noFill/>
          <a:ln/>
        </p:spPr>
        <p:txBody>
          <a:bodyPr wrap="square" lIns="25400" tIns="25400" rIns="25400" bIns="25400" rtlCol="0" anchor="t">
            <a:normAutofit/>
          </a:bodyPr>
          <a:lstStyle/>
          <a:p>
            <a:pPr marL="0" indent="0" algn="ctr">
              <a:buNone/>
            </a:pPr>
            <a:r>
              <a:rPr lang="en-US" sz="1800" b="1" dirty="0">
                <a:solidFill>
                  <a:srgbClr val="00D4FF"/>
                </a:solidFill>
                <a:latin typeface="Courier New" pitchFamily="34" charset="0"/>
                <a:ea typeface="Courier New" pitchFamily="34" charset="-122"/>
                <a:cs typeface="Courier New" pitchFamily="34" charset="-120"/>
              </a:rPr>
              <a:t>02</a:t>
            </a:r>
            <a:endParaRPr lang="en-US" sz="1800" dirty="0"/>
          </a:p>
        </p:txBody>
      </p:sp>
      <p:sp>
        <p:nvSpPr>
          <p:cNvPr id="17" name="Text 15"/>
          <p:cNvSpPr/>
          <p:nvPr/>
        </p:nvSpPr>
        <p:spPr>
          <a:xfrm>
            <a:off x="3186113" y="3248660"/>
            <a:ext cx="1695133" cy="353060"/>
          </a:xfrm>
          <a:prstGeom prst="rect">
            <a:avLst/>
          </a:prstGeom>
          <a:noFill/>
          <a:ln/>
        </p:spPr>
        <p:txBody>
          <a:bodyPr wrap="square" lIns="25400" tIns="25400" rIns="25400" bIns="25400" rtlCol="0" anchor="t">
            <a:normAutofit/>
          </a:bodyPr>
          <a:lstStyle/>
          <a:p>
            <a:pPr marL="0" indent="0" algn="ctr">
              <a:buNone/>
            </a:pPr>
            <a:r>
              <a:rPr lang="en-US" sz="2100" b="1" dirty="0">
                <a:solidFill>
                  <a:srgbClr val="E8F4FF"/>
                </a:solidFill>
                <a:latin typeface="Arial" pitchFamily="34" charset="0"/>
                <a:ea typeface="Arial" pitchFamily="34" charset="-122"/>
                <a:cs typeface="Arial" pitchFamily="34" charset="-120"/>
              </a:rPr>
              <a:t>Clean</a:t>
            </a:r>
            <a:endParaRPr lang="en-US" sz="2100" dirty="0"/>
          </a:p>
        </p:txBody>
      </p:sp>
      <p:sp>
        <p:nvSpPr>
          <p:cNvPr id="18" name="Text 16"/>
          <p:cNvSpPr/>
          <p:nvPr/>
        </p:nvSpPr>
        <p:spPr>
          <a:xfrm>
            <a:off x="3186113" y="3696970"/>
            <a:ext cx="1695133" cy="632460"/>
          </a:xfrm>
          <a:prstGeom prst="rect">
            <a:avLst/>
          </a:prstGeom>
          <a:noFill/>
          <a:ln/>
        </p:spPr>
        <p:txBody>
          <a:bodyPr wrap="square" lIns="25400" tIns="25400" rIns="25400" bIns="25400" rtlCol="0" anchor="t">
            <a:normAutofit/>
          </a:bodyPr>
          <a:lstStyle/>
          <a:p>
            <a:pPr marL="0" indent="0" algn="ctr">
              <a:lnSpc>
                <a:spcPct val="130000"/>
              </a:lnSpc>
              <a:buNone/>
            </a:pPr>
            <a:r>
              <a:rPr lang="en-US" sz="1800" dirty="0">
                <a:solidFill>
                  <a:srgbClr val="00D4FF"/>
                </a:solidFill>
                <a:latin typeface="Courier New" pitchFamily="34" charset="0"/>
                <a:ea typeface="Courier New" pitchFamily="34" charset="-122"/>
                <a:cs typeface="Courier New" pitchFamily="34" charset="-120"/>
              </a:rPr>
              <a:t>1,704 flights</a:t>
            </a:r>
            <a:endParaRPr lang="en-US" sz="1800" dirty="0"/>
          </a:p>
        </p:txBody>
      </p:sp>
      <p:sp>
        <p:nvSpPr>
          <p:cNvPr id="19" name="Text 17"/>
          <p:cNvSpPr/>
          <p:nvPr/>
        </p:nvSpPr>
        <p:spPr>
          <a:xfrm>
            <a:off x="5043806" y="3050540"/>
            <a:ext cx="165100" cy="353060"/>
          </a:xfrm>
          <a:prstGeom prst="rect">
            <a:avLst/>
          </a:prstGeom>
          <a:noFill/>
          <a:ln/>
        </p:spPr>
        <p:txBody>
          <a:bodyPr wrap="square" lIns="25400" tIns="25400" rIns="25400" bIns="25400" rtlCol="0" anchor="ctr">
            <a:normAutofit/>
          </a:bodyPr>
          <a:lstStyle/>
          <a:p>
            <a:pPr marL="0" indent="0" algn="l">
              <a:buNone/>
            </a:pPr>
            <a:r>
              <a:rPr lang="en-US" sz="2100" dirty="0">
                <a:solidFill>
                  <a:srgbClr val="5A7A9A"/>
                </a:solidFill>
                <a:latin typeface="Arial" pitchFamily="34" charset="0"/>
                <a:ea typeface="Arial" pitchFamily="34" charset="-122"/>
                <a:cs typeface="Arial" pitchFamily="34" charset="-120"/>
              </a:rPr>
              <a:t>›</a:t>
            </a:r>
            <a:endParaRPr lang="en-US" sz="2100" dirty="0"/>
          </a:p>
        </p:txBody>
      </p:sp>
      <p:sp>
        <p:nvSpPr>
          <p:cNvPr id="20" name="Shape 18"/>
          <p:cNvSpPr/>
          <p:nvPr/>
        </p:nvSpPr>
        <p:spPr>
          <a:xfrm>
            <a:off x="5170805" y="2707640"/>
            <a:ext cx="1944053" cy="1647190"/>
          </a:xfrm>
          <a:prstGeom prst="roundRect">
            <a:avLst>
              <a:gd name="adj" fmla="val 4626"/>
            </a:avLst>
          </a:prstGeom>
          <a:solidFill>
            <a:srgbClr val="FF4444">
              <a:alpha val="8000"/>
            </a:srgbClr>
          </a:solidFill>
          <a:ln w="10160">
            <a:solidFill>
              <a:srgbClr val="FF4444">
                <a:alpha val="25000"/>
              </a:srgbClr>
            </a:solidFill>
            <a:prstDash val="solid"/>
          </a:ln>
        </p:spPr>
      </p:sp>
      <p:sp>
        <p:nvSpPr>
          <p:cNvPr id="21" name="Text 19"/>
          <p:cNvSpPr/>
          <p:nvPr/>
        </p:nvSpPr>
        <p:spPr>
          <a:xfrm>
            <a:off x="5295265" y="2908300"/>
            <a:ext cx="1695133" cy="302260"/>
          </a:xfrm>
          <a:prstGeom prst="rect">
            <a:avLst/>
          </a:prstGeom>
          <a:noFill/>
          <a:ln/>
        </p:spPr>
        <p:txBody>
          <a:bodyPr wrap="square" lIns="25400" tIns="25400" rIns="25400" bIns="25400" rtlCol="0" anchor="t">
            <a:normAutofit/>
          </a:bodyPr>
          <a:lstStyle/>
          <a:p>
            <a:pPr marL="0" indent="0" algn="ctr">
              <a:buNone/>
            </a:pPr>
            <a:r>
              <a:rPr lang="en-US" sz="1800" b="1" dirty="0">
                <a:solidFill>
                  <a:srgbClr val="FF4444"/>
                </a:solidFill>
                <a:latin typeface="Courier New" pitchFamily="34" charset="0"/>
                <a:ea typeface="Courier New" pitchFamily="34" charset="-122"/>
                <a:cs typeface="Courier New" pitchFamily="34" charset="-120"/>
              </a:rPr>
              <a:t>03</a:t>
            </a:r>
            <a:endParaRPr lang="en-US" sz="1800" dirty="0"/>
          </a:p>
        </p:txBody>
      </p:sp>
      <p:sp>
        <p:nvSpPr>
          <p:cNvPr id="22" name="Text 20"/>
          <p:cNvSpPr/>
          <p:nvPr/>
        </p:nvSpPr>
        <p:spPr>
          <a:xfrm>
            <a:off x="5295265" y="3248660"/>
            <a:ext cx="1695133" cy="353060"/>
          </a:xfrm>
          <a:prstGeom prst="rect">
            <a:avLst/>
          </a:prstGeom>
          <a:noFill/>
          <a:ln/>
        </p:spPr>
        <p:txBody>
          <a:bodyPr wrap="square" lIns="25400" tIns="25400" rIns="25400" bIns="25400" rtlCol="0" anchor="t">
            <a:normAutofit/>
          </a:bodyPr>
          <a:lstStyle/>
          <a:p>
            <a:pPr marL="0" indent="0" algn="ctr">
              <a:buNone/>
            </a:pPr>
            <a:r>
              <a:rPr lang="en-US" sz="2100" b="1" dirty="0">
                <a:solidFill>
                  <a:srgbClr val="E8F4FF"/>
                </a:solidFill>
                <a:latin typeface="Arial" pitchFamily="34" charset="0"/>
                <a:ea typeface="Arial" pitchFamily="34" charset="-122"/>
                <a:cs typeface="Arial" pitchFamily="34" charset="-120"/>
              </a:rPr>
              <a:t>Baseline</a:t>
            </a:r>
            <a:endParaRPr lang="en-US" sz="2100" dirty="0"/>
          </a:p>
        </p:txBody>
      </p:sp>
      <p:sp>
        <p:nvSpPr>
          <p:cNvPr id="23" name="Text 21"/>
          <p:cNvSpPr/>
          <p:nvPr/>
        </p:nvSpPr>
        <p:spPr>
          <a:xfrm>
            <a:off x="5295265" y="3696970"/>
            <a:ext cx="1695133" cy="495300"/>
          </a:xfrm>
          <a:prstGeom prst="rect">
            <a:avLst/>
          </a:prstGeom>
          <a:noFill/>
          <a:ln/>
        </p:spPr>
        <p:txBody>
          <a:bodyPr wrap="square" lIns="25400" tIns="25400" rIns="25400" bIns="25400" rtlCol="0" anchor="t">
            <a:normAutofit/>
          </a:bodyPr>
          <a:lstStyle/>
          <a:p>
            <a:pPr marL="0" indent="0" algn="ctr">
              <a:lnSpc>
                <a:spcPct val="130000"/>
              </a:lnSpc>
              <a:buNone/>
            </a:pPr>
            <a:r>
              <a:rPr lang="en-US" sz="1800" dirty="0">
                <a:solidFill>
                  <a:srgbClr val="FF4444"/>
                </a:solidFill>
                <a:latin typeface="Courier New" pitchFamily="34" charset="0"/>
                <a:ea typeface="Courier New" pitchFamily="34" charset="-122"/>
                <a:cs typeface="Courier New" pitchFamily="34" charset="-120"/>
              </a:rPr>
              <a:t>131 km</a:t>
            </a:r>
            <a:endParaRPr lang="en-US" sz="1800" dirty="0"/>
          </a:p>
        </p:txBody>
      </p:sp>
      <p:sp>
        <p:nvSpPr>
          <p:cNvPr id="24" name="Text 22"/>
          <p:cNvSpPr/>
          <p:nvPr/>
        </p:nvSpPr>
        <p:spPr>
          <a:xfrm>
            <a:off x="7152958" y="3050540"/>
            <a:ext cx="165100" cy="353060"/>
          </a:xfrm>
          <a:prstGeom prst="rect">
            <a:avLst/>
          </a:prstGeom>
          <a:noFill/>
          <a:ln/>
        </p:spPr>
        <p:txBody>
          <a:bodyPr wrap="square" lIns="25400" tIns="25400" rIns="25400" bIns="25400" rtlCol="0" anchor="ctr">
            <a:normAutofit/>
          </a:bodyPr>
          <a:lstStyle/>
          <a:p>
            <a:pPr marL="0" indent="0" algn="l">
              <a:buNone/>
            </a:pPr>
            <a:r>
              <a:rPr lang="en-US" sz="2100" dirty="0">
                <a:solidFill>
                  <a:srgbClr val="5A7A9A"/>
                </a:solidFill>
                <a:latin typeface="Arial" pitchFamily="34" charset="0"/>
                <a:ea typeface="Arial" pitchFamily="34" charset="-122"/>
                <a:cs typeface="Arial" pitchFamily="34" charset="-120"/>
              </a:rPr>
              <a:t>›</a:t>
            </a:r>
            <a:endParaRPr lang="en-US" sz="2100" dirty="0"/>
          </a:p>
        </p:txBody>
      </p:sp>
      <p:sp>
        <p:nvSpPr>
          <p:cNvPr id="25" name="Shape 23"/>
          <p:cNvSpPr/>
          <p:nvPr/>
        </p:nvSpPr>
        <p:spPr>
          <a:xfrm>
            <a:off x="7279958" y="2707640"/>
            <a:ext cx="1944053" cy="1784350"/>
          </a:xfrm>
          <a:prstGeom prst="roundRect">
            <a:avLst>
              <a:gd name="adj" fmla="val 4270"/>
            </a:avLst>
          </a:prstGeom>
          <a:solidFill>
            <a:srgbClr val="00D4FF">
              <a:alpha val="8000"/>
            </a:srgbClr>
          </a:solidFill>
          <a:ln w="10160">
            <a:solidFill>
              <a:srgbClr val="00D4FF">
                <a:alpha val="25000"/>
              </a:srgbClr>
            </a:solidFill>
            <a:prstDash val="solid"/>
          </a:ln>
        </p:spPr>
      </p:sp>
      <p:sp>
        <p:nvSpPr>
          <p:cNvPr id="26" name="Text 24"/>
          <p:cNvSpPr/>
          <p:nvPr/>
        </p:nvSpPr>
        <p:spPr>
          <a:xfrm>
            <a:off x="7404418" y="2908300"/>
            <a:ext cx="1695133" cy="302260"/>
          </a:xfrm>
          <a:prstGeom prst="rect">
            <a:avLst/>
          </a:prstGeom>
          <a:noFill/>
          <a:ln/>
        </p:spPr>
        <p:txBody>
          <a:bodyPr wrap="square" lIns="25400" tIns="25400" rIns="25400" bIns="25400" rtlCol="0" anchor="t">
            <a:normAutofit/>
          </a:bodyPr>
          <a:lstStyle/>
          <a:p>
            <a:pPr marL="0" indent="0" algn="ctr">
              <a:buNone/>
            </a:pPr>
            <a:r>
              <a:rPr lang="en-US" sz="1800" b="1" dirty="0">
                <a:solidFill>
                  <a:srgbClr val="00D4FF"/>
                </a:solidFill>
                <a:latin typeface="Courier New" pitchFamily="34" charset="0"/>
                <a:ea typeface="Courier New" pitchFamily="34" charset="-122"/>
                <a:cs typeface="Courier New" pitchFamily="34" charset="-120"/>
              </a:rPr>
              <a:t>04</a:t>
            </a:r>
            <a:endParaRPr lang="en-US" sz="1800" dirty="0"/>
          </a:p>
        </p:txBody>
      </p:sp>
      <p:sp>
        <p:nvSpPr>
          <p:cNvPr id="27" name="Text 25"/>
          <p:cNvSpPr/>
          <p:nvPr/>
        </p:nvSpPr>
        <p:spPr>
          <a:xfrm>
            <a:off x="7404418" y="3248660"/>
            <a:ext cx="1695133" cy="353060"/>
          </a:xfrm>
          <a:prstGeom prst="rect">
            <a:avLst/>
          </a:prstGeom>
          <a:noFill/>
          <a:ln/>
        </p:spPr>
        <p:txBody>
          <a:bodyPr wrap="square" lIns="25400" tIns="25400" rIns="25400" bIns="25400" rtlCol="0" anchor="t">
            <a:normAutofit/>
          </a:bodyPr>
          <a:lstStyle/>
          <a:p>
            <a:pPr marL="0" indent="0" algn="ctr">
              <a:buNone/>
            </a:pPr>
            <a:r>
              <a:rPr lang="en-US" sz="2100" b="1" dirty="0">
                <a:solidFill>
                  <a:srgbClr val="E8F4FF"/>
                </a:solidFill>
                <a:latin typeface="Arial" pitchFamily="34" charset="0"/>
                <a:ea typeface="Arial" pitchFamily="34" charset="-122"/>
                <a:cs typeface="Arial" pitchFamily="34" charset="-120"/>
              </a:rPr>
              <a:t>ML Dataset</a:t>
            </a:r>
            <a:endParaRPr lang="en-US" sz="2100" dirty="0"/>
          </a:p>
        </p:txBody>
      </p:sp>
      <p:sp>
        <p:nvSpPr>
          <p:cNvPr id="28" name="Text 26"/>
          <p:cNvSpPr/>
          <p:nvPr/>
        </p:nvSpPr>
        <p:spPr>
          <a:xfrm>
            <a:off x="7404418" y="3696970"/>
            <a:ext cx="1695133" cy="632460"/>
          </a:xfrm>
          <a:prstGeom prst="rect">
            <a:avLst/>
          </a:prstGeom>
          <a:noFill/>
          <a:ln/>
        </p:spPr>
        <p:txBody>
          <a:bodyPr wrap="square" lIns="25400" tIns="25400" rIns="25400" bIns="25400" rtlCol="0" anchor="t">
            <a:normAutofit/>
          </a:bodyPr>
          <a:lstStyle/>
          <a:p>
            <a:pPr marL="0" indent="0" algn="ctr">
              <a:lnSpc>
                <a:spcPct val="130000"/>
              </a:lnSpc>
              <a:buNone/>
            </a:pPr>
            <a:r>
              <a:rPr lang="en-US" sz="1800" dirty="0">
                <a:solidFill>
                  <a:srgbClr val="00D4FF"/>
                </a:solidFill>
                <a:latin typeface="Courier New" pitchFamily="34" charset="0"/>
                <a:ea typeface="Courier New" pitchFamily="34" charset="-122"/>
                <a:cs typeface="Courier New" pitchFamily="34" charset="-120"/>
              </a:rPr>
              <a:t>1,094 / 189 / 240</a:t>
            </a:r>
            <a:endParaRPr lang="en-US" sz="1800" dirty="0"/>
          </a:p>
        </p:txBody>
      </p:sp>
      <p:sp>
        <p:nvSpPr>
          <p:cNvPr id="29" name="Text 27"/>
          <p:cNvSpPr/>
          <p:nvPr/>
        </p:nvSpPr>
        <p:spPr>
          <a:xfrm>
            <a:off x="9262110" y="3050540"/>
            <a:ext cx="165100" cy="353060"/>
          </a:xfrm>
          <a:prstGeom prst="rect">
            <a:avLst/>
          </a:prstGeom>
          <a:noFill/>
          <a:ln/>
        </p:spPr>
        <p:txBody>
          <a:bodyPr wrap="square" lIns="25400" tIns="25400" rIns="25400" bIns="25400" rtlCol="0" anchor="ctr">
            <a:normAutofit/>
          </a:bodyPr>
          <a:lstStyle/>
          <a:p>
            <a:pPr marL="0" indent="0" algn="l">
              <a:buNone/>
            </a:pPr>
            <a:r>
              <a:rPr lang="en-US" sz="2100" dirty="0">
                <a:solidFill>
                  <a:srgbClr val="5A7A9A"/>
                </a:solidFill>
                <a:latin typeface="Arial" pitchFamily="34" charset="0"/>
                <a:ea typeface="Arial" pitchFamily="34" charset="-122"/>
                <a:cs typeface="Arial" pitchFamily="34" charset="-120"/>
              </a:rPr>
              <a:t>›</a:t>
            </a:r>
            <a:endParaRPr lang="en-US" sz="2100" dirty="0"/>
          </a:p>
        </p:txBody>
      </p:sp>
      <p:sp>
        <p:nvSpPr>
          <p:cNvPr id="30" name="Shape 28"/>
          <p:cNvSpPr/>
          <p:nvPr/>
        </p:nvSpPr>
        <p:spPr>
          <a:xfrm>
            <a:off x="9389111" y="2707640"/>
            <a:ext cx="1618933" cy="1610360"/>
          </a:xfrm>
          <a:prstGeom prst="roundRect">
            <a:avLst>
              <a:gd name="adj" fmla="val 4732"/>
            </a:avLst>
          </a:prstGeom>
          <a:solidFill>
            <a:srgbClr val="4488FF">
              <a:alpha val="8000"/>
            </a:srgbClr>
          </a:solidFill>
          <a:ln w="10160">
            <a:solidFill>
              <a:srgbClr val="4488FF">
                <a:alpha val="25000"/>
              </a:srgbClr>
            </a:solidFill>
            <a:prstDash val="solid"/>
          </a:ln>
        </p:spPr>
      </p:sp>
      <p:sp>
        <p:nvSpPr>
          <p:cNvPr id="31" name="Text 29"/>
          <p:cNvSpPr/>
          <p:nvPr/>
        </p:nvSpPr>
        <p:spPr>
          <a:xfrm>
            <a:off x="9513570" y="2908300"/>
            <a:ext cx="1370013" cy="302260"/>
          </a:xfrm>
          <a:prstGeom prst="rect">
            <a:avLst/>
          </a:prstGeom>
          <a:noFill/>
          <a:ln/>
        </p:spPr>
        <p:txBody>
          <a:bodyPr wrap="square" lIns="25400" tIns="25400" rIns="25400" bIns="25400" rtlCol="0" anchor="t">
            <a:normAutofit/>
          </a:bodyPr>
          <a:lstStyle/>
          <a:p>
            <a:pPr marL="0" indent="0" algn="ctr">
              <a:buNone/>
            </a:pPr>
            <a:r>
              <a:rPr lang="en-US" sz="1800" b="1" dirty="0">
                <a:solidFill>
                  <a:srgbClr val="4488FF"/>
                </a:solidFill>
                <a:latin typeface="Courier New" pitchFamily="34" charset="0"/>
                <a:ea typeface="Courier New" pitchFamily="34" charset="-122"/>
                <a:cs typeface="Courier New" pitchFamily="34" charset="-120"/>
              </a:rPr>
              <a:t>05a</a:t>
            </a:r>
            <a:endParaRPr lang="en-US" sz="1800" dirty="0"/>
          </a:p>
        </p:txBody>
      </p:sp>
      <p:sp>
        <p:nvSpPr>
          <p:cNvPr id="32" name="Text 30"/>
          <p:cNvSpPr/>
          <p:nvPr/>
        </p:nvSpPr>
        <p:spPr>
          <a:xfrm>
            <a:off x="9513570" y="3248660"/>
            <a:ext cx="1370013" cy="302260"/>
          </a:xfrm>
          <a:prstGeom prst="rect">
            <a:avLst/>
          </a:prstGeom>
          <a:noFill/>
          <a:ln/>
        </p:spPr>
        <p:txBody>
          <a:bodyPr wrap="square" lIns="25400" tIns="25400" rIns="25400" bIns="25400" rtlCol="0" anchor="t">
            <a:normAutofit/>
          </a:bodyPr>
          <a:lstStyle/>
          <a:p>
            <a:pPr marL="0" indent="0" algn="ctr">
              <a:buNone/>
            </a:pPr>
            <a:r>
              <a:rPr lang="en-US" sz="1800" b="1" dirty="0">
                <a:solidFill>
                  <a:srgbClr val="E8F4FF"/>
                </a:solidFill>
                <a:latin typeface="Arial" pitchFamily="34" charset="0"/>
                <a:ea typeface="Arial" pitchFamily="34" charset="-122"/>
                <a:cs typeface="Arial" pitchFamily="34" charset="-120"/>
              </a:rPr>
              <a:t>Kalman</a:t>
            </a:r>
            <a:endParaRPr lang="en-US" sz="1800" dirty="0"/>
          </a:p>
        </p:txBody>
      </p:sp>
      <p:sp>
        <p:nvSpPr>
          <p:cNvPr id="33" name="Text 31"/>
          <p:cNvSpPr/>
          <p:nvPr/>
        </p:nvSpPr>
        <p:spPr>
          <a:xfrm>
            <a:off x="9513570" y="3589020"/>
            <a:ext cx="1370013" cy="566420"/>
          </a:xfrm>
          <a:prstGeom prst="rect">
            <a:avLst/>
          </a:prstGeom>
          <a:noFill/>
          <a:ln/>
        </p:spPr>
        <p:txBody>
          <a:bodyPr wrap="square" lIns="25400" tIns="25400" rIns="25400" bIns="25400" rtlCol="0" anchor="t">
            <a:normAutofit/>
          </a:bodyPr>
          <a:lstStyle/>
          <a:p>
            <a:pPr marL="0" indent="0" algn="ctr">
              <a:buNone/>
            </a:pPr>
            <a:r>
              <a:rPr lang="en-US" sz="1800" dirty="0">
                <a:solidFill>
                  <a:srgbClr val="4488FF"/>
                </a:solidFill>
                <a:latin typeface="Courier New" pitchFamily="34" charset="0"/>
                <a:ea typeface="Courier New" pitchFamily="34" charset="-122"/>
                <a:cs typeface="Courier New" pitchFamily="34" charset="-120"/>
              </a:rPr>
              <a:t>83 km −37%</a:t>
            </a:r>
            <a:endParaRPr lang="en-US" sz="1800" dirty="0"/>
          </a:p>
        </p:txBody>
      </p:sp>
      <p:sp>
        <p:nvSpPr>
          <p:cNvPr id="34" name="Shape 32"/>
          <p:cNvSpPr/>
          <p:nvPr/>
        </p:nvSpPr>
        <p:spPr>
          <a:xfrm>
            <a:off x="9389111" y="4413250"/>
            <a:ext cx="1618933" cy="1610360"/>
          </a:xfrm>
          <a:prstGeom prst="roundRect">
            <a:avLst>
              <a:gd name="adj" fmla="val 4732"/>
            </a:avLst>
          </a:prstGeom>
          <a:solidFill>
            <a:srgbClr val="00FF88">
              <a:alpha val="8000"/>
            </a:srgbClr>
          </a:solidFill>
          <a:ln w="10160">
            <a:solidFill>
              <a:srgbClr val="00FF88">
                <a:alpha val="25000"/>
              </a:srgbClr>
            </a:solidFill>
            <a:prstDash val="solid"/>
          </a:ln>
        </p:spPr>
      </p:sp>
      <p:sp>
        <p:nvSpPr>
          <p:cNvPr id="35" name="Text 33"/>
          <p:cNvSpPr/>
          <p:nvPr/>
        </p:nvSpPr>
        <p:spPr>
          <a:xfrm>
            <a:off x="9513570" y="4613910"/>
            <a:ext cx="1370013" cy="302260"/>
          </a:xfrm>
          <a:prstGeom prst="rect">
            <a:avLst/>
          </a:prstGeom>
          <a:noFill/>
          <a:ln/>
        </p:spPr>
        <p:txBody>
          <a:bodyPr wrap="square" lIns="25400" tIns="25400" rIns="25400" bIns="25400" rtlCol="0" anchor="t">
            <a:normAutofit/>
          </a:bodyPr>
          <a:lstStyle/>
          <a:p>
            <a:pPr marL="0" indent="0" algn="ctr">
              <a:buNone/>
            </a:pPr>
            <a:r>
              <a:rPr lang="en-US" sz="1800" b="1" dirty="0">
                <a:solidFill>
                  <a:srgbClr val="00FF88"/>
                </a:solidFill>
                <a:latin typeface="Courier New" pitchFamily="34" charset="0"/>
                <a:ea typeface="Courier New" pitchFamily="34" charset="-122"/>
                <a:cs typeface="Courier New" pitchFamily="34" charset="-120"/>
              </a:rPr>
              <a:t>05b</a:t>
            </a:r>
            <a:endParaRPr lang="en-US" sz="1800" dirty="0"/>
          </a:p>
        </p:txBody>
      </p:sp>
      <p:sp>
        <p:nvSpPr>
          <p:cNvPr id="36" name="Text 34"/>
          <p:cNvSpPr/>
          <p:nvPr/>
        </p:nvSpPr>
        <p:spPr>
          <a:xfrm>
            <a:off x="9513570" y="4954270"/>
            <a:ext cx="1370013" cy="302260"/>
          </a:xfrm>
          <a:prstGeom prst="rect">
            <a:avLst/>
          </a:prstGeom>
          <a:noFill/>
          <a:ln/>
        </p:spPr>
        <p:txBody>
          <a:bodyPr wrap="square" lIns="25400" tIns="25400" rIns="25400" bIns="25400" rtlCol="0" anchor="t">
            <a:normAutofit/>
          </a:bodyPr>
          <a:lstStyle/>
          <a:p>
            <a:pPr marL="0" indent="0" algn="ctr">
              <a:buNone/>
            </a:pPr>
            <a:r>
              <a:rPr lang="en-US" sz="1800" b="1" dirty="0">
                <a:solidFill>
                  <a:srgbClr val="E8F4FF"/>
                </a:solidFill>
                <a:latin typeface="Arial" pitchFamily="34" charset="0"/>
                <a:ea typeface="Arial" pitchFamily="34" charset="-122"/>
                <a:cs typeface="Arial" pitchFamily="34" charset="-120"/>
              </a:rPr>
              <a:t>GRU</a:t>
            </a:r>
            <a:endParaRPr lang="en-US" sz="1800" dirty="0"/>
          </a:p>
        </p:txBody>
      </p:sp>
      <p:sp>
        <p:nvSpPr>
          <p:cNvPr id="37" name="Text 35"/>
          <p:cNvSpPr/>
          <p:nvPr/>
        </p:nvSpPr>
        <p:spPr>
          <a:xfrm>
            <a:off x="9513570" y="5294630"/>
            <a:ext cx="1370013" cy="566420"/>
          </a:xfrm>
          <a:prstGeom prst="rect">
            <a:avLst/>
          </a:prstGeom>
          <a:noFill/>
          <a:ln/>
        </p:spPr>
        <p:txBody>
          <a:bodyPr wrap="square" lIns="25400" tIns="25400" rIns="25400" bIns="25400" rtlCol="0" anchor="t">
            <a:normAutofit/>
          </a:bodyPr>
          <a:lstStyle/>
          <a:p>
            <a:pPr marL="0" indent="0" algn="ctr">
              <a:buNone/>
            </a:pPr>
            <a:r>
              <a:rPr lang="en-US" sz="1800" dirty="0">
                <a:solidFill>
                  <a:srgbClr val="00FF88"/>
                </a:solidFill>
                <a:latin typeface="Courier New" pitchFamily="34" charset="0"/>
                <a:ea typeface="Courier New" pitchFamily="34" charset="-122"/>
                <a:cs typeface="Courier New" pitchFamily="34" charset="-120"/>
              </a:rPr>
              <a:t>64 km −51%</a:t>
            </a:r>
            <a:endParaRPr lang="en-US" sz="1800" dirty="0"/>
          </a:p>
        </p:txBody>
      </p:sp>
      <p:sp>
        <p:nvSpPr>
          <p:cNvPr id="38" name="Text 36"/>
          <p:cNvSpPr/>
          <p:nvPr/>
        </p:nvSpPr>
        <p:spPr>
          <a:xfrm>
            <a:off x="11046143" y="3050540"/>
            <a:ext cx="165100" cy="353060"/>
          </a:xfrm>
          <a:prstGeom prst="rect">
            <a:avLst/>
          </a:prstGeom>
          <a:noFill/>
          <a:ln/>
        </p:spPr>
        <p:txBody>
          <a:bodyPr wrap="square" lIns="25400" tIns="25400" rIns="25400" bIns="25400" rtlCol="0" anchor="ctr">
            <a:normAutofit/>
          </a:bodyPr>
          <a:lstStyle/>
          <a:p>
            <a:pPr marL="0" indent="0" algn="l">
              <a:buNone/>
            </a:pPr>
            <a:r>
              <a:rPr lang="en-US" sz="2100" dirty="0">
                <a:solidFill>
                  <a:srgbClr val="5A7A9A"/>
                </a:solidFill>
                <a:latin typeface="Arial" pitchFamily="34" charset="0"/>
                <a:ea typeface="Arial" pitchFamily="34" charset="-122"/>
                <a:cs typeface="Arial" pitchFamily="34" charset="-120"/>
              </a:rPr>
              <a:t>›</a:t>
            </a:r>
            <a:endParaRPr lang="en-US" sz="2100" dirty="0"/>
          </a:p>
        </p:txBody>
      </p:sp>
      <p:sp>
        <p:nvSpPr>
          <p:cNvPr id="39" name="Shape 37"/>
          <p:cNvSpPr/>
          <p:nvPr/>
        </p:nvSpPr>
        <p:spPr>
          <a:xfrm>
            <a:off x="11173144" y="2707640"/>
            <a:ext cx="1944053" cy="1784350"/>
          </a:xfrm>
          <a:prstGeom prst="roundRect">
            <a:avLst>
              <a:gd name="adj" fmla="val 4270"/>
            </a:avLst>
          </a:prstGeom>
          <a:solidFill>
            <a:srgbClr val="00D4FF">
              <a:alpha val="8000"/>
            </a:srgbClr>
          </a:solidFill>
          <a:ln w="10160">
            <a:solidFill>
              <a:srgbClr val="00D4FF">
                <a:alpha val="25000"/>
              </a:srgbClr>
            </a:solidFill>
            <a:prstDash val="solid"/>
          </a:ln>
        </p:spPr>
      </p:sp>
      <p:sp>
        <p:nvSpPr>
          <p:cNvPr id="40" name="Text 38"/>
          <p:cNvSpPr/>
          <p:nvPr/>
        </p:nvSpPr>
        <p:spPr>
          <a:xfrm>
            <a:off x="11297603" y="2908300"/>
            <a:ext cx="1695133" cy="302260"/>
          </a:xfrm>
          <a:prstGeom prst="rect">
            <a:avLst/>
          </a:prstGeom>
          <a:noFill/>
          <a:ln/>
        </p:spPr>
        <p:txBody>
          <a:bodyPr wrap="square" lIns="25400" tIns="25400" rIns="25400" bIns="25400" rtlCol="0" anchor="t">
            <a:normAutofit/>
          </a:bodyPr>
          <a:lstStyle/>
          <a:p>
            <a:pPr marL="0" indent="0" algn="ctr">
              <a:buNone/>
            </a:pPr>
            <a:r>
              <a:rPr lang="en-US" sz="1800" b="1" dirty="0">
                <a:solidFill>
                  <a:srgbClr val="00D4FF"/>
                </a:solidFill>
                <a:latin typeface="Courier New" pitchFamily="34" charset="0"/>
                <a:ea typeface="Courier New" pitchFamily="34" charset="-122"/>
                <a:cs typeface="Courier New" pitchFamily="34" charset="-120"/>
              </a:rPr>
              <a:t>06</a:t>
            </a:r>
            <a:endParaRPr lang="en-US" sz="1800" dirty="0"/>
          </a:p>
        </p:txBody>
      </p:sp>
      <p:sp>
        <p:nvSpPr>
          <p:cNvPr id="41" name="Text 39"/>
          <p:cNvSpPr/>
          <p:nvPr/>
        </p:nvSpPr>
        <p:spPr>
          <a:xfrm>
            <a:off x="11297603" y="3248660"/>
            <a:ext cx="1695133" cy="353060"/>
          </a:xfrm>
          <a:prstGeom prst="rect">
            <a:avLst/>
          </a:prstGeom>
          <a:noFill/>
          <a:ln/>
        </p:spPr>
        <p:txBody>
          <a:bodyPr wrap="square" lIns="25400" tIns="25400" rIns="25400" bIns="25400" rtlCol="0" anchor="t">
            <a:normAutofit/>
          </a:bodyPr>
          <a:lstStyle/>
          <a:p>
            <a:pPr marL="0" indent="0" algn="ctr">
              <a:buNone/>
            </a:pPr>
            <a:r>
              <a:rPr lang="en-US" sz="2100" b="1" dirty="0">
                <a:solidFill>
                  <a:srgbClr val="E8F4FF"/>
                </a:solidFill>
                <a:latin typeface="Arial" pitchFamily="34" charset="0"/>
                <a:ea typeface="Arial" pitchFamily="34" charset="-122"/>
                <a:cs typeface="Arial" pitchFamily="34" charset="-120"/>
              </a:rPr>
              <a:t>Analytics</a:t>
            </a:r>
            <a:endParaRPr lang="en-US" sz="2100" dirty="0"/>
          </a:p>
        </p:txBody>
      </p:sp>
      <p:sp>
        <p:nvSpPr>
          <p:cNvPr id="42" name="Text 40"/>
          <p:cNvSpPr/>
          <p:nvPr/>
        </p:nvSpPr>
        <p:spPr>
          <a:xfrm>
            <a:off x="11297603" y="3696970"/>
            <a:ext cx="1695133" cy="632460"/>
          </a:xfrm>
          <a:prstGeom prst="rect">
            <a:avLst/>
          </a:prstGeom>
          <a:noFill/>
          <a:ln/>
        </p:spPr>
        <p:txBody>
          <a:bodyPr wrap="square" lIns="25400" tIns="25400" rIns="25400" bIns="25400" rtlCol="0" anchor="t">
            <a:normAutofit/>
          </a:bodyPr>
          <a:lstStyle/>
          <a:p>
            <a:pPr marL="0" indent="0" algn="ctr">
              <a:lnSpc>
                <a:spcPct val="130000"/>
              </a:lnSpc>
              <a:buNone/>
            </a:pPr>
            <a:r>
              <a:rPr lang="en-US" sz="1800" dirty="0">
                <a:solidFill>
                  <a:srgbClr val="5A7A9A"/>
                </a:solidFill>
                <a:latin typeface="Courier New" pitchFamily="34" charset="0"/>
                <a:ea typeface="Courier New" pitchFamily="34" charset="-122"/>
                <a:cs typeface="Courier New" pitchFamily="34" charset="-120"/>
              </a:rPr>
              <a:t>Test evaluation</a:t>
            </a:r>
            <a:endParaRPr lang="en-US" sz="1800" dirty="0"/>
          </a:p>
        </p:txBody>
      </p:sp>
      <p:sp>
        <p:nvSpPr>
          <p:cNvPr id="43" name="Text 41"/>
          <p:cNvSpPr/>
          <p:nvPr/>
        </p:nvSpPr>
        <p:spPr>
          <a:xfrm>
            <a:off x="13155296" y="3050540"/>
            <a:ext cx="165100" cy="353060"/>
          </a:xfrm>
          <a:prstGeom prst="rect">
            <a:avLst/>
          </a:prstGeom>
          <a:noFill/>
          <a:ln/>
        </p:spPr>
        <p:txBody>
          <a:bodyPr wrap="square" lIns="25400" tIns="25400" rIns="25400" bIns="25400" rtlCol="0" anchor="ctr">
            <a:normAutofit/>
          </a:bodyPr>
          <a:lstStyle/>
          <a:p>
            <a:pPr marL="0" indent="0" algn="l">
              <a:buNone/>
            </a:pPr>
            <a:r>
              <a:rPr lang="en-US" sz="2100" dirty="0">
                <a:solidFill>
                  <a:srgbClr val="5A7A9A"/>
                </a:solidFill>
                <a:latin typeface="Arial" pitchFamily="34" charset="0"/>
                <a:ea typeface="Arial" pitchFamily="34" charset="-122"/>
                <a:cs typeface="Arial" pitchFamily="34" charset="-120"/>
              </a:rPr>
              <a:t>›</a:t>
            </a:r>
            <a:endParaRPr lang="en-US" sz="2100" dirty="0"/>
          </a:p>
        </p:txBody>
      </p:sp>
      <p:sp>
        <p:nvSpPr>
          <p:cNvPr id="44" name="Shape 42"/>
          <p:cNvSpPr/>
          <p:nvPr/>
        </p:nvSpPr>
        <p:spPr>
          <a:xfrm>
            <a:off x="13282296" y="2707640"/>
            <a:ext cx="1944053" cy="1647190"/>
          </a:xfrm>
          <a:prstGeom prst="roundRect">
            <a:avLst>
              <a:gd name="adj" fmla="val 4626"/>
            </a:avLst>
          </a:prstGeom>
          <a:solidFill>
            <a:srgbClr val="00D4FF">
              <a:alpha val="8000"/>
            </a:srgbClr>
          </a:solidFill>
          <a:ln w="10160">
            <a:solidFill>
              <a:srgbClr val="00D4FF">
                <a:alpha val="25000"/>
              </a:srgbClr>
            </a:solidFill>
            <a:prstDash val="solid"/>
          </a:ln>
        </p:spPr>
      </p:sp>
      <p:sp>
        <p:nvSpPr>
          <p:cNvPr id="45" name="Text 43"/>
          <p:cNvSpPr/>
          <p:nvPr/>
        </p:nvSpPr>
        <p:spPr>
          <a:xfrm>
            <a:off x="13406756" y="2908300"/>
            <a:ext cx="1695133" cy="302260"/>
          </a:xfrm>
          <a:prstGeom prst="rect">
            <a:avLst/>
          </a:prstGeom>
          <a:noFill/>
          <a:ln/>
        </p:spPr>
        <p:txBody>
          <a:bodyPr wrap="square" lIns="25400" tIns="25400" rIns="25400" bIns="25400" rtlCol="0" anchor="t">
            <a:normAutofit/>
          </a:bodyPr>
          <a:lstStyle/>
          <a:p>
            <a:pPr marL="0" indent="0" algn="ctr">
              <a:buNone/>
            </a:pPr>
            <a:r>
              <a:rPr lang="en-US" sz="1800" b="1" dirty="0">
                <a:solidFill>
                  <a:srgbClr val="00D4FF"/>
                </a:solidFill>
                <a:latin typeface="Courier New" pitchFamily="34" charset="0"/>
                <a:ea typeface="Courier New" pitchFamily="34" charset="-122"/>
                <a:cs typeface="Courier New" pitchFamily="34" charset="-120"/>
              </a:rPr>
              <a:t>07</a:t>
            </a:r>
            <a:endParaRPr lang="en-US" sz="1800" dirty="0"/>
          </a:p>
        </p:txBody>
      </p:sp>
      <p:sp>
        <p:nvSpPr>
          <p:cNvPr id="46" name="Text 44"/>
          <p:cNvSpPr/>
          <p:nvPr/>
        </p:nvSpPr>
        <p:spPr>
          <a:xfrm>
            <a:off x="13406756" y="3248660"/>
            <a:ext cx="1695133" cy="353060"/>
          </a:xfrm>
          <a:prstGeom prst="rect">
            <a:avLst/>
          </a:prstGeom>
          <a:noFill/>
          <a:ln/>
        </p:spPr>
        <p:txBody>
          <a:bodyPr wrap="square" lIns="25400" tIns="25400" rIns="25400" bIns="25400" rtlCol="0" anchor="t">
            <a:normAutofit/>
          </a:bodyPr>
          <a:lstStyle/>
          <a:p>
            <a:pPr marL="0" indent="0" algn="ctr">
              <a:buNone/>
            </a:pPr>
            <a:r>
              <a:rPr lang="en-US" sz="2100" b="1" dirty="0">
                <a:solidFill>
                  <a:srgbClr val="E8F4FF"/>
                </a:solidFill>
                <a:latin typeface="Arial" pitchFamily="34" charset="0"/>
                <a:ea typeface="Arial" pitchFamily="34" charset="-122"/>
                <a:cs typeface="Arial" pitchFamily="34" charset="-120"/>
              </a:rPr>
              <a:t>API</a:t>
            </a:r>
            <a:endParaRPr lang="en-US" sz="2100" dirty="0"/>
          </a:p>
        </p:txBody>
      </p:sp>
      <p:sp>
        <p:nvSpPr>
          <p:cNvPr id="47" name="Text 45"/>
          <p:cNvSpPr/>
          <p:nvPr/>
        </p:nvSpPr>
        <p:spPr>
          <a:xfrm>
            <a:off x="13406756" y="3696970"/>
            <a:ext cx="1695133" cy="495300"/>
          </a:xfrm>
          <a:prstGeom prst="rect">
            <a:avLst/>
          </a:prstGeom>
          <a:noFill/>
          <a:ln/>
        </p:spPr>
        <p:txBody>
          <a:bodyPr wrap="square" lIns="25400" tIns="25400" rIns="25400" bIns="25400" rtlCol="0" anchor="t">
            <a:normAutofit/>
          </a:bodyPr>
          <a:lstStyle/>
          <a:p>
            <a:pPr marL="0" indent="0" algn="ctr">
              <a:lnSpc>
                <a:spcPct val="130000"/>
              </a:lnSpc>
              <a:buNone/>
            </a:pPr>
            <a:r>
              <a:rPr lang="en-US" sz="1800" dirty="0">
                <a:solidFill>
                  <a:srgbClr val="5A7A9A"/>
                </a:solidFill>
                <a:latin typeface="Courier New" pitchFamily="34" charset="0"/>
                <a:ea typeface="Courier New" pitchFamily="34" charset="-122"/>
                <a:cs typeface="Courier New" pitchFamily="34" charset="-120"/>
              </a:rPr>
              <a:t>FastAPI</a:t>
            </a:r>
            <a:endParaRPr lang="en-US" sz="1800" dirty="0"/>
          </a:p>
        </p:txBody>
      </p:sp>
      <p:sp>
        <p:nvSpPr>
          <p:cNvPr id="48" name="Text 46"/>
          <p:cNvSpPr/>
          <p:nvPr/>
        </p:nvSpPr>
        <p:spPr>
          <a:xfrm>
            <a:off x="15264449" y="3050540"/>
            <a:ext cx="165100" cy="353060"/>
          </a:xfrm>
          <a:prstGeom prst="rect">
            <a:avLst/>
          </a:prstGeom>
          <a:noFill/>
          <a:ln/>
        </p:spPr>
        <p:txBody>
          <a:bodyPr wrap="square" lIns="25400" tIns="25400" rIns="25400" bIns="25400" rtlCol="0" anchor="ctr">
            <a:normAutofit/>
          </a:bodyPr>
          <a:lstStyle/>
          <a:p>
            <a:pPr marL="0" indent="0" algn="l">
              <a:buNone/>
            </a:pPr>
            <a:r>
              <a:rPr lang="en-US" sz="2100" dirty="0">
                <a:solidFill>
                  <a:srgbClr val="5A7A9A"/>
                </a:solidFill>
                <a:latin typeface="Arial" pitchFamily="34" charset="0"/>
                <a:ea typeface="Arial" pitchFamily="34" charset="-122"/>
                <a:cs typeface="Arial" pitchFamily="34" charset="-120"/>
              </a:rPr>
              <a:t>›</a:t>
            </a:r>
            <a:endParaRPr lang="en-US" sz="2100" dirty="0"/>
          </a:p>
        </p:txBody>
      </p:sp>
      <p:sp>
        <p:nvSpPr>
          <p:cNvPr id="49" name="Shape 47"/>
          <p:cNvSpPr/>
          <p:nvPr/>
        </p:nvSpPr>
        <p:spPr>
          <a:xfrm>
            <a:off x="15391448" y="2707640"/>
            <a:ext cx="1944053" cy="1647190"/>
          </a:xfrm>
          <a:prstGeom prst="roundRect">
            <a:avLst>
              <a:gd name="adj" fmla="val 4626"/>
            </a:avLst>
          </a:prstGeom>
          <a:solidFill>
            <a:srgbClr val="00D4FF">
              <a:alpha val="12000"/>
            </a:srgbClr>
          </a:solidFill>
          <a:ln w="10160">
            <a:solidFill>
              <a:srgbClr val="00D4FF">
                <a:alpha val="40000"/>
              </a:srgbClr>
            </a:solidFill>
            <a:prstDash val="solid"/>
          </a:ln>
        </p:spPr>
      </p:sp>
      <p:sp>
        <p:nvSpPr>
          <p:cNvPr id="50" name="Text 48"/>
          <p:cNvSpPr/>
          <p:nvPr/>
        </p:nvSpPr>
        <p:spPr>
          <a:xfrm>
            <a:off x="15515909" y="2908300"/>
            <a:ext cx="1695133" cy="302260"/>
          </a:xfrm>
          <a:prstGeom prst="rect">
            <a:avLst/>
          </a:prstGeom>
          <a:noFill/>
          <a:ln/>
        </p:spPr>
        <p:txBody>
          <a:bodyPr wrap="square" lIns="25400" tIns="25400" rIns="25400" bIns="25400" rtlCol="0" anchor="t">
            <a:normAutofit/>
          </a:bodyPr>
          <a:lstStyle/>
          <a:p>
            <a:pPr marL="0" indent="0" algn="ctr">
              <a:buNone/>
            </a:pPr>
            <a:r>
              <a:rPr lang="en-US" sz="1800" b="1" dirty="0">
                <a:solidFill>
                  <a:srgbClr val="00D4FF"/>
                </a:solidFill>
                <a:latin typeface="Courier New" pitchFamily="34" charset="0"/>
                <a:ea typeface="Courier New" pitchFamily="34" charset="-122"/>
                <a:cs typeface="Courier New" pitchFamily="34" charset="-120"/>
              </a:rPr>
              <a:t>08</a:t>
            </a:r>
            <a:endParaRPr lang="en-US" sz="1800" dirty="0"/>
          </a:p>
        </p:txBody>
      </p:sp>
      <p:sp>
        <p:nvSpPr>
          <p:cNvPr id="51" name="Text 49"/>
          <p:cNvSpPr/>
          <p:nvPr/>
        </p:nvSpPr>
        <p:spPr>
          <a:xfrm>
            <a:off x="15515909" y="3248660"/>
            <a:ext cx="1695133" cy="353060"/>
          </a:xfrm>
          <a:prstGeom prst="rect">
            <a:avLst/>
          </a:prstGeom>
          <a:noFill/>
          <a:ln/>
        </p:spPr>
        <p:txBody>
          <a:bodyPr wrap="square" lIns="25400" tIns="25400" rIns="25400" bIns="25400" rtlCol="0" anchor="t">
            <a:normAutofit/>
          </a:bodyPr>
          <a:lstStyle/>
          <a:p>
            <a:pPr marL="0" indent="0" algn="ctr">
              <a:buNone/>
            </a:pPr>
            <a:r>
              <a:rPr lang="en-US" sz="2100" b="1" dirty="0">
                <a:solidFill>
                  <a:srgbClr val="E8F4FF"/>
                </a:solidFill>
                <a:latin typeface="Arial" pitchFamily="34" charset="0"/>
                <a:ea typeface="Arial" pitchFamily="34" charset="-122"/>
                <a:cs typeface="Arial" pitchFamily="34" charset="-120"/>
              </a:rPr>
              <a:t>Monitor</a:t>
            </a:r>
            <a:endParaRPr lang="en-US" sz="2100" dirty="0"/>
          </a:p>
        </p:txBody>
      </p:sp>
      <p:sp>
        <p:nvSpPr>
          <p:cNvPr id="52" name="Text 50"/>
          <p:cNvSpPr/>
          <p:nvPr/>
        </p:nvSpPr>
        <p:spPr>
          <a:xfrm>
            <a:off x="15515909" y="3696970"/>
            <a:ext cx="1695133" cy="495300"/>
          </a:xfrm>
          <a:prstGeom prst="rect">
            <a:avLst/>
          </a:prstGeom>
          <a:noFill/>
          <a:ln/>
        </p:spPr>
        <p:txBody>
          <a:bodyPr wrap="square" lIns="25400" tIns="25400" rIns="25400" bIns="25400" rtlCol="0" anchor="t">
            <a:normAutofit/>
          </a:bodyPr>
          <a:lstStyle/>
          <a:p>
            <a:pPr marL="0" indent="0" algn="ctr">
              <a:lnSpc>
                <a:spcPct val="130000"/>
              </a:lnSpc>
              <a:buNone/>
            </a:pPr>
            <a:r>
              <a:rPr lang="en-US" sz="1800" dirty="0">
                <a:solidFill>
                  <a:srgbClr val="5A7A9A"/>
                </a:solidFill>
                <a:latin typeface="Courier New" pitchFamily="34" charset="0"/>
                <a:ea typeface="Courier New" pitchFamily="34" charset="-122"/>
                <a:cs typeface="Courier New" pitchFamily="34" charset="-120"/>
              </a:rPr>
              <a:t>Dashboard</a:t>
            </a:r>
            <a:endParaRPr lang="en-US" sz="1800" dirty="0"/>
          </a:p>
        </p:txBody>
      </p:sp>
      <p:sp>
        <p:nvSpPr>
          <p:cNvPr id="53" name="Shape 51"/>
          <p:cNvSpPr/>
          <p:nvPr/>
        </p:nvSpPr>
        <p:spPr>
          <a:xfrm>
            <a:off x="6674326" y="6518910"/>
            <a:ext cx="4939348" cy="1750060"/>
          </a:xfrm>
          <a:prstGeom prst="roundRect">
            <a:avLst>
              <a:gd name="adj" fmla="val 4354"/>
            </a:avLst>
          </a:prstGeom>
          <a:solidFill>
            <a:srgbClr val="00FF88">
              <a:alpha val="7000"/>
            </a:srgbClr>
          </a:solidFill>
          <a:ln w="10160">
            <a:solidFill>
              <a:srgbClr val="00FF88">
                <a:alpha val="25000"/>
              </a:srgbClr>
            </a:solidFill>
            <a:prstDash val="solid"/>
          </a:ln>
        </p:spPr>
      </p:sp>
      <p:sp>
        <p:nvSpPr>
          <p:cNvPr id="54" name="Text 52"/>
          <p:cNvSpPr/>
          <p:nvPr/>
        </p:nvSpPr>
        <p:spPr>
          <a:xfrm>
            <a:off x="7081617" y="6757670"/>
            <a:ext cx="4124766" cy="302260"/>
          </a:xfrm>
          <a:prstGeom prst="rect">
            <a:avLst/>
          </a:prstGeom>
          <a:noFill/>
          <a:ln/>
        </p:spPr>
        <p:txBody>
          <a:bodyPr wrap="square" lIns="25400" tIns="25400" rIns="25400" bIns="25400" rtlCol="0" anchor="t">
            <a:normAutofit/>
          </a:bodyPr>
          <a:lstStyle/>
          <a:p>
            <a:pPr marL="0" indent="0" algn="ctr">
              <a:buNone/>
            </a:pPr>
            <a:r>
              <a:rPr lang="en-US" sz="1800" dirty="0">
                <a:solidFill>
                  <a:srgbClr val="5A7A9A"/>
                </a:solidFill>
                <a:latin typeface="Courier New" pitchFamily="34" charset="0"/>
                <a:ea typeface="Courier New" pitchFamily="34" charset="-122"/>
                <a:cs typeface="Courier New" pitchFamily="34" charset="-120"/>
              </a:rPr>
              <a:t>GRU RESULT</a:t>
            </a:r>
            <a:endParaRPr lang="en-US" sz="1800" dirty="0"/>
          </a:p>
        </p:txBody>
      </p:sp>
      <p:sp>
        <p:nvSpPr>
          <p:cNvPr id="55" name="Text 53"/>
          <p:cNvSpPr/>
          <p:nvPr/>
        </p:nvSpPr>
        <p:spPr>
          <a:xfrm>
            <a:off x="7081617" y="7098030"/>
            <a:ext cx="4124766" cy="609600"/>
          </a:xfrm>
          <a:prstGeom prst="rect">
            <a:avLst/>
          </a:prstGeom>
          <a:noFill/>
          <a:ln/>
        </p:spPr>
        <p:txBody>
          <a:bodyPr wrap="square" lIns="25400" tIns="25400" rIns="25400" bIns="25400" rtlCol="0" anchor="t">
            <a:normAutofit/>
          </a:bodyPr>
          <a:lstStyle/>
          <a:p>
            <a:pPr marL="0" indent="0" algn="ctr">
              <a:lnSpc>
                <a:spcPct val="100000"/>
              </a:lnSpc>
              <a:buNone/>
            </a:pPr>
            <a:r>
              <a:rPr lang="en-US" sz="4500" b="1" dirty="0">
                <a:solidFill>
                  <a:srgbClr val="00FF88"/>
                </a:solidFill>
                <a:latin typeface="Courier New" pitchFamily="34" charset="0"/>
                <a:ea typeface="Courier New" pitchFamily="34" charset="-122"/>
                <a:cs typeface="Courier New" pitchFamily="34" charset="-120"/>
              </a:rPr>
              <a:t>64 km −51%</a:t>
            </a:r>
            <a:endParaRPr lang="en-US" sz="4500" dirty="0"/>
          </a:p>
        </p:txBody>
      </p:sp>
      <p:sp>
        <p:nvSpPr>
          <p:cNvPr id="56" name="Text 54"/>
          <p:cNvSpPr/>
          <p:nvPr/>
        </p:nvSpPr>
        <p:spPr>
          <a:xfrm>
            <a:off x="7081617" y="7745730"/>
            <a:ext cx="4124766" cy="322580"/>
          </a:xfrm>
          <a:prstGeom prst="rect">
            <a:avLst/>
          </a:prstGeom>
          <a:noFill/>
          <a:ln/>
        </p:spPr>
        <p:txBody>
          <a:bodyPr wrap="square" lIns="25400" tIns="25400" rIns="25400" bIns="25400" rtlCol="0" anchor="t">
            <a:normAutofit/>
          </a:bodyPr>
          <a:lstStyle/>
          <a:p>
            <a:pPr marL="0" indent="0" algn="ctr">
              <a:buNone/>
            </a:pPr>
            <a:r>
              <a:rPr lang="en-US" sz="1950" dirty="0">
                <a:solidFill>
                  <a:srgbClr val="E8F4FF">
                    <a:alpha val="60000"/>
                  </a:srgbClr>
                </a:solidFill>
                <a:latin typeface="Arial" pitchFamily="34" charset="0"/>
                <a:ea typeface="Arial" pitchFamily="34" charset="-122"/>
                <a:cs typeface="Arial" pitchFamily="34" charset="-120"/>
              </a:rPr>
              <a:t>median error vs great-circle baseline</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sp>
        <p:nvSpPr>
          <p:cNvPr id="7" name="Shape 5"/>
          <p:cNvSpPr/>
          <p:nvPr/>
        </p:nvSpPr>
        <p:spPr>
          <a:xfrm>
            <a:off x="952500" y="2115820"/>
            <a:ext cx="1841818" cy="398780"/>
          </a:xfrm>
          <a:prstGeom prst="roundRect">
            <a:avLst>
              <a:gd name="adj" fmla="val 9554"/>
            </a:avLst>
          </a:prstGeom>
          <a:ln w="10160">
            <a:solidFill>
              <a:srgbClr val="FF4444"/>
            </a:solidFill>
            <a:prstDash val="solid"/>
          </a:ln>
        </p:spPr>
      </p:sp>
      <p:sp>
        <p:nvSpPr>
          <p:cNvPr id="8" name="Text 6"/>
          <p:cNvSpPr/>
          <p:nvPr/>
        </p:nvSpPr>
        <p:spPr>
          <a:xfrm>
            <a:off x="1153160" y="2183130"/>
            <a:ext cx="1516698"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F4444"/>
                </a:solidFill>
                <a:latin typeface="Courier New" pitchFamily="34" charset="0"/>
                <a:ea typeface="Courier New" pitchFamily="34" charset="-122"/>
                <a:cs typeface="Courier New" pitchFamily="34" charset="-120"/>
              </a:rPr>
              <a:t>METHOD 01</a:t>
            </a:r>
            <a:endParaRPr lang="en-US" sz="1800" dirty="0"/>
          </a:p>
        </p:txBody>
      </p:sp>
      <p:sp>
        <p:nvSpPr>
          <p:cNvPr id="9" name="Text 7"/>
          <p:cNvSpPr/>
          <p:nvPr/>
        </p:nvSpPr>
        <p:spPr>
          <a:xfrm>
            <a:off x="952500" y="2819400"/>
            <a:ext cx="8142923" cy="1379220"/>
          </a:xfrm>
          <a:prstGeom prst="rect">
            <a:avLst/>
          </a:prstGeom>
          <a:noFill/>
          <a:ln/>
        </p:spPr>
        <p:txBody>
          <a:bodyPr wrap="square" lIns="25400" tIns="25400" rIns="25400" bIns="25400" rtlCol="0" anchor="t">
            <a:normAutofit/>
          </a:bodyPr>
          <a:lstStyle/>
          <a:p>
            <a:pPr marL="0" indent="0" algn="l">
              <a:lnSpc>
                <a:spcPct val="110000"/>
              </a:lnSpc>
              <a:buNone/>
            </a:pPr>
            <a:r>
              <a:rPr lang="en-US" sz="4800" b="1" dirty="0">
                <a:solidFill>
                  <a:srgbClr val="FF4444"/>
                </a:solidFill>
                <a:latin typeface="Arial" pitchFamily="34" charset="0"/>
                <a:ea typeface="Arial" pitchFamily="34" charset="-122"/>
                <a:cs typeface="Arial" pitchFamily="34" charset="-120"/>
              </a:rPr>
              <a:t>Great-Circle </a:t>
            </a:r>
            <a:r>
              <a:rPr lang="en-US" sz="4800" b="1" dirty="0">
                <a:solidFill>
                  <a:srgbClr val="E8F4FF"/>
                </a:solidFill>
                <a:latin typeface="Arial" pitchFamily="34" charset="0"/>
                <a:ea typeface="Arial" pitchFamily="34" charset="-122"/>
                <a:cs typeface="Arial" pitchFamily="34" charset="-120"/>
              </a:rPr>
              <a:t>Baseline</a:t>
            </a:r>
            <a:endParaRPr lang="en-US" sz="4800" dirty="0"/>
          </a:p>
        </p:txBody>
      </p:sp>
      <p:sp>
        <p:nvSpPr>
          <p:cNvPr id="10" name="Text 8"/>
          <p:cNvSpPr/>
          <p:nvPr/>
        </p:nvSpPr>
        <p:spPr>
          <a:xfrm>
            <a:off x="752475" y="4617720"/>
            <a:ext cx="8181976" cy="2209800"/>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SLERP interpolation between ADS-B coastal anchors</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Draws shortest geodesic path on the sphere</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No atmospheric data — ignores jet streams entirely</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Zero training required — pure geometry</a:t>
            </a:r>
            <a:endParaRPr lang="en-US" sz="2250" dirty="0"/>
          </a:p>
        </p:txBody>
      </p:sp>
      <p:sp>
        <p:nvSpPr>
          <p:cNvPr id="11" name="Shape 9"/>
          <p:cNvSpPr/>
          <p:nvPr/>
        </p:nvSpPr>
        <p:spPr>
          <a:xfrm>
            <a:off x="952500" y="7208520"/>
            <a:ext cx="7905751" cy="772160"/>
          </a:xfrm>
          <a:prstGeom prst="rect">
            <a:avLst/>
          </a:prstGeom>
          <a:solidFill>
            <a:srgbClr val="FF4444">
              <a:alpha val="6000"/>
            </a:srgbClr>
          </a:solidFill>
          <a:ln/>
        </p:spPr>
      </p:sp>
      <p:sp>
        <p:nvSpPr>
          <p:cNvPr id="12" name="Shape 10"/>
          <p:cNvSpPr/>
          <p:nvPr/>
        </p:nvSpPr>
        <p:spPr>
          <a:xfrm>
            <a:off x="952500" y="7208520"/>
            <a:ext cx="30480" cy="772160"/>
          </a:xfrm>
          <a:prstGeom prst="rect">
            <a:avLst/>
          </a:prstGeom>
          <a:solidFill>
            <a:srgbClr val="FF4444"/>
          </a:solidFill>
          <a:ln/>
        </p:spPr>
      </p:sp>
      <p:sp>
        <p:nvSpPr>
          <p:cNvPr id="13" name="Text 11"/>
          <p:cNvSpPr/>
          <p:nvPr/>
        </p:nvSpPr>
        <p:spPr>
          <a:xfrm>
            <a:off x="1287780" y="7437120"/>
            <a:ext cx="7483641" cy="353060"/>
          </a:xfrm>
          <a:prstGeom prst="rect">
            <a:avLst/>
          </a:prstGeom>
          <a:noFill/>
          <a:ln/>
        </p:spPr>
        <p:txBody>
          <a:bodyPr wrap="square" lIns="25400" tIns="25400" rIns="25400" bIns="25400" rtlCol="0" anchor="t">
            <a:normAutofit/>
          </a:bodyPr>
          <a:lstStyle/>
          <a:p>
            <a:pPr marL="0" indent="0" algn="l">
              <a:buNone/>
            </a:pPr>
            <a:r>
              <a:rPr lang="en-US" sz="2100" i="1" dirty="0">
                <a:solidFill>
                  <a:srgbClr val="E8F4FF">
                    <a:alpha val="80000"/>
                  </a:srgbClr>
                </a:solidFill>
                <a:latin typeface="Arial" pitchFamily="34" charset="0"/>
                <a:ea typeface="Arial" pitchFamily="34" charset="-122"/>
                <a:cs typeface="Arial" pitchFamily="34" charset="-120"/>
              </a:rPr>
              <a:t>"Assumes geodesic path — ignores the jet stream"</a:t>
            </a:r>
            <a:endParaRPr lang="en-US" sz="2100" dirty="0"/>
          </a:p>
        </p:txBody>
      </p:sp>
      <p:sp>
        <p:nvSpPr>
          <p:cNvPr id="14" name="Shape 12"/>
          <p:cNvSpPr/>
          <p:nvPr/>
        </p:nvSpPr>
        <p:spPr>
          <a:xfrm>
            <a:off x="9429751" y="2379980"/>
            <a:ext cx="7905751" cy="3660140"/>
          </a:xfrm>
          <a:prstGeom prst="roundRect">
            <a:avLst>
              <a:gd name="adj" fmla="val 2602"/>
            </a:avLst>
          </a:prstGeom>
          <a:solidFill>
            <a:srgbClr val="FF4444">
              <a:alpha val="7000"/>
            </a:srgbClr>
          </a:solidFill>
          <a:ln w="10160">
            <a:solidFill>
              <a:srgbClr val="FF4444">
                <a:alpha val="30000"/>
              </a:srgbClr>
            </a:solidFill>
            <a:prstDash val="solid"/>
          </a:ln>
        </p:spPr>
      </p:sp>
      <p:sp>
        <p:nvSpPr>
          <p:cNvPr id="15" name="Text 13"/>
          <p:cNvSpPr/>
          <p:nvPr/>
        </p:nvSpPr>
        <p:spPr>
          <a:xfrm>
            <a:off x="9831789" y="2885440"/>
            <a:ext cx="7101675" cy="342900"/>
          </a:xfrm>
          <a:prstGeom prst="rect">
            <a:avLst/>
          </a:prstGeom>
          <a:noFill/>
          <a:ln/>
        </p:spPr>
        <p:txBody>
          <a:bodyPr wrap="square" lIns="25400" tIns="25400" rIns="25400" bIns="25400" rtlCol="0" anchor="t">
            <a:normAutofit/>
          </a:bodyPr>
          <a:lstStyle/>
          <a:p>
            <a:pPr marL="0" indent="0" algn="ctr">
              <a:buNone/>
            </a:pPr>
            <a:r>
              <a:rPr lang="en-US" sz="2100" kern="0" spc="210" dirty="0">
                <a:solidFill>
                  <a:srgbClr val="5A7A9A"/>
                </a:solidFill>
                <a:latin typeface="Courier New" pitchFamily="34" charset="0"/>
                <a:ea typeface="Courier New" pitchFamily="34" charset="-122"/>
                <a:cs typeface="Courier New" pitchFamily="34" charset="-120"/>
              </a:rPr>
              <a:t>MEDIAN ERROR</a:t>
            </a:r>
            <a:endParaRPr lang="en-US" sz="2100" dirty="0"/>
          </a:p>
        </p:txBody>
      </p:sp>
      <p:sp>
        <p:nvSpPr>
          <p:cNvPr id="16" name="Text 14"/>
          <p:cNvSpPr/>
          <p:nvPr/>
        </p:nvSpPr>
        <p:spPr>
          <a:xfrm>
            <a:off x="9831789" y="3266440"/>
            <a:ext cx="7101675" cy="1371600"/>
          </a:xfrm>
          <a:prstGeom prst="rect">
            <a:avLst/>
          </a:prstGeom>
          <a:noFill/>
          <a:ln/>
        </p:spPr>
        <p:txBody>
          <a:bodyPr wrap="square" lIns="25400" tIns="25400" rIns="25400" bIns="25400" rtlCol="0" anchor="t">
            <a:normAutofit/>
          </a:bodyPr>
          <a:lstStyle/>
          <a:p>
            <a:pPr marL="0" indent="0" algn="ctr">
              <a:lnSpc>
                <a:spcPct val="100000"/>
              </a:lnSpc>
              <a:buNone/>
            </a:pPr>
            <a:r>
              <a:rPr lang="en-US" sz="10500" b="1" dirty="0">
                <a:solidFill>
                  <a:srgbClr val="FF4444"/>
                </a:solidFill>
                <a:latin typeface="Courier New" pitchFamily="34" charset="0"/>
                <a:ea typeface="Courier New" pitchFamily="34" charset="-122"/>
                <a:cs typeface="Courier New" pitchFamily="34" charset="-120"/>
              </a:rPr>
              <a:t>131</a:t>
            </a:r>
            <a:endParaRPr lang="en-US" sz="10500" dirty="0"/>
          </a:p>
        </p:txBody>
      </p:sp>
      <p:sp>
        <p:nvSpPr>
          <p:cNvPr id="17" name="Text 15"/>
          <p:cNvSpPr/>
          <p:nvPr/>
        </p:nvSpPr>
        <p:spPr>
          <a:xfrm>
            <a:off x="9831789" y="4599940"/>
            <a:ext cx="7101675" cy="505460"/>
          </a:xfrm>
          <a:prstGeom prst="rect">
            <a:avLst/>
          </a:prstGeom>
          <a:noFill/>
          <a:ln/>
        </p:spPr>
        <p:txBody>
          <a:bodyPr wrap="square" lIns="25400" tIns="25400" rIns="25400" bIns="25400" rtlCol="0" anchor="t">
            <a:normAutofit/>
          </a:bodyPr>
          <a:lstStyle/>
          <a:p>
            <a:pPr marL="0" indent="0" algn="ctr">
              <a:buNone/>
            </a:pPr>
            <a:r>
              <a:rPr lang="en-US" sz="3300" dirty="0">
                <a:solidFill>
                  <a:srgbClr val="FF4444"/>
                </a:solidFill>
                <a:latin typeface="Courier New" pitchFamily="34" charset="0"/>
                <a:ea typeface="Courier New" pitchFamily="34" charset="-122"/>
                <a:cs typeface="Courier New" pitchFamily="34" charset="-120"/>
              </a:rPr>
              <a:t>km</a:t>
            </a:r>
            <a:endParaRPr lang="en-US" sz="3300" dirty="0"/>
          </a:p>
        </p:txBody>
      </p:sp>
      <p:sp>
        <p:nvSpPr>
          <p:cNvPr id="18" name="Text 16"/>
          <p:cNvSpPr/>
          <p:nvPr/>
        </p:nvSpPr>
        <p:spPr>
          <a:xfrm>
            <a:off x="9831789" y="5219700"/>
            <a:ext cx="7101675" cy="353060"/>
          </a:xfrm>
          <a:prstGeom prst="rect">
            <a:avLst/>
          </a:prstGeom>
          <a:noFill/>
          <a:ln/>
        </p:spPr>
        <p:txBody>
          <a:bodyPr wrap="square" lIns="25400" tIns="25400" rIns="25400" bIns="25400" rtlCol="0" anchor="t">
            <a:normAutofit/>
          </a:bodyPr>
          <a:lstStyle/>
          <a:p>
            <a:pPr marL="0" indent="0" algn="ctr">
              <a:buNone/>
            </a:pPr>
            <a:r>
              <a:rPr lang="en-US" sz="2100" dirty="0">
                <a:solidFill>
                  <a:srgbClr val="E8F4FF">
                    <a:alpha val="60000"/>
                  </a:srgbClr>
                </a:solidFill>
                <a:latin typeface="Arial" pitchFamily="34" charset="0"/>
                <a:ea typeface="Arial" pitchFamily="34" charset="-122"/>
                <a:cs typeface="Arial" pitchFamily="34" charset="-120"/>
              </a:rPr>
              <a:t>Reference — this is what we beat</a:t>
            </a:r>
            <a:endParaRPr lang="en-US" sz="2100" dirty="0"/>
          </a:p>
        </p:txBody>
      </p:sp>
      <p:pic>
        <p:nvPicPr>
          <p:cNvPr id="19" name="Image 0" descr="preencoded.png"/>
          <p:cNvPicPr>
            <a:picLocks noChangeAspect="1"/>
          </p:cNvPicPr>
          <p:nvPr/>
        </p:nvPicPr>
        <p:blipFill>
          <a:blip r:embed="rId3"/>
          <a:stretch>
            <a:fillRect/>
          </a:stretch>
        </p:blipFill>
        <p:spPr>
          <a:xfrm>
            <a:off x="11096625" y="6383020"/>
            <a:ext cx="4572000" cy="133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sp>
        <p:nvSpPr>
          <p:cNvPr id="7" name="Shape 5"/>
          <p:cNvSpPr/>
          <p:nvPr/>
        </p:nvSpPr>
        <p:spPr>
          <a:xfrm>
            <a:off x="952500" y="1725930"/>
            <a:ext cx="1841818" cy="398780"/>
          </a:xfrm>
          <a:prstGeom prst="roundRect">
            <a:avLst>
              <a:gd name="adj" fmla="val 9554"/>
            </a:avLst>
          </a:prstGeom>
          <a:ln w="10160">
            <a:solidFill>
              <a:srgbClr val="4488FF"/>
            </a:solidFill>
            <a:prstDash val="solid"/>
          </a:ln>
        </p:spPr>
      </p:sp>
      <p:sp>
        <p:nvSpPr>
          <p:cNvPr id="8" name="Text 6"/>
          <p:cNvSpPr/>
          <p:nvPr/>
        </p:nvSpPr>
        <p:spPr>
          <a:xfrm>
            <a:off x="1153160" y="1793240"/>
            <a:ext cx="1516698"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4488FF"/>
                </a:solidFill>
                <a:latin typeface="Courier New" pitchFamily="34" charset="0"/>
                <a:ea typeface="Courier New" pitchFamily="34" charset="-122"/>
                <a:cs typeface="Courier New" pitchFamily="34" charset="-120"/>
              </a:rPr>
              <a:t>METHOD 02</a:t>
            </a:r>
            <a:endParaRPr lang="en-US" sz="1800" dirty="0"/>
          </a:p>
        </p:txBody>
      </p:sp>
      <p:sp>
        <p:nvSpPr>
          <p:cNvPr id="9" name="Text 7"/>
          <p:cNvSpPr/>
          <p:nvPr/>
        </p:nvSpPr>
        <p:spPr>
          <a:xfrm>
            <a:off x="952500" y="2429510"/>
            <a:ext cx="8142923" cy="1379220"/>
          </a:xfrm>
          <a:prstGeom prst="rect">
            <a:avLst/>
          </a:prstGeom>
          <a:noFill/>
          <a:ln/>
        </p:spPr>
        <p:txBody>
          <a:bodyPr wrap="square" lIns="25400" tIns="25400" rIns="25400" bIns="25400" rtlCol="0" anchor="t">
            <a:normAutofit/>
          </a:bodyPr>
          <a:lstStyle/>
          <a:p>
            <a:pPr marL="0" indent="0" algn="l">
              <a:lnSpc>
                <a:spcPct val="110000"/>
              </a:lnSpc>
              <a:buNone/>
            </a:pPr>
            <a:r>
              <a:rPr lang="en-US" sz="4800" b="1" dirty="0">
                <a:solidFill>
                  <a:srgbClr val="4488FF"/>
                </a:solidFill>
                <a:latin typeface="Arial" pitchFamily="34" charset="0"/>
                <a:ea typeface="Arial" pitchFamily="34" charset="-122"/>
                <a:cs typeface="Arial" pitchFamily="34" charset="-120"/>
              </a:rPr>
              <a:t>Kalman RTS </a:t>
            </a:r>
            <a:r>
              <a:rPr lang="en-US" sz="4800" b="1" dirty="0">
                <a:solidFill>
                  <a:srgbClr val="E8F4FF"/>
                </a:solidFill>
                <a:latin typeface="Arial" pitchFamily="34" charset="0"/>
                <a:ea typeface="Arial" pitchFamily="34" charset="-122"/>
                <a:cs typeface="Arial" pitchFamily="34" charset="-120"/>
              </a:rPr>
              <a:t>Smoother</a:t>
            </a:r>
            <a:endParaRPr lang="en-US" sz="4800" dirty="0"/>
          </a:p>
        </p:txBody>
      </p:sp>
      <p:sp>
        <p:nvSpPr>
          <p:cNvPr id="10" name="Text 8"/>
          <p:cNvSpPr/>
          <p:nvPr/>
        </p:nvSpPr>
        <p:spPr>
          <a:xfrm>
            <a:off x="752475" y="4227830"/>
            <a:ext cx="8181976" cy="2209800"/>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4-state filter: along/cross-track position &amp; velocity</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Physics-based dynamics model</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Forward Kalman pass — then backward RTS pass</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Non-causal: uses ADS-B data from both coasts</a:t>
            </a:r>
            <a:endParaRPr lang="en-US" sz="2250" dirty="0"/>
          </a:p>
        </p:txBody>
      </p:sp>
      <p:sp>
        <p:nvSpPr>
          <p:cNvPr id="11" name="Shape 9"/>
          <p:cNvSpPr/>
          <p:nvPr/>
        </p:nvSpPr>
        <p:spPr>
          <a:xfrm>
            <a:off x="952500" y="6742430"/>
            <a:ext cx="7905751" cy="772160"/>
          </a:xfrm>
          <a:prstGeom prst="rect">
            <a:avLst/>
          </a:prstGeom>
          <a:solidFill>
            <a:srgbClr val="4488FF">
              <a:alpha val="6000"/>
            </a:srgbClr>
          </a:solidFill>
          <a:ln/>
        </p:spPr>
      </p:sp>
      <p:sp>
        <p:nvSpPr>
          <p:cNvPr id="12" name="Shape 10"/>
          <p:cNvSpPr/>
          <p:nvPr/>
        </p:nvSpPr>
        <p:spPr>
          <a:xfrm>
            <a:off x="952500" y="6742430"/>
            <a:ext cx="30480" cy="772160"/>
          </a:xfrm>
          <a:prstGeom prst="rect">
            <a:avLst/>
          </a:prstGeom>
          <a:solidFill>
            <a:srgbClr val="4488FF"/>
          </a:solidFill>
          <a:ln/>
        </p:spPr>
      </p:sp>
      <p:sp>
        <p:nvSpPr>
          <p:cNvPr id="13" name="Text 11"/>
          <p:cNvSpPr/>
          <p:nvPr/>
        </p:nvSpPr>
        <p:spPr>
          <a:xfrm>
            <a:off x="1287780" y="6971030"/>
            <a:ext cx="7483641" cy="353060"/>
          </a:xfrm>
          <a:prstGeom prst="rect">
            <a:avLst/>
          </a:prstGeom>
          <a:noFill/>
          <a:ln/>
        </p:spPr>
        <p:txBody>
          <a:bodyPr wrap="square" lIns="25400" tIns="25400" rIns="25400" bIns="25400" rtlCol="0" anchor="t">
            <a:normAutofit/>
          </a:bodyPr>
          <a:lstStyle/>
          <a:p>
            <a:pPr marL="0" indent="0" algn="l">
              <a:buNone/>
            </a:pPr>
            <a:r>
              <a:rPr lang="en-US" sz="2100" i="1" dirty="0">
                <a:solidFill>
                  <a:srgbClr val="E8F4FF">
                    <a:alpha val="80000"/>
                  </a:srgbClr>
                </a:solidFill>
                <a:latin typeface="Arial" pitchFamily="34" charset="0"/>
                <a:ea typeface="Arial" pitchFamily="34" charset="-122"/>
                <a:cs typeface="Arial" pitchFamily="34" charset="-120"/>
              </a:rPr>
              <a:t>"Physics-based, non-causal smoother"</a:t>
            </a:r>
            <a:endParaRPr lang="en-US" sz="2100" dirty="0"/>
          </a:p>
        </p:txBody>
      </p:sp>
      <p:sp>
        <p:nvSpPr>
          <p:cNvPr id="14" name="Shape 12"/>
          <p:cNvSpPr/>
          <p:nvPr/>
        </p:nvSpPr>
        <p:spPr>
          <a:xfrm>
            <a:off x="952500" y="7857490"/>
            <a:ext cx="1910398" cy="513080"/>
          </a:xfrm>
          <a:prstGeom prst="roundRect">
            <a:avLst>
              <a:gd name="adj" fmla="val 11139"/>
            </a:avLst>
          </a:prstGeom>
          <a:solidFill>
            <a:srgbClr val="4488FF">
              <a:alpha val="12000"/>
            </a:srgbClr>
          </a:solidFill>
          <a:ln w="10160">
            <a:solidFill>
              <a:srgbClr val="4488FF">
                <a:alpha val="30000"/>
              </a:srgbClr>
            </a:solidFill>
            <a:prstDash val="solid"/>
          </a:ln>
        </p:spPr>
      </p:sp>
      <p:sp>
        <p:nvSpPr>
          <p:cNvPr id="15" name="Text 13"/>
          <p:cNvSpPr/>
          <p:nvPr/>
        </p:nvSpPr>
        <p:spPr>
          <a:xfrm>
            <a:off x="1153160" y="7981950"/>
            <a:ext cx="1585278" cy="302260"/>
          </a:xfrm>
          <a:prstGeom prst="rect">
            <a:avLst/>
          </a:prstGeom>
          <a:noFill/>
          <a:ln/>
        </p:spPr>
        <p:txBody>
          <a:bodyPr wrap="square" lIns="25400" tIns="25400" rIns="25400" bIns="25400" rtlCol="0" anchor="t">
            <a:normAutofit/>
          </a:bodyPr>
          <a:lstStyle/>
          <a:p>
            <a:pPr marL="0" indent="0" algn="l">
              <a:buNone/>
            </a:pPr>
            <a:r>
              <a:rPr lang="en-US" sz="1800" dirty="0">
                <a:solidFill>
                  <a:srgbClr val="4488FF"/>
                </a:solidFill>
                <a:latin typeface="Courier New" pitchFamily="34" charset="0"/>
                <a:ea typeface="Courier New" pitchFamily="34" charset="-122"/>
                <a:cs typeface="Courier New" pitchFamily="34" charset="-120"/>
              </a:rPr>
              <a:t>along_track</a:t>
            </a:r>
            <a:endParaRPr lang="en-US" sz="1800" dirty="0"/>
          </a:p>
        </p:txBody>
      </p:sp>
      <p:sp>
        <p:nvSpPr>
          <p:cNvPr id="16" name="Shape 14"/>
          <p:cNvSpPr/>
          <p:nvPr/>
        </p:nvSpPr>
        <p:spPr>
          <a:xfrm>
            <a:off x="2977198" y="7857490"/>
            <a:ext cx="1910398" cy="513080"/>
          </a:xfrm>
          <a:prstGeom prst="roundRect">
            <a:avLst>
              <a:gd name="adj" fmla="val 11139"/>
            </a:avLst>
          </a:prstGeom>
          <a:solidFill>
            <a:srgbClr val="4488FF">
              <a:alpha val="12000"/>
            </a:srgbClr>
          </a:solidFill>
          <a:ln w="10160">
            <a:solidFill>
              <a:srgbClr val="4488FF">
                <a:alpha val="30000"/>
              </a:srgbClr>
            </a:solidFill>
            <a:prstDash val="solid"/>
          </a:ln>
        </p:spPr>
      </p:sp>
      <p:sp>
        <p:nvSpPr>
          <p:cNvPr id="17" name="Text 15"/>
          <p:cNvSpPr/>
          <p:nvPr/>
        </p:nvSpPr>
        <p:spPr>
          <a:xfrm>
            <a:off x="3177858" y="7981950"/>
            <a:ext cx="1585278" cy="302260"/>
          </a:xfrm>
          <a:prstGeom prst="rect">
            <a:avLst/>
          </a:prstGeom>
          <a:noFill/>
          <a:ln/>
        </p:spPr>
        <p:txBody>
          <a:bodyPr wrap="square" lIns="25400" tIns="25400" rIns="25400" bIns="25400" rtlCol="0" anchor="t">
            <a:normAutofit/>
          </a:bodyPr>
          <a:lstStyle/>
          <a:p>
            <a:pPr marL="0" indent="0" algn="l">
              <a:buNone/>
            </a:pPr>
            <a:r>
              <a:rPr lang="en-US" sz="1800" dirty="0">
                <a:solidFill>
                  <a:srgbClr val="4488FF"/>
                </a:solidFill>
                <a:latin typeface="Courier New" pitchFamily="34" charset="0"/>
                <a:ea typeface="Courier New" pitchFamily="34" charset="-122"/>
                <a:cs typeface="Courier New" pitchFamily="34" charset="-120"/>
              </a:rPr>
              <a:t>cross_track</a:t>
            </a:r>
            <a:endParaRPr lang="en-US" sz="1800" dirty="0"/>
          </a:p>
        </p:txBody>
      </p:sp>
      <p:sp>
        <p:nvSpPr>
          <p:cNvPr id="18" name="Shape 16"/>
          <p:cNvSpPr/>
          <p:nvPr/>
        </p:nvSpPr>
        <p:spPr>
          <a:xfrm>
            <a:off x="5001895" y="7857490"/>
            <a:ext cx="1361599" cy="513080"/>
          </a:xfrm>
          <a:prstGeom prst="roundRect">
            <a:avLst>
              <a:gd name="adj" fmla="val 11139"/>
            </a:avLst>
          </a:prstGeom>
          <a:solidFill>
            <a:srgbClr val="4488FF">
              <a:alpha val="12000"/>
            </a:srgbClr>
          </a:solidFill>
          <a:ln w="10160">
            <a:solidFill>
              <a:srgbClr val="4488FF">
                <a:alpha val="30000"/>
              </a:srgbClr>
            </a:solidFill>
            <a:prstDash val="solid"/>
          </a:ln>
        </p:spPr>
      </p:sp>
      <p:sp>
        <p:nvSpPr>
          <p:cNvPr id="19" name="Text 17"/>
          <p:cNvSpPr/>
          <p:nvPr/>
        </p:nvSpPr>
        <p:spPr>
          <a:xfrm>
            <a:off x="5202555" y="7981950"/>
            <a:ext cx="1036479" cy="302260"/>
          </a:xfrm>
          <a:prstGeom prst="rect">
            <a:avLst/>
          </a:prstGeom>
          <a:noFill/>
          <a:ln/>
        </p:spPr>
        <p:txBody>
          <a:bodyPr wrap="square" lIns="25400" tIns="25400" rIns="25400" bIns="25400" rtlCol="0" anchor="t">
            <a:normAutofit/>
          </a:bodyPr>
          <a:lstStyle/>
          <a:p>
            <a:pPr marL="0" indent="0" algn="l">
              <a:buNone/>
            </a:pPr>
            <a:r>
              <a:rPr lang="en-US" sz="1800" dirty="0">
                <a:solidFill>
                  <a:srgbClr val="4488FF"/>
                </a:solidFill>
                <a:latin typeface="Courier New" pitchFamily="34" charset="0"/>
                <a:ea typeface="Courier New" pitchFamily="34" charset="-122"/>
                <a:cs typeface="Courier New" pitchFamily="34" charset="-120"/>
              </a:rPr>
              <a:t>v_along</a:t>
            </a:r>
            <a:endParaRPr lang="en-US" sz="1800" dirty="0"/>
          </a:p>
        </p:txBody>
      </p:sp>
      <p:sp>
        <p:nvSpPr>
          <p:cNvPr id="20" name="Shape 18"/>
          <p:cNvSpPr/>
          <p:nvPr/>
        </p:nvSpPr>
        <p:spPr>
          <a:xfrm>
            <a:off x="6477794" y="7857490"/>
            <a:ext cx="1361599" cy="513080"/>
          </a:xfrm>
          <a:prstGeom prst="roundRect">
            <a:avLst>
              <a:gd name="adj" fmla="val 11139"/>
            </a:avLst>
          </a:prstGeom>
          <a:solidFill>
            <a:srgbClr val="4488FF">
              <a:alpha val="12000"/>
            </a:srgbClr>
          </a:solidFill>
          <a:ln w="10160">
            <a:solidFill>
              <a:srgbClr val="4488FF">
                <a:alpha val="30000"/>
              </a:srgbClr>
            </a:solidFill>
            <a:prstDash val="solid"/>
          </a:ln>
        </p:spPr>
      </p:sp>
      <p:sp>
        <p:nvSpPr>
          <p:cNvPr id="21" name="Text 19"/>
          <p:cNvSpPr/>
          <p:nvPr/>
        </p:nvSpPr>
        <p:spPr>
          <a:xfrm>
            <a:off x="6678454" y="7981950"/>
            <a:ext cx="1036479" cy="302260"/>
          </a:xfrm>
          <a:prstGeom prst="rect">
            <a:avLst/>
          </a:prstGeom>
          <a:noFill/>
          <a:ln/>
        </p:spPr>
        <p:txBody>
          <a:bodyPr wrap="square" lIns="25400" tIns="25400" rIns="25400" bIns="25400" rtlCol="0" anchor="t">
            <a:normAutofit/>
          </a:bodyPr>
          <a:lstStyle/>
          <a:p>
            <a:pPr marL="0" indent="0" algn="l">
              <a:buNone/>
            </a:pPr>
            <a:r>
              <a:rPr lang="en-US" sz="1800" dirty="0">
                <a:solidFill>
                  <a:srgbClr val="4488FF"/>
                </a:solidFill>
                <a:latin typeface="Courier New" pitchFamily="34" charset="0"/>
                <a:ea typeface="Courier New" pitchFamily="34" charset="-122"/>
                <a:cs typeface="Courier New" pitchFamily="34" charset="-120"/>
              </a:rPr>
              <a:t>v_cross</a:t>
            </a:r>
            <a:endParaRPr lang="en-US" sz="1800" dirty="0"/>
          </a:p>
        </p:txBody>
      </p:sp>
      <p:sp>
        <p:nvSpPr>
          <p:cNvPr id="22" name="Shape 20"/>
          <p:cNvSpPr/>
          <p:nvPr/>
        </p:nvSpPr>
        <p:spPr>
          <a:xfrm>
            <a:off x="9429751" y="2747010"/>
            <a:ext cx="7905751" cy="3660140"/>
          </a:xfrm>
          <a:prstGeom prst="roundRect">
            <a:avLst>
              <a:gd name="adj" fmla="val 2602"/>
            </a:avLst>
          </a:prstGeom>
          <a:solidFill>
            <a:srgbClr val="4488FF">
              <a:alpha val="7000"/>
            </a:srgbClr>
          </a:solidFill>
          <a:ln w="10160">
            <a:solidFill>
              <a:srgbClr val="4488FF">
                <a:alpha val="30000"/>
              </a:srgbClr>
            </a:solidFill>
            <a:prstDash val="solid"/>
          </a:ln>
        </p:spPr>
      </p:sp>
      <p:sp>
        <p:nvSpPr>
          <p:cNvPr id="23" name="Text 21"/>
          <p:cNvSpPr/>
          <p:nvPr/>
        </p:nvSpPr>
        <p:spPr>
          <a:xfrm>
            <a:off x="9831789" y="3252470"/>
            <a:ext cx="7101675" cy="342900"/>
          </a:xfrm>
          <a:prstGeom prst="rect">
            <a:avLst/>
          </a:prstGeom>
          <a:noFill/>
          <a:ln/>
        </p:spPr>
        <p:txBody>
          <a:bodyPr wrap="square" lIns="25400" tIns="25400" rIns="25400" bIns="25400" rtlCol="0" anchor="t">
            <a:normAutofit/>
          </a:bodyPr>
          <a:lstStyle/>
          <a:p>
            <a:pPr marL="0" indent="0" algn="ctr">
              <a:buNone/>
            </a:pPr>
            <a:r>
              <a:rPr lang="en-US" sz="2100" kern="0" spc="210" dirty="0">
                <a:solidFill>
                  <a:srgbClr val="5A7A9A"/>
                </a:solidFill>
                <a:latin typeface="Courier New" pitchFamily="34" charset="0"/>
                <a:ea typeface="Courier New" pitchFamily="34" charset="-122"/>
                <a:cs typeface="Courier New" pitchFamily="34" charset="-120"/>
              </a:rPr>
              <a:t>MEDIAN ERROR</a:t>
            </a:r>
            <a:endParaRPr lang="en-US" sz="2100" dirty="0"/>
          </a:p>
        </p:txBody>
      </p:sp>
      <p:sp>
        <p:nvSpPr>
          <p:cNvPr id="24" name="Text 22"/>
          <p:cNvSpPr/>
          <p:nvPr/>
        </p:nvSpPr>
        <p:spPr>
          <a:xfrm>
            <a:off x="9831789" y="3633470"/>
            <a:ext cx="7101675" cy="1371600"/>
          </a:xfrm>
          <a:prstGeom prst="rect">
            <a:avLst/>
          </a:prstGeom>
          <a:noFill/>
          <a:ln/>
        </p:spPr>
        <p:txBody>
          <a:bodyPr wrap="square" lIns="25400" tIns="25400" rIns="25400" bIns="25400" rtlCol="0" anchor="t">
            <a:normAutofit/>
          </a:bodyPr>
          <a:lstStyle/>
          <a:p>
            <a:pPr marL="0" indent="0" algn="ctr">
              <a:lnSpc>
                <a:spcPct val="100000"/>
              </a:lnSpc>
              <a:buNone/>
            </a:pPr>
            <a:r>
              <a:rPr lang="en-US" sz="10500" b="1" dirty="0">
                <a:solidFill>
                  <a:srgbClr val="4488FF"/>
                </a:solidFill>
                <a:latin typeface="Courier New" pitchFamily="34" charset="0"/>
                <a:ea typeface="Courier New" pitchFamily="34" charset="-122"/>
                <a:cs typeface="Courier New" pitchFamily="34" charset="-120"/>
              </a:rPr>
              <a:t>83</a:t>
            </a:r>
            <a:endParaRPr lang="en-US" sz="10500" dirty="0"/>
          </a:p>
        </p:txBody>
      </p:sp>
      <p:sp>
        <p:nvSpPr>
          <p:cNvPr id="25" name="Text 23"/>
          <p:cNvSpPr/>
          <p:nvPr/>
        </p:nvSpPr>
        <p:spPr>
          <a:xfrm>
            <a:off x="9831789" y="4966970"/>
            <a:ext cx="7101675" cy="505460"/>
          </a:xfrm>
          <a:prstGeom prst="rect">
            <a:avLst/>
          </a:prstGeom>
          <a:noFill/>
          <a:ln/>
        </p:spPr>
        <p:txBody>
          <a:bodyPr wrap="square" lIns="25400" tIns="25400" rIns="25400" bIns="25400" rtlCol="0" anchor="t">
            <a:normAutofit/>
          </a:bodyPr>
          <a:lstStyle/>
          <a:p>
            <a:pPr marL="0" indent="0" algn="ctr">
              <a:buNone/>
            </a:pPr>
            <a:r>
              <a:rPr lang="en-US" sz="3300" dirty="0">
                <a:solidFill>
                  <a:srgbClr val="4488FF"/>
                </a:solidFill>
                <a:latin typeface="Courier New" pitchFamily="34" charset="0"/>
                <a:ea typeface="Courier New" pitchFamily="34" charset="-122"/>
                <a:cs typeface="Courier New" pitchFamily="34" charset="-120"/>
              </a:rPr>
              <a:t>km</a:t>
            </a:r>
            <a:endParaRPr lang="en-US" sz="3300" dirty="0"/>
          </a:p>
        </p:txBody>
      </p:sp>
      <p:sp>
        <p:nvSpPr>
          <p:cNvPr id="26" name="Text 24"/>
          <p:cNvSpPr/>
          <p:nvPr/>
        </p:nvSpPr>
        <p:spPr>
          <a:xfrm>
            <a:off x="9831789" y="5586731"/>
            <a:ext cx="7101675" cy="353060"/>
          </a:xfrm>
          <a:prstGeom prst="rect">
            <a:avLst/>
          </a:prstGeom>
          <a:noFill/>
          <a:ln/>
        </p:spPr>
        <p:txBody>
          <a:bodyPr wrap="square" lIns="25400" tIns="25400" rIns="25400" bIns="25400" rtlCol="0" anchor="t">
            <a:normAutofit/>
          </a:bodyPr>
          <a:lstStyle/>
          <a:p>
            <a:pPr marL="0" indent="0" algn="ctr">
              <a:buNone/>
            </a:pPr>
            <a:r>
              <a:rPr lang="en-US" sz="2100" dirty="0">
                <a:solidFill>
                  <a:srgbClr val="E8F4FF">
                    <a:alpha val="60000"/>
                  </a:srgbClr>
                </a:solidFill>
                <a:latin typeface="Arial" pitchFamily="34" charset="0"/>
                <a:ea typeface="Arial" pitchFamily="34" charset="-122"/>
                <a:cs typeface="Arial" pitchFamily="34" charset="-120"/>
              </a:rPr>
              <a:t>−37% vs great-circle baseline</a:t>
            </a:r>
            <a:endParaRPr lang="en-US" sz="2100" dirty="0"/>
          </a:p>
        </p:txBody>
      </p:sp>
      <p:sp>
        <p:nvSpPr>
          <p:cNvPr id="27" name="Shape 25"/>
          <p:cNvSpPr/>
          <p:nvPr/>
        </p:nvSpPr>
        <p:spPr>
          <a:xfrm>
            <a:off x="9603423" y="6750050"/>
            <a:ext cx="2260600" cy="599440"/>
          </a:xfrm>
          <a:prstGeom prst="roundRect">
            <a:avLst>
              <a:gd name="adj" fmla="val 9534"/>
            </a:avLst>
          </a:prstGeom>
          <a:solidFill>
            <a:srgbClr val="4488FF">
              <a:alpha val="10000"/>
            </a:srgbClr>
          </a:solidFill>
          <a:ln w="10160">
            <a:solidFill>
              <a:srgbClr val="4488FF">
                <a:alpha val="30000"/>
              </a:srgbClr>
            </a:solidFill>
            <a:prstDash val="solid"/>
          </a:ln>
        </p:spPr>
      </p:sp>
      <p:sp>
        <p:nvSpPr>
          <p:cNvPr id="28" name="Text 26"/>
          <p:cNvSpPr/>
          <p:nvPr/>
        </p:nvSpPr>
        <p:spPr>
          <a:xfrm>
            <a:off x="9804083" y="6912610"/>
            <a:ext cx="1859280" cy="312420"/>
          </a:xfrm>
          <a:prstGeom prst="rect">
            <a:avLst/>
          </a:prstGeom>
          <a:noFill/>
          <a:ln/>
        </p:spPr>
        <p:txBody>
          <a:bodyPr wrap="square" lIns="25400" tIns="25400" rIns="25400" bIns="25400" rtlCol="0" anchor="t">
            <a:normAutofit/>
          </a:bodyPr>
          <a:lstStyle/>
          <a:p>
            <a:pPr marL="0" indent="0" algn="ctr">
              <a:buNone/>
            </a:pPr>
            <a:r>
              <a:rPr lang="en-US" sz="1950" dirty="0">
                <a:solidFill>
                  <a:srgbClr val="4488FF"/>
                </a:solidFill>
                <a:latin typeface="Courier New" pitchFamily="34" charset="0"/>
                <a:ea typeface="Courier New" pitchFamily="34" charset="-122"/>
                <a:cs typeface="Courier New" pitchFamily="34" charset="-120"/>
              </a:rPr>
              <a:t>Forward KF →</a:t>
            </a:r>
            <a:endParaRPr lang="en-US" sz="1950" dirty="0"/>
          </a:p>
        </p:txBody>
      </p:sp>
      <p:sp>
        <p:nvSpPr>
          <p:cNvPr id="29" name="Text 27"/>
          <p:cNvSpPr/>
          <p:nvPr/>
        </p:nvSpPr>
        <p:spPr>
          <a:xfrm>
            <a:off x="12016424" y="6892290"/>
            <a:ext cx="232093" cy="353060"/>
          </a:xfrm>
          <a:prstGeom prst="rect">
            <a:avLst/>
          </a:prstGeom>
          <a:noFill/>
          <a:ln/>
        </p:spPr>
        <p:txBody>
          <a:bodyPr wrap="square" lIns="25400" tIns="25400" rIns="25400" bIns="25400" rtlCol="0" anchor="t">
            <a:normAutofit/>
          </a:bodyPr>
          <a:lstStyle/>
          <a:p>
            <a:pPr marL="0" indent="0" algn="ctr">
              <a:buNone/>
            </a:pPr>
            <a:r>
              <a:rPr lang="en-US" sz="2100" dirty="0">
                <a:solidFill>
                  <a:srgbClr val="5A7A9A"/>
                </a:solidFill>
                <a:latin typeface="Arial" pitchFamily="34" charset="0"/>
                <a:ea typeface="Arial" pitchFamily="34" charset="-122"/>
                <a:cs typeface="Arial" pitchFamily="34" charset="-120"/>
              </a:rPr>
              <a:t>+</a:t>
            </a:r>
            <a:endParaRPr lang="en-US" sz="2100" dirty="0"/>
          </a:p>
        </p:txBody>
      </p:sp>
      <p:sp>
        <p:nvSpPr>
          <p:cNvPr id="30" name="Shape 28"/>
          <p:cNvSpPr/>
          <p:nvPr/>
        </p:nvSpPr>
        <p:spPr>
          <a:xfrm>
            <a:off x="12400915" y="6750050"/>
            <a:ext cx="2557780" cy="599440"/>
          </a:xfrm>
          <a:prstGeom prst="roundRect">
            <a:avLst>
              <a:gd name="adj" fmla="val 9534"/>
            </a:avLst>
          </a:prstGeom>
          <a:solidFill>
            <a:srgbClr val="4488FF">
              <a:alpha val="10000"/>
            </a:srgbClr>
          </a:solidFill>
          <a:ln w="10160">
            <a:solidFill>
              <a:srgbClr val="4488FF">
                <a:alpha val="30000"/>
              </a:srgbClr>
            </a:solidFill>
            <a:prstDash val="solid"/>
          </a:ln>
        </p:spPr>
      </p:sp>
      <p:sp>
        <p:nvSpPr>
          <p:cNvPr id="31" name="Text 29"/>
          <p:cNvSpPr/>
          <p:nvPr/>
        </p:nvSpPr>
        <p:spPr>
          <a:xfrm>
            <a:off x="12601308" y="6912610"/>
            <a:ext cx="2156994" cy="312420"/>
          </a:xfrm>
          <a:prstGeom prst="rect">
            <a:avLst/>
          </a:prstGeom>
          <a:noFill/>
          <a:ln/>
        </p:spPr>
        <p:txBody>
          <a:bodyPr wrap="square" lIns="25400" tIns="25400" rIns="25400" bIns="25400" rtlCol="0" anchor="t">
            <a:normAutofit/>
          </a:bodyPr>
          <a:lstStyle/>
          <a:p>
            <a:pPr marL="0" indent="0" algn="ctr">
              <a:buNone/>
            </a:pPr>
            <a:r>
              <a:rPr lang="en-US" sz="1950" dirty="0">
                <a:solidFill>
                  <a:srgbClr val="4488FF"/>
                </a:solidFill>
                <a:latin typeface="Courier New" pitchFamily="34" charset="0"/>
                <a:ea typeface="Courier New" pitchFamily="34" charset="-122"/>
                <a:cs typeface="Courier New" pitchFamily="34" charset="-120"/>
              </a:rPr>
              <a:t>← RTS Backward</a:t>
            </a:r>
            <a:endParaRPr lang="en-US" sz="1950" dirty="0"/>
          </a:p>
        </p:txBody>
      </p:sp>
      <p:sp>
        <p:nvSpPr>
          <p:cNvPr id="32" name="Text 30"/>
          <p:cNvSpPr/>
          <p:nvPr/>
        </p:nvSpPr>
        <p:spPr>
          <a:xfrm>
            <a:off x="15111096" y="6892290"/>
            <a:ext cx="232093" cy="353060"/>
          </a:xfrm>
          <a:prstGeom prst="rect">
            <a:avLst/>
          </a:prstGeom>
          <a:noFill/>
          <a:ln/>
        </p:spPr>
        <p:txBody>
          <a:bodyPr wrap="square" lIns="25400" tIns="25400" rIns="25400" bIns="25400" rtlCol="0" anchor="t">
            <a:normAutofit/>
          </a:bodyPr>
          <a:lstStyle/>
          <a:p>
            <a:pPr marL="0" indent="0" algn="ctr">
              <a:buNone/>
            </a:pPr>
            <a:r>
              <a:rPr lang="en-US" sz="2100" dirty="0">
                <a:solidFill>
                  <a:srgbClr val="5A7A9A"/>
                </a:solidFill>
                <a:latin typeface="Arial" pitchFamily="34" charset="0"/>
                <a:ea typeface="Arial" pitchFamily="34" charset="-122"/>
                <a:cs typeface="Arial" pitchFamily="34" charset="-120"/>
              </a:rPr>
              <a:t>=</a:t>
            </a:r>
            <a:endParaRPr lang="en-US" sz="2100" dirty="0"/>
          </a:p>
        </p:txBody>
      </p:sp>
      <p:sp>
        <p:nvSpPr>
          <p:cNvPr id="33" name="Shape 31"/>
          <p:cNvSpPr/>
          <p:nvPr/>
        </p:nvSpPr>
        <p:spPr>
          <a:xfrm>
            <a:off x="15495588" y="6750050"/>
            <a:ext cx="1666240" cy="599440"/>
          </a:xfrm>
          <a:prstGeom prst="roundRect">
            <a:avLst>
              <a:gd name="adj" fmla="val 9534"/>
            </a:avLst>
          </a:prstGeom>
          <a:solidFill>
            <a:srgbClr val="4488FF">
              <a:alpha val="15000"/>
            </a:srgbClr>
          </a:solidFill>
          <a:ln w="10160">
            <a:solidFill>
              <a:srgbClr val="4488FF">
                <a:alpha val="40000"/>
              </a:srgbClr>
            </a:solidFill>
            <a:prstDash val="solid"/>
          </a:ln>
        </p:spPr>
      </p:sp>
      <p:sp>
        <p:nvSpPr>
          <p:cNvPr id="34" name="Text 32"/>
          <p:cNvSpPr/>
          <p:nvPr/>
        </p:nvSpPr>
        <p:spPr>
          <a:xfrm>
            <a:off x="15696248" y="6912610"/>
            <a:ext cx="1264920" cy="312420"/>
          </a:xfrm>
          <a:prstGeom prst="rect">
            <a:avLst/>
          </a:prstGeom>
          <a:noFill/>
          <a:ln/>
        </p:spPr>
        <p:txBody>
          <a:bodyPr wrap="square" lIns="25400" tIns="25400" rIns="25400" bIns="25400" rtlCol="0" anchor="t">
            <a:normAutofit/>
          </a:bodyPr>
          <a:lstStyle/>
          <a:p>
            <a:pPr marL="0" indent="0" algn="ctr">
              <a:buNone/>
            </a:pPr>
            <a:r>
              <a:rPr lang="en-US" sz="1950" b="1" dirty="0">
                <a:solidFill>
                  <a:srgbClr val="E8F4FF"/>
                </a:solidFill>
                <a:latin typeface="Courier New" pitchFamily="34" charset="0"/>
                <a:ea typeface="Courier New" pitchFamily="34" charset="-122"/>
                <a:cs typeface="Courier New" pitchFamily="34" charset="-120"/>
              </a:rPr>
              <a:t>Smoothed</a:t>
            </a:r>
            <a:endParaRPr lang="en-US" sz="1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sp>
        <p:nvSpPr>
          <p:cNvPr id="7" name="Shape 5"/>
          <p:cNvSpPr/>
          <p:nvPr/>
        </p:nvSpPr>
        <p:spPr>
          <a:xfrm>
            <a:off x="952500" y="762000"/>
            <a:ext cx="2215039" cy="449580"/>
          </a:xfrm>
          <a:prstGeom prst="roundRect">
            <a:avLst>
              <a:gd name="adj" fmla="val 8475"/>
            </a:avLst>
          </a:prstGeom>
          <a:ln w="10160">
            <a:solidFill>
              <a:srgbClr val="00FF88"/>
            </a:solidFill>
            <a:prstDash val="solid"/>
          </a:ln>
        </p:spPr>
      </p:sp>
      <p:sp>
        <p:nvSpPr>
          <p:cNvPr id="8" name="Text 6"/>
          <p:cNvSpPr/>
          <p:nvPr/>
        </p:nvSpPr>
        <p:spPr>
          <a:xfrm>
            <a:off x="1153160" y="829310"/>
            <a:ext cx="1889919" cy="3530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FF88"/>
                </a:solidFill>
                <a:latin typeface="Courier New" pitchFamily="34" charset="0"/>
                <a:ea typeface="Courier New" pitchFamily="34" charset="-122"/>
                <a:cs typeface="Courier New" pitchFamily="34" charset="-120"/>
              </a:rPr>
              <a:t>METHOD 03 ★</a:t>
            </a:r>
            <a:endParaRPr lang="en-US" sz="1800" dirty="0"/>
          </a:p>
        </p:txBody>
      </p:sp>
      <p:sp>
        <p:nvSpPr>
          <p:cNvPr id="9" name="Text 7"/>
          <p:cNvSpPr/>
          <p:nvPr/>
        </p:nvSpPr>
        <p:spPr>
          <a:xfrm>
            <a:off x="952500" y="1516380"/>
            <a:ext cx="8162545" cy="1379220"/>
          </a:xfrm>
          <a:prstGeom prst="rect">
            <a:avLst/>
          </a:prstGeom>
          <a:noFill/>
          <a:ln/>
        </p:spPr>
        <p:txBody>
          <a:bodyPr wrap="square" lIns="25400" tIns="25400" rIns="25400" bIns="25400" rtlCol="0" anchor="t">
            <a:normAutofit/>
          </a:bodyPr>
          <a:lstStyle/>
          <a:p>
            <a:pPr marL="0" indent="0" algn="l">
              <a:lnSpc>
                <a:spcPct val="110000"/>
              </a:lnSpc>
              <a:buNone/>
            </a:pPr>
            <a:r>
              <a:rPr lang="en-US" sz="4800" b="1" dirty="0">
                <a:solidFill>
                  <a:srgbClr val="00FF88"/>
                </a:solidFill>
                <a:latin typeface="Arial" pitchFamily="34" charset="0"/>
                <a:ea typeface="Arial" pitchFamily="34" charset="-122"/>
                <a:cs typeface="Arial" pitchFamily="34" charset="-120"/>
              </a:rPr>
              <a:t>GRU Neural </a:t>
            </a:r>
            <a:r>
              <a:rPr lang="en-US" sz="4800" b="1" dirty="0">
                <a:solidFill>
                  <a:srgbClr val="E8F4FF"/>
                </a:solidFill>
                <a:latin typeface="Arial" pitchFamily="34" charset="0"/>
                <a:ea typeface="Arial" pitchFamily="34" charset="-122"/>
                <a:cs typeface="Arial" pitchFamily="34" charset="-120"/>
              </a:rPr>
              <a:t>Network</a:t>
            </a:r>
            <a:endParaRPr lang="en-US" sz="4800" dirty="0"/>
          </a:p>
        </p:txBody>
      </p:sp>
      <p:sp>
        <p:nvSpPr>
          <p:cNvPr id="10" name="Text 8"/>
          <p:cNvSpPr/>
          <p:nvPr/>
        </p:nvSpPr>
        <p:spPr>
          <a:xfrm>
            <a:off x="752475" y="3276600"/>
            <a:ext cx="8201026" cy="2800350"/>
          </a:xfrm>
          <a:prstGeom prst="rect">
            <a:avLst/>
          </a:prstGeom>
          <a:noFill/>
          <a:ln/>
        </p:spPr>
        <p:txBody>
          <a:bodyPr wrap="square" lIns="25400" tIns="25400" rIns="25400" bIns="25400" rtlCol="0" anchor="t">
            <a:normAutofit/>
          </a:bodyPr>
          <a:lstStyle/>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Bidirectional GRU encoder — reads both ADS-B sides</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Sequential GRU decoder — outputs waypoint residuals</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Residual on great-circle baseline — learns deviations</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Haversine loss — geodesic error minimization</a:t>
            </a:r>
            <a:endParaRPr lang="en-US" sz="2250" dirty="0"/>
          </a:p>
          <a:p>
            <a:pPr marL="0" indent="0" algn="l">
              <a:lnSpc>
                <a:spcPct val="140000"/>
              </a:lnSpc>
              <a:buNone/>
            </a:pPr>
            <a:r>
              <a:rPr lang="en-US" sz="2250" dirty="0">
                <a:solidFill>
                  <a:srgbClr val="E8F4FF">
                    <a:alpha val="85000"/>
                  </a:srgbClr>
                </a:solidFill>
                <a:latin typeface="Arial" pitchFamily="34" charset="0"/>
                <a:ea typeface="Arial" pitchFamily="34" charset="-122"/>
                <a:cs typeface="Arial" pitchFamily="34" charset="-120"/>
              </a:rPr>
              <a:t>Trained on 1,094 real NAT crossings</a:t>
            </a:r>
            <a:endParaRPr lang="en-US" sz="2250" dirty="0"/>
          </a:p>
        </p:txBody>
      </p:sp>
      <p:sp>
        <p:nvSpPr>
          <p:cNvPr id="11" name="Shape 9"/>
          <p:cNvSpPr/>
          <p:nvPr/>
        </p:nvSpPr>
        <p:spPr>
          <a:xfrm>
            <a:off x="952500" y="6419851"/>
            <a:ext cx="7924801" cy="2092960"/>
          </a:xfrm>
          <a:prstGeom prst="roundRect">
            <a:avLst>
              <a:gd name="adj" fmla="val 4551"/>
            </a:avLst>
          </a:prstGeom>
          <a:solidFill>
            <a:srgbClr val="00FF88">
              <a:alpha val="7000"/>
            </a:srgbClr>
          </a:solidFill>
          <a:ln w="10160">
            <a:solidFill>
              <a:srgbClr val="00FF88">
                <a:alpha val="30000"/>
              </a:srgbClr>
            </a:solidFill>
            <a:prstDash val="solid"/>
          </a:ln>
        </p:spPr>
      </p:sp>
      <p:sp>
        <p:nvSpPr>
          <p:cNvPr id="12" name="Text 10"/>
          <p:cNvSpPr/>
          <p:nvPr/>
        </p:nvSpPr>
        <p:spPr>
          <a:xfrm>
            <a:off x="1305560" y="6734810"/>
            <a:ext cx="7435241" cy="302260"/>
          </a:xfrm>
          <a:prstGeom prst="rect">
            <a:avLst/>
          </a:prstGeom>
          <a:noFill/>
          <a:ln/>
        </p:spPr>
        <p:txBody>
          <a:bodyPr wrap="square" lIns="25400" tIns="25400" rIns="25400" bIns="25400" rtlCol="0" anchor="t">
            <a:normAutofit/>
          </a:bodyPr>
          <a:lstStyle/>
          <a:p>
            <a:pPr marL="0" indent="0" algn="l">
              <a:buNone/>
            </a:pPr>
            <a:r>
              <a:rPr lang="en-US" sz="1800" dirty="0">
                <a:solidFill>
                  <a:srgbClr val="5A7A9A"/>
                </a:solidFill>
                <a:latin typeface="Courier New" pitchFamily="34" charset="0"/>
                <a:ea typeface="Courier New" pitchFamily="34" charset="-122"/>
                <a:cs typeface="Courier New" pitchFamily="34" charset="-120"/>
              </a:rPr>
              <a:t>MEDIAN ERROR</a:t>
            </a:r>
            <a:endParaRPr lang="en-US" sz="1800" dirty="0"/>
          </a:p>
        </p:txBody>
      </p:sp>
      <p:sp>
        <p:nvSpPr>
          <p:cNvPr id="13" name="Text 11"/>
          <p:cNvSpPr/>
          <p:nvPr/>
        </p:nvSpPr>
        <p:spPr>
          <a:xfrm>
            <a:off x="1305560" y="7075170"/>
            <a:ext cx="7435241" cy="800100"/>
          </a:xfrm>
          <a:prstGeom prst="rect">
            <a:avLst/>
          </a:prstGeom>
          <a:noFill/>
          <a:ln/>
        </p:spPr>
        <p:txBody>
          <a:bodyPr wrap="square" lIns="25400" tIns="25400" rIns="25400" bIns="25400" rtlCol="0" anchor="t">
            <a:normAutofit/>
          </a:bodyPr>
          <a:lstStyle/>
          <a:p>
            <a:pPr marL="0" indent="0" algn="l">
              <a:lnSpc>
                <a:spcPct val="100000"/>
              </a:lnSpc>
              <a:buNone/>
            </a:pPr>
            <a:r>
              <a:rPr lang="en-US" sz="6000" b="1" dirty="0">
                <a:solidFill>
                  <a:srgbClr val="00FF88"/>
                </a:solidFill>
                <a:latin typeface="Courier New" pitchFamily="34" charset="0"/>
                <a:ea typeface="Courier New" pitchFamily="34" charset="-122"/>
                <a:cs typeface="Courier New" pitchFamily="34" charset="-120"/>
              </a:rPr>
              <a:t>64 km</a:t>
            </a:r>
            <a:endParaRPr lang="en-US" sz="6000" dirty="0"/>
          </a:p>
        </p:txBody>
      </p:sp>
      <p:sp>
        <p:nvSpPr>
          <p:cNvPr id="14" name="Text 12"/>
          <p:cNvSpPr/>
          <p:nvPr/>
        </p:nvSpPr>
        <p:spPr>
          <a:xfrm>
            <a:off x="1305560" y="7913370"/>
            <a:ext cx="7435241" cy="322580"/>
          </a:xfrm>
          <a:prstGeom prst="rect">
            <a:avLst/>
          </a:prstGeom>
          <a:noFill/>
          <a:ln/>
        </p:spPr>
        <p:txBody>
          <a:bodyPr wrap="square" lIns="25400" tIns="25400" rIns="25400" bIns="25400" rtlCol="0" anchor="t">
            <a:normAutofit/>
          </a:bodyPr>
          <a:lstStyle/>
          <a:p>
            <a:pPr marL="0" indent="0" algn="l">
              <a:buNone/>
            </a:pPr>
            <a:r>
              <a:rPr lang="en-US" sz="1950" dirty="0">
                <a:solidFill>
                  <a:srgbClr val="E8F4FF">
                    <a:alpha val="60000"/>
                  </a:srgbClr>
                </a:solidFill>
                <a:latin typeface="Arial" pitchFamily="34" charset="0"/>
                <a:ea typeface="Arial" pitchFamily="34" charset="-122"/>
                <a:cs typeface="Arial" pitchFamily="34" charset="-120"/>
              </a:rPr>
              <a:t>−51% vs great-circle baseline</a:t>
            </a:r>
            <a:endParaRPr lang="en-US" sz="1950" dirty="0"/>
          </a:p>
        </p:txBody>
      </p:sp>
      <p:sp>
        <p:nvSpPr>
          <p:cNvPr id="15" name="Shape 13"/>
          <p:cNvSpPr/>
          <p:nvPr/>
        </p:nvSpPr>
        <p:spPr>
          <a:xfrm>
            <a:off x="9410701" y="2053590"/>
            <a:ext cx="3886200" cy="891540"/>
          </a:xfrm>
          <a:prstGeom prst="roundRect">
            <a:avLst>
              <a:gd name="adj" fmla="val 6410"/>
            </a:avLst>
          </a:prstGeom>
          <a:solidFill>
            <a:srgbClr val="00D4FF">
              <a:alpha val="8000"/>
            </a:srgbClr>
          </a:solidFill>
          <a:ln w="10160">
            <a:solidFill>
              <a:srgbClr val="00D4FF">
                <a:alpha val="20000"/>
              </a:srgbClr>
            </a:solidFill>
            <a:prstDash val="solid"/>
          </a:ln>
        </p:spPr>
      </p:sp>
      <p:sp>
        <p:nvSpPr>
          <p:cNvPr id="16" name="Text 14"/>
          <p:cNvSpPr/>
          <p:nvPr/>
        </p:nvSpPr>
        <p:spPr>
          <a:xfrm>
            <a:off x="9519844" y="2216150"/>
            <a:ext cx="3667913" cy="302260"/>
          </a:xfrm>
          <a:prstGeom prst="rect">
            <a:avLst/>
          </a:prstGeom>
          <a:noFill/>
          <a:ln/>
        </p:spPr>
        <p:txBody>
          <a:bodyPr wrap="square" lIns="25400" tIns="25400" rIns="25400" bIns="25400" rtlCol="0" anchor="t">
            <a:normAutofit/>
          </a:bodyPr>
          <a:lstStyle/>
          <a:p>
            <a:pPr marL="0" indent="0" algn="ctr">
              <a:buNone/>
            </a:pPr>
            <a:r>
              <a:rPr lang="en-US" sz="1800" dirty="0">
                <a:solidFill>
                  <a:srgbClr val="00D4FF"/>
                </a:solidFill>
                <a:latin typeface="Courier New" pitchFamily="34" charset="0"/>
                <a:ea typeface="Courier New" pitchFamily="34" charset="-122"/>
                <a:cs typeface="Courier New" pitchFamily="34" charset="-120"/>
              </a:rPr>
              <a:t>ADS-B Before</a:t>
            </a:r>
            <a:endParaRPr lang="en-US" sz="1800" dirty="0"/>
          </a:p>
        </p:txBody>
      </p:sp>
      <p:sp>
        <p:nvSpPr>
          <p:cNvPr id="17" name="Text 15"/>
          <p:cNvSpPr/>
          <p:nvPr/>
        </p:nvSpPr>
        <p:spPr>
          <a:xfrm>
            <a:off x="9519844" y="2518410"/>
            <a:ext cx="3667913" cy="302260"/>
          </a:xfrm>
          <a:prstGeom prst="rect">
            <a:avLst/>
          </a:prstGeom>
          <a:noFill/>
          <a:ln/>
        </p:spPr>
        <p:txBody>
          <a:bodyPr wrap="square" lIns="25400" tIns="25400" rIns="25400" bIns="25400" rtlCol="0" anchor="t">
            <a:normAutofit/>
          </a:bodyPr>
          <a:lstStyle/>
          <a:p>
            <a:pPr marL="0" indent="0" algn="ctr">
              <a:buNone/>
            </a:pPr>
            <a:r>
              <a:rPr lang="en-US" sz="1800" dirty="0">
                <a:solidFill>
                  <a:srgbClr val="5A7A9A"/>
                </a:solidFill>
                <a:latin typeface="Arial" pitchFamily="34" charset="0"/>
                <a:ea typeface="Arial" pitchFamily="34" charset="-122"/>
                <a:cs typeface="Arial" pitchFamily="34" charset="-120"/>
              </a:rPr>
              <a:t>64 steps</a:t>
            </a:r>
            <a:endParaRPr lang="en-US" sz="1800" dirty="0"/>
          </a:p>
        </p:txBody>
      </p:sp>
      <p:sp>
        <p:nvSpPr>
          <p:cNvPr id="18" name="Shape 16"/>
          <p:cNvSpPr/>
          <p:nvPr/>
        </p:nvSpPr>
        <p:spPr>
          <a:xfrm>
            <a:off x="13449301" y="2053590"/>
            <a:ext cx="3886200" cy="891540"/>
          </a:xfrm>
          <a:prstGeom prst="roundRect">
            <a:avLst>
              <a:gd name="adj" fmla="val 6410"/>
            </a:avLst>
          </a:prstGeom>
          <a:solidFill>
            <a:srgbClr val="00D4FF">
              <a:alpha val="8000"/>
            </a:srgbClr>
          </a:solidFill>
          <a:ln w="10160">
            <a:solidFill>
              <a:srgbClr val="00D4FF">
                <a:alpha val="20000"/>
              </a:srgbClr>
            </a:solidFill>
            <a:prstDash val="solid"/>
          </a:ln>
        </p:spPr>
      </p:sp>
      <p:sp>
        <p:nvSpPr>
          <p:cNvPr id="19" name="Text 17"/>
          <p:cNvSpPr/>
          <p:nvPr/>
        </p:nvSpPr>
        <p:spPr>
          <a:xfrm>
            <a:off x="13558445" y="2216150"/>
            <a:ext cx="3667913" cy="302260"/>
          </a:xfrm>
          <a:prstGeom prst="rect">
            <a:avLst/>
          </a:prstGeom>
          <a:noFill/>
          <a:ln/>
        </p:spPr>
        <p:txBody>
          <a:bodyPr wrap="square" lIns="25400" tIns="25400" rIns="25400" bIns="25400" rtlCol="0" anchor="t">
            <a:normAutofit/>
          </a:bodyPr>
          <a:lstStyle/>
          <a:p>
            <a:pPr marL="0" indent="0" algn="ctr">
              <a:buNone/>
            </a:pPr>
            <a:r>
              <a:rPr lang="en-US" sz="1800" dirty="0">
                <a:solidFill>
                  <a:srgbClr val="00D4FF"/>
                </a:solidFill>
                <a:latin typeface="Courier New" pitchFamily="34" charset="0"/>
                <a:ea typeface="Courier New" pitchFamily="34" charset="-122"/>
                <a:cs typeface="Courier New" pitchFamily="34" charset="-120"/>
              </a:rPr>
              <a:t>ADS-B After</a:t>
            </a:r>
            <a:endParaRPr lang="en-US" sz="1800" dirty="0"/>
          </a:p>
        </p:txBody>
      </p:sp>
      <p:sp>
        <p:nvSpPr>
          <p:cNvPr id="20" name="Text 18"/>
          <p:cNvSpPr/>
          <p:nvPr/>
        </p:nvSpPr>
        <p:spPr>
          <a:xfrm>
            <a:off x="13558445" y="2518410"/>
            <a:ext cx="3667913" cy="302260"/>
          </a:xfrm>
          <a:prstGeom prst="rect">
            <a:avLst/>
          </a:prstGeom>
          <a:noFill/>
          <a:ln/>
        </p:spPr>
        <p:txBody>
          <a:bodyPr wrap="square" lIns="25400" tIns="25400" rIns="25400" bIns="25400" rtlCol="0" anchor="t">
            <a:normAutofit/>
          </a:bodyPr>
          <a:lstStyle/>
          <a:p>
            <a:pPr marL="0" indent="0" algn="ctr">
              <a:buNone/>
            </a:pPr>
            <a:r>
              <a:rPr lang="en-US" sz="1800" dirty="0">
                <a:solidFill>
                  <a:srgbClr val="5A7A9A"/>
                </a:solidFill>
                <a:latin typeface="Arial" pitchFamily="34" charset="0"/>
                <a:ea typeface="Arial" pitchFamily="34" charset="-122"/>
                <a:cs typeface="Arial" pitchFamily="34" charset="-120"/>
              </a:rPr>
              <a:t>32 steps</a:t>
            </a:r>
            <a:endParaRPr lang="en-US" sz="1800" dirty="0"/>
          </a:p>
        </p:txBody>
      </p:sp>
      <p:sp>
        <p:nvSpPr>
          <p:cNvPr id="21" name="Text 19"/>
          <p:cNvSpPr/>
          <p:nvPr/>
        </p:nvSpPr>
        <p:spPr>
          <a:xfrm>
            <a:off x="13306426" y="3059430"/>
            <a:ext cx="209550" cy="353060"/>
          </a:xfrm>
          <a:prstGeom prst="rect">
            <a:avLst/>
          </a:prstGeom>
          <a:noFill/>
          <a:ln/>
        </p:spPr>
        <p:txBody>
          <a:bodyPr wrap="square" lIns="25400" tIns="25400" rIns="25400" bIns="25400" rtlCol="0" anchor="t">
            <a:normAutofit/>
          </a:bodyPr>
          <a:lstStyle/>
          <a:p>
            <a:pPr marL="0" indent="0" algn="l">
              <a:buNone/>
            </a:pPr>
            <a:r>
              <a:rPr lang="en-US" sz="2100" dirty="0">
                <a:solidFill>
                  <a:srgbClr val="5A7A9A"/>
                </a:solidFill>
                <a:latin typeface="Arial" pitchFamily="34" charset="0"/>
                <a:ea typeface="Arial" pitchFamily="34" charset="-122"/>
                <a:cs typeface="Arial" pitchFamily="34" charset="-120"/>
              </a:rPr>
              <a:t>↓</a:t>
            </a:r>
            <a:endParaRPr lang="en-US" sz="2100" dirty="0"/>
          </a:p>
        </p:txBody>
      </p:sp>
      <p:sp>
        <p:nvSpPr>
          <p:cNvPr id="22" name="Shape 20"/>
          <p:cNvSpPr/>
          <p:nvPr/>
        </p:nvSpPr>
        <p:spPr>
          <a:xfrm>
            <a:off x="9410701" y="3488690"/>
            <a:ext cx="7924801" cy="706120"/>
          </a:xfrm>
          <a:prstGeom prst="roundRect">
            <a:avLst>
              <a:gd name="adj" fmla="val 8094"/>
            </a:avLst>
          </a:prstGeom>
          <a:solidFill>
            <a:srgbClr val="00FF88">
              <a:alpha val="10000"/>
            </a:srgbClr>
          </a:solidFill>
          <a:ln w="10160">
            <a:solidFill>
              <a:srgbClr val="00FF88">
                <a:alpha val="30000"/>
              </a:srgbClr>
            </a:solidFill>
            <a:prstDash val="solid"/>
          </a:ln>
        </p:spPr>
      </p:sp>
      <p:sp>
        <p:nvSpPr>
          <p:cNvPr id="23" name="Text 21"/>
          <p:cNvSpPr/>
          <p:nvPr/>
        </p:nvSpPr>
        <p:spPr>
          <a:xfrm>
            <a:off x="9498508" y="3689350"/>
            <a:ext cx="7749185" cy="342900"/>
          </a:xfrm>
          <a:prstGeom prst="rect">
            <a:avLst/>
          </a:prstGeom>
          <a:noFill/>
          <a:ln/>
        </p:spPr>
        <p:txBody>
          <a:bodyPr wrap="square" lIns="25400" tIns="25400" rIns="25400" bIns="25400" rtlCol="0" anchor="t">
            <a:normAutofit/>
          </a:bodyPr>
          <a:lstStyle/>
          <a:p>
            <a:pPr marL="0" indent="0" algn="ctr">
              <a:buNone/>
            </a:pPr>
            <a:r>
              <a:rPr lang="en-US" sz="2100" b="1" dirty="0">
                <a:solidFill>
                  <a:srgbClr val="00FF88"/>
                </a:solidFill>
                <a:latin typeface="Courier New" pitchFamily="34" charset="0"/>
                <a:ea typeface="Courier New" pitchFamily="34" charset="-122"/>
                <a:cs typeface="Courier New" pitchFamily="34" charset="-120"/>
              </a:rPr>
              <a:t>Bidirectional GRU Encoder</a:t>
            </a:r>
            <a:endParaRPr lang="en-US" sz="2100" dirty="0"/>
          </a:p>
        </p:txBody>
      </p:sp>
      <p:sp>
        <p:nvSpPr>
          <p:cNvPr id="24" name="Text 22"/>
          <p:cNvSpPr/>
          <p:nvPr/>
        </p:nvSpPr>
        <p:spPr>
          <a:xfrm>
            <a:off x="13306426" y="4309110"/>
            <a:ext cx="209550" cy="353060"/>
          </a:xfrm>
          <a:prstGeom prst="rect">
            <a:avLst/>
          </a:prstGeom>
          <a:noFill/>
          <a:ln/>
        </p:spPr>
        <p:txBody>
          <a:bodyPr wrap="square" lIns="25400" tIns="25400" rIns="25400" bIns="25400" rtlCol="0" anchor="t">
            <a:normAutofit/>
          </a:bodyPr>
          <a:lstStyle/>
          <a:p>
            <a:pPr marL="0" indent="0" algn="l">
              <a:buNone/>
            </a:pPr>
            <a:r>
              <a:rPr lang="en-US" sz="2100" dirty="0">
                <a:solidFill>
                  <a:srgbClr val="5A7A9A"/>
                </a:solidFill>
                <a:latin typeface="Arial" pitchFamily="34" charset="0"/>
                <a:ea typeface="Arial" pitchFamily="34" charset="-122"/>
                <a:cs typeface="Arial" pitchFamily="34" charset="-120"/>
              </a:rPr>
              <a:t>↓</a:t>
            </a:r>
            <a:endParaRPr lang="en-US" sz="2100" dirty="0"/>
          </a:p>
        </p:txBody>
      </p:sp>
      <p:sp>
        <p:nvSpPr>
          <p:cNvPr id="25" name="Shape 23"/>
          <p:cNvSpPr/>
          <p:nvPr/>
        </p:nvSpPr>
        <p:spPr>
          <a:xfrm>
            <a:off x="9410701" y="4738370"/>
            <a:ext cx="7924801" cy="599440"/>
          </a:xfrm>
          <a:prstGeom prst="roundRect">
            <a:avLst>
              <a:gd name="adj" fmla="val 9534"/>
            </a:avLst>
          </a:prstGeom>
          <a:solidFill>
            <a:srgbClr val="00FF88">
              <a:alpha val="6000"/>
            </a:srgbClr>
          </a:solidFill>
          <a:ln w="10160">
            <a:solidFill>
              <a:srgbClr val="00FF88">
                <a:alpha val="20000"/>
              </a:srgbClr>
            </a:solidFill>
            <a:prstDash val="solid"/>
          </a:ln>
        </p:spPr>
      </p:sp>
      <p:sp>
        <p:nvSpPr>
          <p:cNvPr id="26" name="Text 24"/>
          <p:cNvSpPr/>
          <p:nvPr/>
        </p:nvSpPr>
        <p:spPr>
          <a:xfrm>
            <a:off x="9459265" y="4900931"/>
            <a:ext cx="7827671" cy="312420"/>
          </a:xfrm>
          <a:prstGeom prst="rect">
            <a:avLst/>
          </a:prstGeom>
          <a:noFill/>
          <a:ln/>
        </p:spPr>
        <p:txBody>
          <a:bodyPr wrap="square" lIns="25400" tIns="25400" rIns="25400" bIns="25400" rtlCol="0" anchor="t">
            <a:normAutofit/>
          </a:bodyPr>
          <a:lstStyle/>
          <a:p>
            <a:pPr marL="0" indent="0" algn="ctr">
              <a:buNone/>
            </a:pPr>
            <a:r>
              <a:rPr lang="en-US" sz="1950" dirty="0">
                <a:solidFill>
                  <a:srgbClr val="5A7A9A"/>
                </a:solidFill>
                <a:latin typeface="Courier New" pitchFamily="34" charset="0"/>
                <a:ea typeface="Courier New" pitchFamily="34" charset="-122"/>
                <a:cs typeface="Courier New" pitchFamily="34" charset="-120"/>
              </a:rPr>
              <a:t>Context Vector</a:t>
            </a:r>
            <a:endParaRPr lang="en-US" sz="1950" dirty="0"/>
          </a:p>
        </p:txBody>
      </p:sp>
      <p:sp>
        <p:nvSpPr>
          <p:cNvPr id="27" name="Text 25"/>
          <p:cNvSpPr/>
          <p:nvPr/>
        </p:nvSpPr>
        <p:spPr>
          <a:xfrm>
            <a:off x="13306426" y="5452110"/>
            <a:ext cx="209550" cy="353060"/>
          </a:xfrm>
          <a:prstGeom prst="rect">
            <a:avLst/>
          </a:prstGeom>
          <a:noFill/>
          <a:ln/>
        </p:spPr>
        <p:txBody>
          <a:bodyPr wrap="square" lIns="25400" tIns="25400" rIns="25400" bIns="25400" rtlCol="0" anchor="t">
            <a:normAutofit/>
          </a:bodyPr>
          <a:lstStyle/>
          <a:p>
            <a:pPr marL="0" indent="0" algn="l">
              <a:buNone/>
            </a:pPr>
            <a:r>
              <a:rPr lang="en-US" sz="2100" dirty="0">
                <a:solidFill>
                  <a:srgbClr val="5A7A9A"/>
                </a:solidFill>
                <a:latin typeface="Arial" pitchFamily="34" charset="0"/>
                <a:ea typeface="Arial" pitchFamily="34" charset="-122"/>
                <a:cs typeface="Arial" pitchFamily="34" charset="-120"/>
              </a:rPr>
              <a:t>↓</a:t>
            </a:r>
            <a:endParaRPr lang="en-US" sz="2100" dirty="0"/>
          </a:p>
        </p:txBody>
      </p:sp>
      <p:sp>
        <p:nvSpPr>
          <p:cNvPr id="28" name="Shape 26"/>
          <p:cNvSpPr/>
          <p:nvPr/>
        </p:nvSpPr>
        <p:spPr>
          <a:xfrm>
            <a:off x="9410701" y="5881370"/>
            <a:ext cx="7924801" cy="706120"/>
          </a:xfrm>
          <a:prstGeom prst="roundRect">
            <a:avLst>
              <a:gd name="adj" fmla="val 8094"/>
            </a:avLst>
          </a:prstGeom>
          <a:solidFill>
            <a:srgbClr val="00FF88">
              <a:alpha val="10000"/>
            </a:srgbClr>
          </a:solidFill>
          <a:ln w="10160">
            <a:solidFill>
              <a:srgbClr val="00FF88">
                <a:alpha val="30000"/>
              </a:srgbClr>
            </a:solidFill>
            <a:prstDash val="solid"/>
          </a:ln>
        </p:spPr>
      </p:sp>
      <p:sp>
        <p:nvSpPr>
          <p:cNvPr id="29" name="Text 27"/>
          <p:cNvSpPr/>
          <p:nvPr/>
        </p:nvSpPr>
        <p:spPr>
          <a:xfrm>
            <a:off x="9498508" y="6082031"/>
            <a:ext cx="7749185" cy="342900"/>
          </a:xfrm>
          <a:prstGeom prst="rect">
            <a:avLst/>
          </a:prstGeom>
          <a:noFill/>
          <a:ln/>
        </p:spPr>
        <p:txBody>
          <a:bodyPr wrap="square" lIns="25400" tIns="25400" rIns="25400" bIns="25400" rtlCol="0" anchor="t">
            <a:normAutofit/>
          </a:bodyPr>
          <a:lstStyle/>
          <a:p>
            <a:pPr marL="0" indent="0" algn="ctr">
              <a:buNone/>
            </a:pPr>
            <a:r>
              <a:rPr lang="en-US" sz="2100" b="1" dirty="0">
                <a:solidFill>
                  <a:srgbClr val="00FF88"/>
                </a:solidFill>
                <a:latin typeface="Courier New" pitchFamily="34" charset="0"/>
                <a:ea typeface="Courier New" pitchFamily="34" charset="-122"/>
                <a:cs typeface="Courier New" pitchFamily="34" charset="-120"/>
              </a:rPr>
              <a:t>Sequential GRU Decoder</a:t>
            </a:r>
            <a:endParaRPr lang="en-US" sz="2100" dirty="0"/>
          </a:p>
        </p:txBody>
      </p:sp>
      <p:sp>
        <p:nvSpPr>
          <p:cNvPr id="30" name="Text 28"/>
          <p:cNvSpPr/>
          <p:nvPr/>
        </p:nvSpPr>
        <p:spPr>
          <a:xfrm>
            <a:off x="13306426" y="6701790"/>
            <a:ext cx="209550" cy="353060"/>
          </a:xfrm>
          <a:prstGeom prst="rect">
            <a:avLst/>
          </a:prstGeom>
          <a:noFill/>
          <a:ln/>
        </p:spPr>
        <p:txBody>
          <a:bodyPr wrap="square" lIns="25400" tIns="25400" rIns="25400" bIns="25400" rtlCol="0" anchor="t">
            <a:normAutofit/>
          </a:bodyPr>
          <a:lstStyle/>
          <a:p>
            <a:pPr marL="0" indent="0" algn="l">
              <a:buNone/>
            </a:pPr>
            <a:r>
              <a:rPr lang="en-US" sz="2100" dirty="0">
                <a:solidFill>
                  <a:srgbClr val="5A7A9A"/>
                </a:solidFill>
                <a:latin typeface="Arial" pitchFamily="34" charset="0"/>
                <a:ea typeface="Arial" pitchFamily="34" charset="-122"/>
                <a:cs typeface="Arial" pitchFamily="34" charset="-120"/>
              </a:rPr>
              <a:t>↓</a:t>
            </a:r>
            <a:endParaRPr lang="en-US" sz="2100" dirty="0"/>
          </a:p>
        </p:txBody>
      </p:sp>
      <p:sp>
        <p:nvSpPr>
          <p:cNvPr id="31" name="Shape 29"/>
          <p:cNvSpPr/>
          <p:nvPr/>
        </p:nvSpPr>
        <p:spPr>
          <a:xfrm>
            <a:off x="9410701" y="7131050"/>
            <a:ext cx="2565400" cy="513080"/>
          </a:xfrm>
          <a:prstGeom prst="roundRect">
            <a:avLst>
              <a:gd name="adj" fmla="val 11139"/>
            </a:avLst>
          </a:prstGeom>
          <a:solidFill>
            <a:srgbClr val="00FF88">
              <a:alpha val="6000"/>
            </a:srgbClr>
          </a:solidFill>
          <a:ln w="10160">
            <a:solidFill>
              <a:srgbClr val="00FF88">
                <a:alpha val="20000"/>
              </a:srgbClr>
            </a:solidFill>
            <a:prstDash val="solid"/>
          </a:ln>
        </p:spPr>
      </p:sp>
      <p:sp>
        <p:nvSpPr>
          <p:cNvPr id="32" name="Text 30"/>
          <p:cNvSpPr/>
          <p:nvPr/>
        </p:nvSpPr>
        <p:spPr>
          <a:xfrm>
            <a:off x="9496680" y="7255510"/>
            <a:ext cx="2393442" cy="302260"/>
          </a:xfrm>
          <a:prstGeom prst="rect">
            <a:avLst/>
          </a:prstGeom>
          <a:noFill/>
          <a:ln/>
        </p:spPr>
        <p:txBody>
          <a:bodyPr wrap="square" lIns="25400" tIns="25400" rIns="25400" bIns="25400" rtlCol="0" anchor="t">
            <a:normAutofit/>
          </a:bodyPr>
          <a:lstStyle/>
          <a:p>
            <a:pPr marL="0" indent="0" algn="ctr">
              <a:buNone/>
            </a:pPr>
            <a:r>
              <a:rPr lang="en-US" sz="1800" dirty="0">
                <a:solidFill>
                  <a:srgbClr val="00FF88"/>
                </a:solidFill>
                <a:latin typeface="Courier New" pitchFamily="34" charset="0"/>
                <a:ea typeface="Courier New" pitchFamily="34" charset="-122"/>
                <a:cs typeface="Courier New" pitchFamily="34" charset="-120"/>
              </a:rPr>
              <a:t>Δlat</a:t>
            </a:r>
            <a:endParaRPr lang="en-US" sz="1800" dirty="0"/>
          </a:p>
        </p:txBody>
      </p:sp>
      <p:sp>
        <p:nvSpPr>
          <p:cNvPr id="33" name="Shape 31"/>
          <p:cNvSpPr/>
          <p:nvPr/>
        </p:nvSpPr>
        <p:spPr>
          <a:xfrm>
            <a:off x="12090400" y="7131050"/>
            <a:ext cx="2565400" cy="513080"/>
          </a:xfrm>
          <a:prstGeom prst="roundRect">
            <a:avLst>
              <a:gd name="adj" fmla="val 11139"/>
            </a:avLst>
          </a:prstGeom>
          <a:solidFill>
            <a:srgbClr val="00FF88">
              <a:alpha val="6000"/>
            </a:srgbClr>
          </a:solidFill>
          <a:ln w="10160">
            <a:solidFill>
              <a:srgbClr val="00FF88">
                <a:alpha val="20000"/>
              </a:srgbClr>
            </a:solidFill>
            <a:prstDash val="solid"/>
          </a:ln>
        </p:spPr>
      </p:sp>
      <p:sp>
        <p:nvSpPr>
          <p:cNvPr id="34" name="Text 32"/>
          <p:cNvSpPr/>
          <p:nvPr/>
        </p:nvSpPr>
        <p:spPr>
          <a:xfrm>
            <a:off x="12176379" y="7255510"/>
            <a:ext cx="2393442" cy="302260"/>
          </a:xfrm>
          <a:prstGeom prst="rect">
            <a:avLst/>
          </a:prstGeom>
          <a:noFill/>
          <a:ln/>
        </p:spPr>
        <p:txBody>
          <a:bodyPr wrap="square" lIns="25400" tIns="25400" rIns="25400" bIns="25400" rtlCol="0" anchor="t">
            <a:normAutofit/>
          </a:bodyPr>
          <a:lstStyle/>
          <a:p>
            <a:pPr marL="0" indent="0" algn="ctr">
              <a:buNone/>
            </a:pPr>
            <a:r>
              <a:rPr lang="en-US" sz="1800" dirty="0">
                <a:solidFill>
                  <a:srgbClr val="00FF88"/>
                </a:solidFill>
                <a:latin typeface="Courier New" pitchFamily="34" charset="0"/>
                <a:ea typeface="Courier New" pitchFamily="34" charset="-122"/>
                <a:cs typeface="Courier New" pitchFamily="34" charset="-120"/>
              </a:rPr>
              <a:t>Δlon</a:t>
            </a:r>
            <a:endParaRPr lang="en-US" sz="1800" dirty="0"/>
          </a:p>
        </p:txBody>
      </p:sp>
      <p:sp>
        <p:nvSpPr>
          <p:cNvPr id="35" name="Shape 33"/>
          <p:cNvSpPr/>
          <p:nvPr/>
        </p:nvSpPr>
        <p:spPr>
          <a:xfrm>
            <a:off x="14770101" y="7131050"/>
            <a:ext cx="2565400" cy="513080"/>
          </a:xfrm>
          <a:prstGeom prst="roundRect">
            <a:avLst>
              <a:gd name="adj" fmla="val 11139"/>
            </a:avLst>
          </a:prstGeom>
          <a:solidFill>
            <a:srgbClr val="00FF88">
              <a:alpha val="6000"/>
            </a:srgbClr>
          </a:solidFill>
          <a:ln w="10160">
            <a:solidFill>
              <a:srgbClr val="00FF88">
                <a:alpha val="20000"/>
              </a:srgbClr>
            </a:solidFill>
            <a:prstDash val="solid"/>
          </a:ln>
        </p:spPr>
      </p:sp>
      <p:sp>
        <p:nvSpPr>
          <p:cNvPr id="36" name="Text 34"/>
          <p:cNvSpPr/>
          <p:nvPr/>
        </p:nvSpPr>
        <p:spPr>
          <a:xfrm>
            <a:off x="14856080" y="7255510"/>
            <a:ext cx="2393442" cy="302260"/>
          </a:xfrm>
          <a:prstGeom prst="rect">
            <a:avLst/>
          </a:prstGeom>
          <a:noFill/>
          <a:ln/>
        </p:spPr>
        <p:txBody>
          <a:bodyPr wrap="square" lIns="25400" tIns="25400" rIns="25400" bIns="25400" rtlCol="0" anchor="t">
            <a:normAutofit/>
          </a:bodyPr>
          <a:lstStyle/>
          <a:p>
            <a:pPr marL="0" indent="0" algn="ctr">
              <a:buNone/>
            </a:pPr>
            <a:r>
              <a:rPr lang="en-US" sz="1800" dirty="0">
                <a:solidFill>
                  <a:srgbClr val="00FF88"/>
                </a:solidFill>
                <a:latin typeface="Courier New" pitchFamily="34" charset="0"/>
                <a:ea typeface="Courier New" pitchFamily="34" charset="-122"/>
                <a:cs typeface="Courier New" pitchFamily="34" charset="-120"/>
              </a:rPr>
              <a:t>Δalt</a:t>
            </a:r>
            <a:endParaRPr lang="en-US" sz="1800" dirty="0"/>
          </a:p>
        </p:txBody>
      </p:sp>
      <p:sp>
        <p:nvSpPr>
          <p:cNvPr id="37" name="Text 35"/>
          <p:cNvSpPr/>
          <p:nvPr/>
        </p:nvSpPr>
        <p:spPr>
          <a:xfrm>
            <a:off x="11150441" y="7758431"/>
            <a:ext cx="4578677" cy="322580"/>
          </a:xfrm>
          <a:prstGeom prst="rect">
            <a:avLst/>
          </a:prstGeom>
          <a:noFill/>
          <a:ln/>
        </p:spPr>
        <p:txBody>
          <a:bodyPr wrap="square" lIns="25400" tIns="25400" rIns="25400" bIns="25400" rtlCol="0" anchor="t">
            <a:normAutofit/>
          </a:bodyPr>
          <a:lstStyle/>
          <a:p>
            <a:pPr marL="0" indent="0" algn="l">
              <a:buNone/>
            </a:pPr>
            <a:r>
              <a:rPr lang="en-US" sz="1950" dirty="0">
                <a:solidFill>
                  <a:srgbClr val="5A7A9A"/>
                </a:solidFill>
                <a:latin typeface="Arial" pitchFamily="34" charset="0"/>
                <a:ea typeface="Arial" pitchFamily="34" charset="-122"/>
                <a:cs typeface="Arial" pitchFamily="34" charset="-120"/>
              </a:rPr>
              <a:t>+ Great-circle baseline = Final prediction</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sp>
        <p:nvSpPr>
          <p:cNvPr id="7" name="Shape 5"/>
          <p:cNvSpPr/>
          <p:nvPr/>
        </p:nvSpPr>
        <p:spPr>
          <a:xfrm>
            <a:off x="952500" y="762000"/>
            <a:ext cx="2321878" cy="398780"/>
          </a:xfrm>
          <a:prstGeom prst="roundRect">
            <a:avLst>
              <a:gd name="adj" fmla="val 9554"/>
            </a:avLst>
          </a:prstGeom>
          <a:ln w="10160">
            <a:solidFill>
              <a:srgbClr val="00FF88"/>
            </a:solidFill>
            <a:prstDash val="solid"/>
          </a:ln>
        </p:spPr>
      </p:sp>
      <p:sp>
        <p:nvSpPr>
          <p:cNvPr id="8" name="Text 6"/>
          <p:cNvSpPr/>
          <p:nvPr/>
        </p:nvSpPr>
        <p:spPr>
          <a:xfrm>
            <a:off x="1153160" y="829310"/>
            <a:ext cx="1996758"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FF88"/>
                </a:solidFill>
                <a:latin typeface="Courier New" pitchFamily="34" charset="0"/>
                <a:ea typeface="Courier New" pitchFamily="34" charset="-122"/>
                <a:cs typeface="Courier New" pitchFamily="34" charset="-120"/>
              </a:rPr>
              <a:t>GRU TRAINING</a:t>
            </a:r>
            <a:endParaRPr lang="en-US" sz="1800" dirty="0"/>
          </a:p>
        </p:txBody>
      </p:sp>
      <p:sp>
        <p:nvSpPr>
          <p:cNvPr id="9" name="Text 7"/>
          <p:cNvSpPr/>
          <p:nvPr/>
        </p:nvSpPr>
        <p:spPr>
          <a:xfrm>
            <a:off x="952500" y="1465580"/>
            <a:ext cx="16874491" cy="708660"/>
          </a:xfrm>
          <a:prstGeom prst="rect">
            <a:avLst/>
          </a:prstGeom>
          <a:noFill/>
          <a:ln/>
        </p:spPr>
        <p:txBody>
          <a:bodyPr wrap="square" lIns="25400" tIns="25400" rIns="25400" bIns="25400" rtlCol="0" anchor="t">
            <a:normAutofit/>
          </a:bodyPr>
          <a:lstStyle/>
          <a:p>
            <a:pPr marL="0" indent="0" algn="l">
              <a:lnSpc>
                <a:spcPct val="110000"/>
              </a:lnSpc>
              <a:buNone/>
            </a:pPr>
            <a:r>
              <a:rPr lang="en-US" sz="4800" b="1" dirty="0">
                <a:solidFill>
                  <a:srgbClr val="E8F4FF"/>
                </a:solidFill>
                <a:latin typeface="Arial" pitchFamily="34" charset="0"/>
                <a:ea typeface="Arial" pitchFamily="34" charset="-122"/>
                <a:cs typeface="Arial" pitchFamily="34" charset="-120"/>
              </a:rPr>
              <a:t>Training </a:t>
            </a:r>
            <a:r>
              <a:rPr lang="en-US" sz="4800" b="1" dirty="0">
                <a:solidFill>
                  <a:srgbClr val="00FF88"/>
                </a:solidFill>
                <a:latin typeface="Arial" pitchFamily="34" charset="0"/>
                <a:ea typeface="Arial" pitchFamily="34" charset="-122"/>
                <a:cs typeface="Arial" pitchFamily="34" charset="-120"/>
              </a:rPr>
              <a:t>Details</a:t>
            </a:r>
            <a:endParaRPr lang="en-US" sz="4800" dirty="0"/>
          </a:p>
        </p:txBody>
      </p:sp>
      <p:sp>
        <p:nvSpPr>
          <p:cNvPr id="10" name="Text 8"/>
          <p:cNvSpPr/>
          <p:nvPr/>
        </p:nvSpPr>
        <p:spPr>
          <a:xfrm>
            <a:off x="952500" y="2631440"/>
            <a:ext cx="8201788" cy="312420"/>
          </a:xfrm>
          <a:prstGeom prst="rect">
            <a:avLst/>
          </a:prstGeom>
          <a:noFill/>
          <a:ln/>
        </p:spPr>
        <p:txBody>
          <a:bodyPr wrap="square" lIns="25400" tIns="25400" rIns="25400" bIns="25400" rtlCol="0" anchor="t">
            <a:normAutofit/>
          </a:bodyPr>
          <a:lstStyle/>
          <a:p>
            <a:pPr marL="0" indent="0" algn="l">
              <a:buNone/>
            </a:pPr>
            <a:r>
              <a:rPr lang="en-US" sz="1950" kern="0" spc="195" dirty="0">
                <a:solidFill>
                  <a:srgbClr val="00D4FF"/>
                </a:solidFill>
                <a:latin typeface="Courier New" pitchFamily="34" charset="0"/>
                <a:ea typeface="Courier New" pitchFamily="34" charset="-122"/>
                <a:cs typeface="Courier New" pitchFamily="34" charset="-120"/>
              </a:rPr>
              <a:t>DATASET SPLIT</a:t>
            </a:r>
            <a:endParaRPr lang="en-US" sz="1950" dirty="0"/>
          </a:p>
        </p:txBody>
      </p:sp>
      <p:sp>
        <p:nvSpPr>
          <p:cNvPr id="11" name="Shape 9"/>
          <p:cNvSpPr/>
          <p:nvPr/>
        </p:nvSpPr>
        <p:spPr>
          <a:xfrm>
            <a:off x="952500" y="3901440"/>
            <a:ext cx="7962901" cy="10160"/>
          </a:xfrm>
          <a:prstGeom prst="rect">
            <a:avLst/>
          </a:prstGeom>
          <a:solidFill>
            <a:srgbClr val="FFFFFF">
              <a:alpha val="7000"/>
            </a:srgbClr>
          </a:solidFill>
          <a:ln/>
        </p:spPr>
      </p:sp>
      <p:sp>
        <p:nvSpPr>
          <p:cNvPr id="12" name="Text 10"/>
          <p:cNvSpPr/>
          <p:nvPr/>
        </p:nvSpPr>
        <p:spPr>
          <a:xfrm>
            <a:off x="952500" y="3425190"/>
            <a:ext cx="830580"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TRAIN</a:t>
            </a:r>
            <a:endParaRPr lang="en-US" sz="1800" dirty="0"/>
          </a:p>
        </p:txBody>
      </p:sp>
      <p:sp>
        <p:nvSpPr>
          <p:cNvPr id="13" name="Text 11"/>
          <p:cNvSpPr/>
          <p:nvPr/>
        </p:nvSpPr>
        <p:spPr>
          <a:xfrm>
            <a:off x="6240304" y="3343910"/>
            <a:ext cx="2755349" cy="424180"/>
          </a:xfrm>
          <a:prstGeom prst="rect">
            <a:avLst/>
          </a:prstGeom>
          <a:noFill/>
          <a:ln/>
        </p:spPr>
        <p:txBody>
          <a:bodyPr wrap="square" lIns="25400" tIns="25400" rIns="25400" bIns="25400" rtlCol="0" anchor="t">
            <a:normAutofit/>
          </a:bodyPr>
          <a:lstStyle/>
          <a:p>
            <a:pPr marL="0" indent="0" algn="l">
              <a:buNone/>
            </a:pPr>
            <a:r>
              <a:rPr lang="en-US" sz="2700" dirty="0">
                <a:solidFill>
                  <a:srgbClr val="E8F4FF"/>
                </a:solidFill>
                <a:latin typeface="Courier New" pitchFamily="34" charset="0"/>
                <a:ea typeface="Courier New" pitchFamily="34" charset="-122"/>
                <a:cs typeface="Courier New" pitchFamily="34" charset="-120"/>
              </a:rPr>
              <a:t>1,094 flights</a:t>
            </a:r>
            <a:endParaRPr lang="en-US" sz="2700" dirty="0"/>
          </a:p>
        </p:txBody>
      </p:sp>
      <p:sp>
        <p:nvSpPr>
          <p:cNvPr id="14" name="Shape 12"/>
          <p:cNvSpPr/>
          <p:nvPr/>
        </p:nvSpPr>
        <p:spPr>
          <a:xfrm>
            <a:off x="952500" y="4640580"/>
            <a:ext cx="7962901" cy="10160"/>
          </a:xfrm>
          <a:prstGeom prst="rect">
            <a:avLst/>
          </a:prstGeom>
          <a:solidFill>
            <a:srgbClr val="FFFFFF">
              <a:alpha val="7000"/>
            </a:srgbClr>
          </a:solidFill>
          <a:ln/>
        </p:spPr>
      </p:sp>
      <p:sp>
        <p:nvSpPr>
          <p:cNvPr id="15" name="Text 13"/>
          <p:cNvSpPr/>
          <p:nvPr/>
        </p:nvSpPr>
        <p:spPr>
          <a:xfrm>
            <a:off x="952500" y="4164330"/>
            <a:ext cx="1538764"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VALIDATION</a:t>
            </a:r>
            <a:endParaRPr lang="en-US" sz="1800" dirty="0"/>
          </a:p>
        </p:txBody>
      </p:sp>
      <p:sp>
        <p:nvSpPr>
          <p:cNvPr id="16" name="Text 14"/>
          <p:cNvSpPr/>
          <p:nvPr/>
        </p:nvSpPr>
        <p:spPr>
          <a:xfrm>
            <a:off x="6651784" y="4083050"/>
            <a:ext cx="2339816" cy="424180"/>
          </a:xfrm>
          <a:prstGeom prst="rect">
            <a:avLst/>
          </a:prstGeom>
          <a:noFill/>
          <a:ln/>
        </p:spPr>
        <p:txBody>
          <a:bodyPr wrap="square" lIns="25400" tIns="25400" rIns="25400" bIns="25400" rtlCol="0" anchor="t">
            <a:normAutofit/>
          </a:bodyPr>
          <a:lstStyle/>
          <a:p>
            <a:pPr marL="0" indent="0" algn="l">
              <a:buNone/>
            </a:pPr>
            <a:r>
              <a:rPr lang="en-US" sz="2700" dirty="0">
                <a:solidFill>
                  <a:srgbClr val="E8F4FF"/>
                </a:solidFill>
                <a:latin typeface="Courier New" pitchFamily="34" charset="0"/>
                <a:ea typeface="Courier New" pitchFamily="34" charset="-122"/>
                <a:cs typeface="Courier New" pitchFamily="34" charset="-120"/>
              </a:rPr>
              <a:t>189 flights</a:t>
            </a:r>
            <a:endParaRPr lang="en-US" sz="2700" dirty="0"/>
          </a:p>
        </p:txBody>
      </p:sp>
      <p:sp>
        <p:nvSpPr>
          <p:cNvPr id="17" name="Shape 15"/>
          <p:cNvSpPr/>
          <p:nvPr/>
        </p:nvSpPr>
        <p:spPr>
          <a:xfrm>
            <a:off x="952500" y="5379720"/>
            <a:ext cx="7962901" cy="10160"/>
          </a:xfrm>
          <a:prstGeom prst="rect">
            <a:avLst/>
          </a:prstGeom>
          <a:solidFill>
            <a:srgbClr val="FFFFFF">
              <a:alpha val="7000"/>
            </a:srgbClr>
          </a:solidFill>
          <a:ln/>
        </p:spPr>
      </p:sp>
      <p:sp>
        <p:nvSpPr>
          <p:cNvPr id="18" name="Text 16"/>
          <p:cNvSpPr/>
          <p:nvPr/>
        </p:nvSpPr>
        <p:spPr>
          <a:xfrm>
            <a:off x="952500" y="4903470"/>
            <a:ext cx="715328"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TEST</a:t>
            </a:r>
            <a:endParaRPr lang="en-US" sz="1800" dirty="0"/>
          </a:p>
        </p:txBody>
      </p:sp>
      <p:sp>
        <p:nvSpPr>
          <p:cNvPr id="19" name="Text 17"/>
          <p:cNvSpPr/>
          <p:nvPr/>
        </p:nvSpPr>
        <p:spPr>
          <a:xfrm>
            <a:off x="6651784" y="4822190"/>
            <a:ext cx="2339816" cy="424180"/>
          </a:xfrm>
          <a:prstGeom prst="rect">
            <a:avLst/>
          </a:prstGeom>
          <a:noFill/>
          <a:ln/>
        </p:spPr>
        <p:txBody>
          <a:bodyPr wrap="square" lIns="25400" tIns="25400" rIns="25400" bIns="25400" rtlCol="0" anchor="t">
            <a:normAutofit/>
          </a:bodyPr>
          <a:lstStyle/>
          <a:p>
            <a:pPr marL="0" indent="0" algn="l">
              <a:buNone/>
            </a:pPr>
            <a:r>
              <a:rPr lang="en-US" sz="2700" dirty="0">
                <a:solidFill>
                  <a:srgbClr val="E8F4FF"/>
                </a:solidFill>
                <a:latin typeface="Courier New" pitchFamily="34" charset="0"/>
                <a:ea typeface="Courier New" pitchFamily="34" charset="-122"/>
                <a:cs typeface="Courier New" pitchFamily="34" charset="-120"/>
              </a:rPr>
              <a:t>240 flights</a:t>
            </a:r>
            <a:endParaRPr lang="en-US" sz="2700" dirty="0"/>
          </a:p>
        </p:txBody>
      </p:sp>
      <p:sp>
        <p:nvSpPr>
          <p:cNvPr id="20" name="Text 18"/>
          <p:cNvSpPr/>
          <p:nvPr/>
        </p:nvSpPr>
        <p:spPr>
          <a:xfrm>
            <a:off x="952500" y="5581651"/>
            <a:ext cx="2178050"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SPLIT STRATEGY</a:t>
            </a:r>
            <a:endParaRPr lang="en-US" sz="1800" dirty="0"/>
          </a:p>
        </p:txBody>
      </p:sp>
      <p:sp>
        <p:nvSpPr>
          <p:cNvPr id="21" name="Text 19"/>
          <p:cNvSpPr/>
          <p:nvPr/>
        </p:nvSpPr>
        <p:spPr>
          <a:xfrm>
            <a:off x="5394325" y="5561330"/>
            <a:ext cx="3626707" cy="342900"/>
          </a:xfrm>
          <a:prstGeom prst="rect">
            <a:avLst/>
          </a:prstGeom>
          <a:noFill/>
          <a:ln/>
        </p:spPr>
        <p:txBody>
          <a:bodyPr wrap="square" lIns="25400" tIns="25400" rIns="25400" bIns="25400" rtlCol="0" anchor="t">
            <a:normAutofit/>
          </a:bodyPr>
          <a:lstStyle/>
          <a:p>
            <a:pPr marL="0" indent="0" algn="l">
              <a:buNone/>
            </a:pPr>
            <a:r>
              <a:rPr lang="en-US" sz="2100" dirty="0">
                <a:solidFill>
                  <a:srgbClr val="E8F4FF"/>
                </a:solidFill>
                <a:latin typeface="Courier New" pitchFamily="34" charset="0"/>
                <a:ea typeface="Courier New" pitchFamily="34" charset="-122"/>
                <a:cs typeface="Courier New" pitchFamily="34" charset="-120"/>
              </a:rPr>
              <a:t>By ICAO24 — no leakage</a:t>
            </a:r>
            <a:endParaRPr lang="en-US" sz="2100" dirty="0"/>
          </a:p>
        </p:txBody>
      </p:sp>
      <p:sp>
        <p:nvSpPr>
          <p:cNvPr id="22" name="Shape 20"/>
          <p:cNvSpPr/>
          <p:nvPr/>
        </p:nvSpPr>
        <p:spPr>
          <a:xfrm>
            <a:off x="952500" y="6380480"/>
            <a:ext cx="7962901" cy="1046480"/>
          </a:xfrm>
          <a:prstGeom prst="roundRect">
            <a:avLst>
              <a:gd name="adj" fmla="val 7282"/>
            </a:avLst>
          </a:prstGeom>
          <a:solidFill>
            <a:srgbClr val="00FF88">
              <a:alpha val="6000"/>
            </a:srgbClr>
          </a:solidFill>
          <a:ln w="10160">
            <a:solidFill>
              <a:srgbClr val="00FF88">
                <a:alpha val="20000"/>
              </a:srgbClr>
            </a:solidFill>
            <a:prstDash val="solid"/>
          </a:ln>
        </p:spPr>
      </p:sp>
      <p:sp>
        <p:nvSpPr>
          <p:cNvPr id="23" name="Text 21"/>
          <p:cNvSpPr/>
          <p:nvPr/>
        </p:nvSpPr>
        <p:spPr>
          <a:xfrm>
            <a:off x="1229360" y="6619240"/>
            <a:ext cx="7631456" cy="607060"/>
          </a:xfrm>
          <a:prstGeom prst="rect">
            <a:avLst/>
          </a:prstGeom>
          <a:noFill/>
          <a:ln/>
        </p:spPr>
        <p:txBody>
          <a:bodyPr wrap="square" lIns="25400" tIns="25400" rIns="25400" bIns="25400" rtlCol="0" anchor="t">
            <a:normAutofit/>
          </a:bodyPr>
          <a:lstStyle/>
          <a:p>
            <a:pPr marL="0" indent="0" algn="l">
              <a:buNone/>
            </a:pPr>
            <a:r>
              <a:rPr lang="en-US" sz="1950" dirty="0">
                <a:solidFill>
                  <a:srgbClr val="E8F4FF">
                    <a:alpha val="80000"/>
                  </a:srgbClr>
                </a:solidFill>
                <a:latin typeface="Arial" pitchFamily="34" charset="0"/>
                <a:ea typeface="Arial" pitchFamily="34" charset="-122"/>
                <a:cs typeface="Arial" pitchFamily="34" charset="-120"/>
              </a:rPr>
              <a:t>Split by aircraft identifier ensures no aircraft seen in training appears in the test set</a:t>
            </a:r>
            <a:endParaRPr lang="en-US" sz="1950" dirty="0"/>
          </a:p>
        </p:txBody>
      </p:sp>
      <p:sp>
        <p:nvSpPr>
          <p:cNvPr id="24" name="Text 22"/>
          <p:cNvSpPr/>
          <p:nvPr/>
        </p:nvSpPr>
        <p:spPr>
          <a:xfrm>
            <a:off x="9372601" y="2631440"/>
            <a:ext cx="8201788" cy="312420"/>
          </a:xfrm>
          <a:prstGeom prst="rect">
            <a:avLst/>
          </a:prstGeom>
          <a:noFill/>
          <a:ln/>
        </p:spPr>
        <p:txBody>
          <a:bodyPr wrap="square" lIns="25400" tIns="25400" rIns="25400" bIns="25400" rtlCol="0" anchor="t">
            <a:normAutofit/>
          </a:bodyPr>
          <a:lstStyle/>
          <a:p>
            <a:pPr marL="0" indent="0" algn="l">
              <a:buNone/>
            </a:pPr>
            <a:r>
              <a:rPr lang="en-US" sz="1950" kern="0" spc="195" dirty="0">
                <a:solidFill>
                  <a:srgbClr val="00D4FF"/>
                </a:solidFill>
                <a:latin typeface="Courier New" pitchFamily="34" charset="0"/>
                <a:ea typeface="Courier New" pitchFamily="34" charset="-122"/>
                <a:cs typeface="Courier New" pitchFamily="34" charset="-120"/>
              </a:rPr>
              <a:t>MODEL CONFIG</a:t>
            </a:r>
            <a:endParaRPr lang="en-US" sz="1950" dirty="0"/>
          </a:p>
        </p:txBody>
      </p:sp>
      <p:sp>
        <p:nvSpPr>
          <p:cNvPr id="25" name="Shape 23"/>
          <p:cNvSpPr/>
          <p:nvPr/>
        </p:nvSpPr>
        <p:spPr>
          <a:xfrm>
            <a:off x="9372601" y="3830320"/>
            <a:ext cx="7962901" cy="10160"/>
          </a:xfrm>
          <a:prstGeom prst="rect">
            <a:avLst/>
          </a:prstGeom>
          <a:solidFill>
            <a:srgbClr val="FFFFFF">
              <a:alpha val="7000"/>
            </a:srgbClr>
          </a:solidFill>
          <a:ln/>
        </p:spPr>
      </p:sp>
      <p:sp>
        <p:nvSpPr>
          <p:cNvPr id="26" name="Text 24"/>
          <p:cNvSpPr/>
          <p:nvPr/>
        </p:nvSpPr>
        <p:spPr>
          <a:xfrm>
            <a:off x="9372601" y="3374390"/>
            <a:ext cx="1675130"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HIDDEN SIZE</a:t>
            </a:r>
            <a:endParaRPr lang="en-US" sz="1800" dirty="0"/>
          </a:p>
        </p:txBody>
      </p:sp>
      <p:sp>
        <p:nvSpPr>
          <p:cNvPr id="27" name="Text 25"/>
          <p:cNvSpPr/>
          <p:nvPr/>
        </p:nvSpPr>
        <p:spPr>
          <a:xfrm>
            <a:off x="16821151" y="3343910"/>
            <a:ext cx="590550" cy="353060"/>
          </a:xfrm>
          <a:prstGeom prst="rect">
            <a:avLst/>
          </a:prstGeom>
          <a:noFill/>
          <a:ln/>
        </p:spPr>
        <p:txBody>
          <a:bodyPr wrap="square" lIns="25400" tIns="25400" rIns="25400" bIns="25400" rtlCol="0" anchor="t">
            <a:normAutofit/>
          </a:bodyPr>
          <a:lstStyle/>
          <a:p>
            <a:pPr marL="0" indent="0" algn="l">
              <a:buNone/>
            </a:pPr>
            <a:r>
              <a:rPr lang="en-US" sz="2250" dirty="0">
                <a:solidFill>
                  <a:srgbClr val="E8F4FF"/>
                </a:solidFill>
                <a:latin typeface="Courier New" pitchFamily="34" charset="0"/>
                <a:ea typeface="Courier New" pitchFamily="34" charset="-122"/>
                <a:cs typeface="Courier New" pitchFamily="34" charset="-120"/>
              </a:rPr>
              <a:t>160</a:t>
            </a:r>
            <a:endParaRPr lang="en-US" sz="2250" dirty="0"/>
          </a:p>
        </p:txBody>
      </p:sp>
      <p:sp>
        <p:nvSpPr>
          <p:cNvPr id="28" name="Shape 26"/>
          <p:cNvSpPr/>
          <p:nvPr/>
        </p:nvSpPr>
        <p:spPr>
          <a:xfrm>
            <a:off x="9372601" y="4498340"/>
            <a:ext cx="7962901" cy="10160"/>
          </a:xfrm>
          <a:prstGeom prst="rect">
            <a:avLst/>
          </a:prstGeom>
          <a:solidFill>
            <a:srgbClr val="FFFFFF">
              <a:alpha val="7000"/>
            </a:srgbClr>
          </a:solidFill>
          <a:ln/>
        </p:spPr>
      </p:sp>
      <p:sp>
        <p:nvSpPr>
          <p:cNvPr id="29" name="Text 27"/>
          <p:cNvSpPr/>
          <p:nvPr/>
        </p:nvSpPr>
        <p:spPr>
          <a:xfrm>
            <a:off x="9372601" y="4042410"/>
            <a:ext cx="1043781"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LAYERS</a:t>
            </a:r>
            <a:endParaRPr lang="en-US" sz="1800" dirty="0"/>
          </a:p>
        </p:txBody>
      </p:sp>
      <p:sp>
        <p:nvSpPr>
          <p:cNvPr id="30" name="Text 28"/>
          <p:cNvSpPr/>
          <p:nvPr/>
        </p:nvSpPr>
        <p:spPr>
          <a:xfrm>
            <a:off x="14420851" y="4011930"/>
            <a:ext cx="3002090" cy="353060"/>
          </a:xfrm>
          <a:prstGeom prst="rect">
            <a:avLst/>
          </a:prstGeom>
          <a:noFill/>
          <a:ln/>
        </p:spPr>
        <p:txBody>
          <a:bodyPr wrap="square" lIns="25400" tIns="25400" rIns="25400" bIns="25400" rtlCol="0" anchor="t">
            <a:normAutofit/>
          </a:bodyPr>
          <a:lstStyle/>
          <a:p>
            <a:pPr marL="0" indent="0" algn="l">
              <a:buNone/>
            </a:pPr>
            <a:r>
              <a:rPr lang="en-US" sz="2250" dirty="0">
                <a:solidFill>
                  <a:srgbClr val="E8F4FF"/>
                </a:solidFill>
                <a:latin typeface="Courier New" pitchFamily="34" charset="0"/>
                <a:ea typeface="Courier New" pitchFamily="34" charset="-122"/>
                <a:cs typeface="Courier New" pitchFamily="34" charset="-120"/>
              </a:rPr>
              <a:t>2 (bidirectional)</a:t>
            </a:r>
            <a:endParaRPr lang="en-US" sz="2250" dirty="0"/>
          </a:p>
        </p:txBody>
      </p:sp>
      <p:sp>
        <p:nvSpPr>
          <p:cNvPr id="31" name="Shape 29"/>
          <p:cNvSpPr/>
          <p:nvPr/>
        </p:nvSpPr>
        <p:spPr>
          <a:xfrm>
            <a:off x="9372601" y="5166360"/>
            <a:ext cx="7962901" cy="10160"/>
          </a:xfrm>
          <a:prstGeom prst="rect">
            <a:avLst/>
          </a:prstGeom>
          <a:solidFill>
            <a:srgbClr val="FFFFFF">
              <a:alpha val="7000"/>
            </a:srgbClr>
          </a:solidFill>
          <a:ln/>
        </p:spPr>
      </p:sp>
      <p:sp>
        <p:nvSpPr>
          <p:cNvPr id="32" name="Text 30"/>
          <p:cNvSpPr/>
          <p:nvPr/>
        </p:nvSpPr>
        <p:spPr>
          <a:xfrm>
            <a:off x="9372601" y="4710430"/>
            <a:ext cx="1444308"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OPTIMIZER</a:t>
            </a:r>
            <a:endParaRPr lang="en-US" sz="1800" dirty="0"/>
          </a:p>
        </p:txBody>
      </p:sp>
      <p:sp>
        <p:nvSpPr>
          <p:cNvPr id="33" name="Text 31"/>
          <p:cNvSpPr/>
          <p:nvPr/>
        </p:nvSpPr>
        <p:spPr>
          <a:xfrm>
            <a:off x="16478251" y="4679950"/>
            <a:ext cx="933450" cy="353060"/>
          </a:xfrm>
          <a:prstGeom prst="rect">
            <a:avLst/>
          </a:prstGeom>
          <a:noFill/>
          <a:ln/>
        </p:spPr>
        <p:txBody>
          <a:bodyPr wrap="square" lIns="25400" tIns="25400" rIns="25400" bIns="25400" rtlCol="0" anchor="t">
            <a:normAutofit/>
          </a:bodyPr>
          <a:lstStyle/>
          <a:p>
            <a:pPr marL="0" indent="0" algn="l">
              <a:buNone/>
            </a:pPr>
            <a:r>
              <a:rPr lang="en-US" sz="2250" dirty="0">
                <a:solidFill>
                  <a:srgbClr val="E8F4FF"/>
                </a:solidFill>
                <a:latin typeface="Courier New" pitchFamily="34" charset="0"/>
                <a:ea typeface="Courier New" pitchFamily="34" charset="-122"/>
                <a:cs typeface="Courier New" pitchFamily="34" charset="-120"/>
              </a:rPr>
              <a:t>AdamW</a:t>
            </a:r>
            <a:endParaRPr lang="en-US" sz="2250" dirty="0"/>
          </a:p>
        </p:txBody>
      </p:sp>
      <p:sp>
        <p:nvSpPr>
          <p:cNvPr id="34" name="Shape 32"/>
          <p:cNvSpPr/>
          <p:nvPr/>
        </p:nvSpPr>
        <p:spPr>
          <a:xfrm>
            <a:off x="9372601" y="5834380"/>
            <a:ext cx="7962901" cy="10160"/>
          </a:xfrm>
          <a:prstGeom prst="rect">
            <a:avLst/>
          </a:prstGeom>
          <a:solidFill>
            <a:srgbClr val="FFFFFF">
              <a:alpha val="7000"/>
            </a:srgbClr>
          </a:solidFill>
          <a:ln/>
        </p:spPr>
      </p:sp>
      <p:sp>
        <p:nvSpPr>
          <p:cNvPr id="35" name="Text 33"/>
          <p:cNvSpPr/>
          <p:nvPr/>
        </p:nvSpPr>
        <p:spPr>
          <a:xfrm>
            <a:off x="9372601" y="5378450"/>
            <a:ext cx="2237581"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EARLY STOPPING</a:t>
            </a:r>
            <a:endParaRPr lang="en-US" sz="1800" dirty="0"/>
          </a:p>
        </p:txBody>
      </p:sp>
      <p:sp>
        <p:nvSpPr>
          <p:cNvPr id="36" name="Text 34"/>
          <p:cNvSpPr/>
          <p:nvPr/>
        </p:nvSpPr>
        <p:spPr>
          <a:xfrm>
            <a:off x="15963901" y="5347970"/>
            <a:ext cx="1447800" cy="353060"/>
          </a:xfrm>
          <a:prstGeom prst="rect">
            <a:avLst/>
          </a:prstGeom>
          <a:noFill/>
          <a:ln/>
        </p:spPr>
        <p:txBody>
          <a:bodyPr wrap="square" lIns="25400" tIns="25400" rIns="25400" bIns="25400" rtlCol="0" anchor="t">
            <a:normAutofit/>
          </a:bodyPr>
          <a:lstStyle/>
          <a:p>
            <a:pPr marL="0" indent="0" algn="l">
              <a:buNone/>
            </a:pPr>
            <a:r>
              <a:rPr lang="en-US" sz="2250" dirty="0">
                <a:solidFill>
                  <a:srgbClr val="E8F4FF"/>
                </a:solidFill>
                <a:latin typeface="Courier New" pitchFamily="34" charset="0"/>
                <a:ea typeface="Courier New" pitchFamily="34" charset="-122"/>
                <a:cs typeface="Courier New" pitchFamily="34" charset="-120"/>
              </a:rPr>
              <a:t>Epoch 27</a:t>
            </a:r>
            <a:endParaRPr lang="en-US" sz="2250" dirty="0"/>
          </a:p>
        </p:txBody>
      </p:sp>
      <p:sp>
        <p:nvSpPr>
          <p:cNvPr id="37" name="Shape 35"/>
          <p:cNvSpPr/>
          <p:nvPr/>
        </p:nvSpPr>
        <p:spPr>
          <a:xfrm>
            <a:off x="9372601" y="6502400"/>
            <a:ext cx="7962901" cy="10160"/>
          </a:xfrm>
          <a:prstGeom prst="rect">
            <a:avLst/>
          </a:prstGeom>
          <a:solidFill>
            <a:srgbClr val="FFFFFF">
              <a:alpha val="7000"/>
            </a:srgbClr>
          </a:solidFill>
          <a:ln/>
        </p:spPr>
      </p:sp>
      <p:sp>
        <p:nvSpPr>
          <p:cNvPr id="38" name="Text 36"/>
          <p:cNvSpPr/>
          <p:nvPr/>
        </p:nvSpPr>
        <p:spPr>
          <a:xfrm>
            <a:off x="9372601" y="6046470"/>
            <a:ext cx="1510983"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HARDWARE</a:t>
            </a:r>
            <a:endParaRPr lang="en-US" sz="1800" dirty="0"/>
          </a:p>
        </p:txBody>
      </p:sp>
      <p:sp>
        <p:nvSpPr>
          <p:cNvPr id="39" name="Text 37"/>
          <p:cNvSpPr/>
          <p:nvPr/>
        </p:nvSpPr>
        <p:spPr>
          <a:xfrm>
            <a:off x="14763751" y="6015990"/>
            <a:ext cx="2648903" cy="353060"/>
          </a:xfrm>
          <a:prstGeom prst="rect">
            <a:avLst/>
          </a:prstGeom>
          <a:noFill/>
          <a:ln/>
        </p:spPr>
        <p:txBody>
          <a:bodyPr wrap="square" lIns="25400" tIns="25400" rIns="25400" bIns="25400" rtlCol="0" anchor="t">
            <a:normAutofit/>
          </a:bodyPr>
          <a:lstStyle/>
          <a:p>
            <a:pPr marL="0" indent="0" algn="l">
              <a:buNone/>
            </a:pPr>
            <a:r>
              <a:rPr lang="en-US" sz="2250" dirty="0">
                <a:solidFill>
                  <a:srgbClr val="E8F4FF"/>
                </a:solidFill>
                <a:latin typeface="Courier New" pitchFamily="34" charset="0"/>
                <a:ea typeface="Courier New" pitchFamily="34" charset="-122"/>
                <a:cs typeface="Courier New" pitchFamily="34" charset="-120"/>
              </a:rPr>
              <a:t>Google Colab T4</a:t>
            </a:r>
            <a:endParaRPr lang="en-US" sz="2250" dirty="0"/>
          </a:p>
        </p:txBody>
      </p:sp>
      <p:sp>
        <p:nvSpPr>
          <p:cNvPr id="40" name="Text 38"/>
          <p:cNvSpPr/>
          <p:nvPr/>
        </p:nvSpPr>
        <p:spPr>
          <a:xfrm>
            <a:off x="9372601" y="6714490"/>
            <a:ext cx="1771491" cy="30226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5A7A9A"/>
                </a:solidFill>
                <a:latin typeface="Arial" pitchFamily="34" charset="0"/>
                <a:ea typeface="Arial" pitchFamily="34" charset="-122"/>
                <a:cs typeface="Arial" pitchFamily="34" charset="-120"/>
              </a:rPr>
              <a:t>PARAMETERS</a:t>
            </a:r>
            <a:endParaRPr lang="en-US" sz="1800" dirty="0"/>
          </a:p>
        </p:txBody>
      </p:sp>
      <p:sp>
        <p:nvSpPr>
          <p:cNvPr id="41" name="Text 39"/>
          <p:cNvSpPr/>
          <p:nvPr/>
        </p:nvSpPr>
        <p:spPr>
          <a:xfrm>
            <a:off x="16135351" y="6684011"/>
            <a:ext cx="1276350" cy="353060"/>
          </a:xfrm>
          <a:prstGeom prst="rect">
            <a:avLst/>
          </a:prstGeom>
          <a:noFill/>
          <a:ln/>
        </p:spPr>
        <p:txBody>
          <a:bodyPr wrap="square" lIns="25400" tIns="25400" rIns="25400" bIns="25400" rtlCol="0" anchor="t">
            <a:normAutofit/>
          </a:bodyPr>
          <a:lstStyle/>
          <a:p>
            <a:pPr marL="0" indent="0" algn="l">
              <a:buNone/>
            </a:pPr>
            <a:r>
              <a:rPr lang="en-US" sz="2250" dirty="0">
                <a:solidFill>
                  <a:srgbClr val="E8F4FF"/>
                </a:solidFill>
                <a:latin typeface="Courier New" pitchFamily="34" charset="0"/>
                <a:ea typeface="Courier New" pitchFamily="34" charset="-122"/>
                <a:cs typeface="Courier New" pitchFamily="34" charset="-120"/>
              </a:rPr>
              <a:t>693,891</a:t>
            </a:r>
            <a:endParaRPr lang="en-US" sz="2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sp>
        <p:nvSpPr>
          <p:cNvPr id="7" name="Shape 5"/>
          <p:cNvSpPr/>
          <p:nvPr/>
        </p:nvSpPr>
        <p:spPr>
          <a:xfrm>
            <a:off x="952500" y="762000"/>
            <a:ext cx="3602196" cy="398780"/>
          </a:xfrm>
          <a:prstGeom prst="roundRect">
            <a:avLst>
              <a:gd name="adj" fmla="val 9554"/>
            </a:avLst>
          </a:prstGeom>
          <a:ln w="10160">
            <a:solidFill>
              <a:srgbClr val="00D4FF"/>
            </a:solidFill>
            <a:prstDash val="solid"/>
          </a:ln>
        </p:spPr>
      </p:sp>
      <p:sp>
        <p:nvSpPr>
          <p:cNvPr id="8" name="Text 6"/>
          <p:cNvSpPr/>
          <p:nvPr/>
        </p:nvSpPr>
        <p:spPr>
          <a:xfrm>
            <a:off x="1153160" y="829310"/>
            <a:ext cx="3308942"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D4FF"/>
                </a:solidFill>
                <a:latin typeface="Courier New" pitchFamily="34" charset="0"/>
                <a:ea typeface="Courier New" pitchFamily="34" charset="-122"/>
                <a:cs typeface="Courier New" pitchFamily="34" charset="-120"/>
              </a:rPr>
              <a:t>TEST SET PERFORMANCE</a:t>
            </a:r>
            <a:endParaRPr lang="en-US" sz="1800" dirty="0"/>
          </a:p>
        </p:txBody>
      </p:sp>
      <p:sp>
        <p:nvSpPr>
          <p:cNvPr id="9" name="Text 7"/>
          <p:cNvSpPr/>
          <p:nvPr/>
        </p:nvSpPr>
        <p:spPr>
          <a:xfrm>
            <a:off x="952500" y="1465580"/>
            <a:ext cx="16874491" cy="708660"/>
          </a:xfrm>
          <a:prstGeom prst="rect">
            <a:avLst/>
          </a:prstGeom>
          <a:noFill/>
          <a:ln/>
        </p:spPr>
        <p:txBody>
          <a:bodyPr wrap="square" lIns="25400" tIns="25400" rIns="25400" bIns="25400" rtlCol="0" anchor="t">
            <a:normAutofit/>
          </a:bodyPr>
          <a:lstStyle/>
          <a:p>
            <a:pPr marL="0" indent="0" algn="l">
              <a:lnSpc>
                <a:spcPct val="110000"/>
              </a:lnSpc>
              <a:buNone/>
            </a:pPr>
            <a:r>
              <a:rPr lang="en-US" sz="4800" b="1" dirty="0">
                <a:solidFill>
                  <a:srgbClr val="E8F4FF"/>
                </a:solidFill>
                <a:latin typeface="Arial" pitchFamily="34" charset="0"/>
                <a:ea typeface="Arial" pitchFamily="34" charset="-122"/>
                <a:cs typeface="Arial" pitchFamily="34" charset="-120"/>
              </a:rPr>
              <a:t>240 Unseen Flights </a:t>
            </a:r>
            <a:r>
              <a:rPr lang="en-US" sz="3000" dirty="0">
                <a:solidFill>
                  <a:srgbClr val="5A7A9A"/>
                </a:solidFill>
                <a:latin typeface="Arial" pitchFamily="34" charset="0"/>
                <a:ea typeface="Arial" pitchFamily="34" charset="-122"/>
                <a:cs typeface="Arial" pitchFamily="34" charset="-120"/>
              </a:rPr>
              <a:t>— Mean blackout: 239 min</a:t>
            </a:r>
            <a:endParaRPr lang="en-US" sz="4800" dirty="0"/>
          </a:p>
        </p:txBody>
      </p:sp>
      <p:sp>
        <p:nvSpPr>
          <p:cNvPr id="10" name="Shape 8"/>
          <p:cNvSpPr/>
          <p:nvPr/>
        </p:nvSpPr>
        <p:spPr>
          <a:xfrm>
            <a:off x="952500" y="3091180"/>
            <a:ext cx="5897880" cy="10160"/>
          </a:xfrm>
          <a:prstGeom prst="rect">
            <a:avLst/>
          </a:prstGeom>
          <a:solidFill>
            <a:srgbClr val="00D4FF">
              <a:alpha val="20000"/>
            </a:srgbClr>
          </a:solidFill>
          <a:ln/>
        </p:spPr>
      </p:sp>
      <p:sp>
        <p:nvSpPr>
          <p:cNvPr id="11" name="Text 9"/>
          <p:cNvSpPr/>
          <p:nvPr/>
        </p:nvSpPr>
        <p:spPr>
          <a:xfrm>
            <a:off x="1295400" y="2631440"/>
            <a:ext cx="5389017" cy="307340"/>
          </a:xfrm>
          <a:prstGeom prst="rect">
            <a:avLst/>
          </a:prstGeom>
          <a:noFill/>
          <a:ln/>
        </p:spPr>
        <p:txBody>
          <a:bodyPr wrap="square" lIns="25400" tIns="25400" rIns="25400" bIns="25400" rtlCol="0" anchor="ctr">
            <a:normAutofit/>
          </a:bodyPr>
          <a:lstStyle/>
          <a:p>
            <a:pPr marL="0" indent="0" algn="l">
              <a:buNone/>
            </a:pPr>
            <a:r>
              <a:rPr lang="en-US" sz="1950" b="1" kern="0" spc="156" dirty="0">
                <a:solidFill>
                  <a:srgbClr val="5A7A9A"/>
                </a:solidFill>
                <a:latin typeface="Courier New" pitchFamily="34" charset="0"/>
                <a:ea typeface="Courier New" pitchFamily="34" charset="-122"/>
                <a:cs typeface="Courier New" pitchFamily="34" charset="-120"/>
              </a:rPr>
              <a:t>METHOD</a:t>
            </a:r>
            <a:endParaRPr lang="en-US" sz="1950" dirty="0"/>
          </a:p>
        </p:txBody>
      </p:sp>
      <p:sp>
        <p:nvSpPr>
          <p:cNvPr id="12" name="Shape 10"/>
          <p:cNvSpPr/>
          <p:nvPr/>
        </p:nvSpPr>
        <p:spPr>
          <a:xfrm>
            <a:off x="6850380" y="3091180"/>
            <a:ext cx="2557145" cy="10160"/>
          </a:xfrm>
          <a:prstGeom prst="rect">
            <a:avLst/>
          </a:prstGeom>
          <a:solidFill>
            <a:srgbClr val="00D4FF">
              <a:alpha val="20000"/>
            </a:srgbClr>
          </a:solidFill>
          <a:ln/>
        </p:spPr>
      </p:sp>
      <p:sp>
        <p:nvSpPr>
          <p:cNvPr id="13" name="Text 11"/>
          <p:cNvSpPr/>
          <p:nvPr/>
        </p:nvSpPr>
        <p:spPr>
          <a:xfrm>
            <a:off x="7116566" y="2631440"/>
            <a:ext cx="1948059" cy="307340"/>
          </a:xfrm>
          <a:prstGeom prst="rect">
            <a:avLst/>
          </a:prstGeom>
          <a:noFill/>
          <a:ln/>
        </p:spPr>
        <p:txBody>
          <a:bodyPr wrap="square" lIns="25400" tIns="25400" rIns="25400" bIns="25400" rtlCol="0" anchor="ctr">
            <a:normAutofit/>
          </a:bodyPr>
          <a:lstStyle/>
          <a:p>
            <a:pPr marL="0" indent="0" algn="r">
              <a:buNone/>
            </a:pPr>
            <a:r>
              <a:rPr lang="en-US" sz="1950" b="1" kern="0" spc="156" dirty="0">
                <a:solidFill>
                  <a:srgbClr val="5A7A9A"/>
                </a:solidFill>
                <a:latin typeface="Courier New" pitchFamily="34" charset="0"/>
                <a:ea typeface="Courier New" pitchFamily="34" charset="-122"/>
                <a:cs typeface="Courier New" pitchFamily="34" charset="-120"/>
              </a:rPr>
              <a:t>MEDIAN</a:t>
            </a:r>
            <a:endParaRPr lang="en-US" sz="1950" dirty="0"/>
          </a:p>
        </p:txBody>
      </p:sp>
      <p:sp>
        <p:nvSpPr>
          <p:cNvPr id="14" name="Shape 12"/>
          <p:cNvSpPr/>
          <p:nvPr/>
        </p:nvSpPr>
        <p:spPr>
          <a:xfrm>
            <a:off x="9407526" y="3091180"/>
            <a:ext cx="2386648" cy="10160"/>
          </a:xfrm>
          <a:prstGeom prst="rect">
            <a:avLst/>
          </a:prstGeom>
          <a:solidFill>
            <a:srgbClr val="00D4FF">
              <a:alpha val="20000"/>
            </a:srgbClr>
          </a:solidFill>
          <a:ln/>
        </p:spPr>
      </p:sp>
      <p:sp>
        <p:nvSpPr>
          <p:cNvPr id="15" name="Text 13"/>
          <p:cNvSpPr/>
          <p:nvPr/>
        </p:nvSpPr>
        <p:spPr>
          <a:xfrm>
            <a:off x="9674226" y="2631440"/>
            <a:ext cx="1777048" cy="307340"/>
          </a:xfrm>
          <a:prstGeom prst="rect">
            <a:avLst/>
          </a:prstGeom>
          <a:noFill/>
          <a:ln/>
        </p:spPr>
        <p:txBody>
          <a:bodyPr wrap="square" lIns="25400" tIns="25400" rIns="25400" bIns="25400" rtlCol="0" anchor="ctr">
            <a:normAutofit/>
          </a:bodyPr>
          <a:lstStyle/>
          <a:p>
            <a:pPr marL="0" indent="0" algn="r">
              <a:buNone/>
            </a:pPr>
            <a:r>
              <a:rPr lang="en-US" sz="1950" b="1" kern="0" spc="156" dirty="0">
                <a:solidFill>
                  <a:srgbClr val="5A7A9A"/>
                </a:solidFill>
                <a:latin typeface="Courier New" pitchFamily="34" charset="0"/>
                <a:ea typeface="Courier New" pitchFamily="34" charset="-122"/>
                <a:cs typeface="Courier New" pitchFamily="34" charset="-120"/>
              </a:rPr>
              <a:t>MEAN</a:t>
            </a:r>
            <a:endParaRPr lang="en-US" sz="1950" dirty="0"/>
          </a:p>
        </p:txBody>
      </p:sp>
      <p:sp>
        <p:nvSpPr>
          <p:cNvPr id="16" name="Shape 14"/>
          <p:cNvSpPr/>
          <p:nvPr/>
        </p:nvSpPr>
        <p:spPr>
          <a:xfrm>
            <a:off x="11794173" y="3091180"/>
            <a:ext cx="2386648" cy="10160"/>
          </a:xfrm>
          <a:prstGeom prst="rect">
            <a:avLst/>
          </a:prstGeom>
          <a:solidFill>
            <a:srgbClr val="00D4FF">
              <a:alpha val="20000"/>
            </a:srgbClr>
          </a:solidFill>
          <a:ln/>
        </p:spPr>
      </p:sp>
      <p:sp>
        <p:nvSpPr>
          <p:cNvPr id="17" name="Text 15"/>
          <p:cNvSpPr/>
          <p:nvPr/>
        </p:nvSpPr>
        <p:spPr>
          <a:xfrm>
            <a:off x="12060873" y="2631440"/>
            <a:ext cx="1777048" cy="307340"/>
          </a:xfrm>
          <a:prstGeom prst="rect">
            <a:avLst/>
          </a:prstGeom>
          <a:noFill/>
          <a:ln/>
        </p:spPr>
        <p:txBody>
          <a:bodyPr wrap="square" lIns="25400" tIns="25400" rIns="25400" bIns="25400" rtlCol="0" anchor="ctr">
            <a:normAutofit/>
          </a:bodyPr>
          <a:lstStyle/>
          <a:p>
            <a:pPr marL="0" indent="0" algn="r">
              <a:buNone/>
            </a:pPr>
            <a:r>
              <a:rPr lang="en-US" sz="1950" b="1" kern="0" spc="156" dirty="0">
                <a:solidFill>
                  <a:srgbClr val="5A7A9A"/>
                </a:solidFill>
                <a:latin typeface="Courier New" pitchFamily="34" charset="0"/>
                <a:ea typeface="Courier New" pitchFamily="34" charset="-122"/>
                <a:cs typeface="Courier New" pitchFamily="34" charset="-120"/>
              </a:rPr>
              <a:t>P90</a:t>
            </a:r>
            <a:endParaRPr lang="en-US" sz="1950" dirty="0"/>
          </a:p>
        </p:txBody>
      </p:sp>
      <p:sp>
        <p:nvSpPr>
          <p:cNvPr id="18" name="Shape 16"/>
          <p:cNvSpPr/>
          <p:nvPr/>
        </p:nvSpPr>
        <p:spPr>
          <a:xfrm>
            <a:off x="14180820" y="3091180"/>
            <a:ext cx="3154680" cy="10160"/>
          </a:xfrm>
          <a:prstGeom prst="rect">
            <a:avLst/>
          </a:prstGeom>
          <a:solidFill>
            <a:srgbClr val="00D4FF">
              <a:alpha val="20000"/>
            </a:srgbClr>
          </a:solidFill>
          <a:ln/>
        </p:spPr>
      </p:sp>
      <p:sp>
        <p:nvSpPr>
          <p:cNvPr id="19" name="Text 17"/>
          <p:cNvSpPr/>
          <p:nvPr/>
        </p:nvSpPr>
        <p:spPr>
          <a:xfrm>
            <a:off x="14429080" y="2631440"/>
            <a:ext cx="2563521" cy="307340"/>
          </a:xfrm>
          <a:prstGeom prst="rect">
            <a:avLst/>
          </a:prstGeom>
          <a:noFill/>
          <a:ln/>
        </p:spPr>
        <p:txBody>
          <a:bodyPr wrap="square" lIns="25400" tIns="25400" rIns="25400" bIns="25400" rtlCol="0" anchor="ctr">
            <a:normAutofit/>
          </a:bodyPr>
          <a:lstStyle/>
          <a:p>
            <a:pPr marL="0" indent="0" algn="r">
              <a:buNone/>
            </a:pPr>
            <a:r>
              <a:rPr lang="en-US" sz="1950" b="1" kern="0" spc="156" dirty="0">
                <a:solidFill>
                  <a:srgbClr val="5A7A9A"/>
                </a:solidFill>
                <a:latin typeface="Courier New" pitchFamily="34" charset="0"/>
                <a:ea typeface="Courier New" pitchFamily="34" charset="-122"/>
                <a:cs typeface="Courier New" pitchFamily="34" charset="-120"/>
              </a:rPr>
              <a:t>IMPROVEMENT</a:t>
            </a:r>
            <a:endParaRPr lang="en-US" sz="1950" dirty="0"/>
          </a:p>
        </p:txBody>
      </p:sp>
      <p:sp>
        <p:nvSpPr>
          <p:cNvPr id="20" name="Shape 18"/>
          <p:cNvSpPr/>
          <p:nvPr/>
        </p:nvSpPr>
        <p:spPr>
          <a:xfrm>
            <a:off x="952500" y="3101340"/>
            <a:ext cx="16383001" cy="901700"/>
          </a:xfrm>
          <a:prstGeom prst="rect">
            <a:avLst/>
          </a:prstGeom>
          <a:solidFill>
            <a:srgbClr val="FF4444">
              <a:alpha val="6000"/>
            </a:srgbClr>
          </a:solidFill>
          <a:ln/>
        </p:spPr>
      </p:sp>
      <p:sp>
        <p:nvSpPr>
          <p:cNvPr id="21" name="Shape 19"/>
          <p:cNvSpPr/>
          <p:nvPr/>
        </p:nvSpPr>
        <p:spPr>
          <a:xfrm>
            <a:off x="952500" y="3992880"/>
            <a:ext cx="5897880" cy="10160"/>
          </a:xfrm>
          <a:prstGeom prst="rect">
            <a:avLst/>
          </a:prstGeom>
          <a:solidFill>
            <a:srgbClr val="FFFFFF">
              <a:alpha val="5000"/>
            </a:srgbClr>
          </a:solidFill>
          <a:ln/>
        </p:spPr>
      </p:sp>
      <p:sp>
        <p:nvSpPr>
          <p:cNvPr id="22" name="Text 20"/>
          <p:cNvSpPr/>
          <p:nvPr/>
        </p:nvSpPr>
        <p:spPr>
          <a:xfrm>
            <a:off x="1295400" y="3348990"/>
            <a:ext cx="5389017" cy="434340"/>
          </a:xfrm>
          <a:prstGeom prst="rect">
            <a:avLst/>
          </a:prstGeom>
          <a:noFill/>
          <a:ln/>
        </p:spPr>
        <p:txBody>
          <a:bodyPr wrap="square" lIns="25400" tIns="25400" rIns="25400" bIns="25400" rtlCol="0" anchor="ctr">
            <a:normAutofit/>
          </a:bodyPr>
          <a:lstStyle/>
          <a:p>
            <a:pPr marL="0" indent="0" algn="l">
              <a:buNone/>
            </a:pPr>
            <a:r>
              <a:rPr lang="en-US" sz="2700" b="1" dirty="0">
                <a:solidFill>
                  <a:srgbClr val="FF4444"/>
                </a:solidFill>
                <a:latin typeface="Arial" pitchFamily="34" charset="0"/>
                <a:ea typeface="Arial" pitchFamily="34" charset="-122"/>
                <a:cs typeface="Arial" pitchFamily="34" charset="-120"/>
              </a:rPr>
              <a:t>Great-circle</a:t>
            </a:r>
            <a:endParaRPr lang="en-US" sz="2700" dirty="0"/>
          </a:p>
        </p:txBody>
      </p:sp>
      <p:sp>
        <p:nvSpPr>
          <p:cNvPr id="23" name="Shape 21"/>
          <p:cNvSpPr/>
          <p:nvPr/>
        </p:nvSpPr>
        <p:spPr>
          <a:xfrm>
            <a:off x="6850380" y="3992880"/>
            <a:ext cx="2557145" cy="10160"/>
          </a:xfrm>
          <a:prstGeom prst="rect">
            <a:avLst/>
          </a:prstGeom>
          <a:solidFill>
            <a:srgbClr val="FFFFFF">
              <a:alpha val="5000"/>
            </a:srgbClr>
          </a:solidFill>
          <a:ln/>
        </p:spPr>
      </p:sp>
      <p:sp>
        <p:nvSpPr>
          <p:cNvPr id="24" name="Text 22"/>
          <p:cNvSpPr/>
          <p:nvPr/>
        </p:nvSpPr>
        <p:spPr>
          <a:xfrm>
            <a:off x="7116566" y="3348990"/>
            <a:ext cx="1948059" cy="434340"/>
          </a:xfrm>
          <a:prstGeom prst="rect">
            <a:avLst/>
          </a:prstGeom>
          <a:noFill/>
          <a:ln/>
        </p:spPr>
        <p:txBody>
          <a:bodyPr wrap="square" lIns="25400" tIns="25400" rIns="25400" bIns="25400" rtlCol="0" anchor="ctr">
            <a:normAutofit/>
          </a:bodyPr>
          <a:lstStyle/>
          <a:p>
            <a:pPr marL="0" indent="0" algn="r">
              <a:buNone/>
            </a:pPr>
            <a:r>
              <a:rPr lang="en-US" sz="2700" dirty="0">
                <a:solidFill>
                  <a:srgbClr val="FF4444"/>
                </a:solidFill>
                <a:latin typeface="Courier New" pitchFamily="34" charset="0"/>
                <a:ea typeface="Courier New" pitchFamily="34" charset="-122"/>
                <a:cs typeface="Courier New" pitchFamily="34" charset="-120"/>
              </a:rPr>
              <a:t>131 km</a:t>
            </a:r>
            <a:endParaRPr lang="en-US" sz="2700" dirty="0"/>
          </a:p>
        </p:txBody>
      </p:sp>
      <p:sp>
        <p:nvSpPr>
          <p:cNvPr id="25" name="Shape 23"/>
          <p:cNvSpPr/>
          <p:nvPr/>
        </p:nvSpPr>
        <p:spPr>
          <a:xfrm>
            <a:off x="9407526" y="3992880"/>
            <a:ext cx="2386648" cy="10160"/>
          </a:xfrm>
          <a:prstGeom prst="rect">
            <a:avLst/>
          </a:prstGeom>
          <a:solidFill>
            <a:srgbClr val="FFFFFF">
              <a:alpha val="5000"/>
            </a:srgbClr>
          </a:solidFill>
          <a:ln/>
        </p:spPr>
      </p:sp>
      <p:sp>
        <p:nvSpPr>
          <p:cNvPr id="26" name="Text 24"/>
          <p:cNvSpPr/>
          <p:nvPr/>
        </p:nvSpPr>
        <p:spPr>
          <a:xfrm>
            <a:off x="9674226" y="3348990"/>
            <a:ext cx="1777048" cy="434340"/>
          </a:xfrm>
          <a:prstGeom prst="rect">
            <a:avLst/>
          </a:prstGeom>
          <a:noFill/>
          <a:ln/>
        </p:spPr>
        <p:txBody>
          <a:bodyPr wrap="square" lIns="25400" tIns="25400" rIns="25400" bIns="25400" rtlCol="0" anchor="ctr">
            <a:normAutofit/>
          </a:bodyPr>
          <a:lstStyle/>
          <a:p>
            <a:pPr marL="0" indent="0" algn="r">
              <a:buNone/>
            </a:pPr>
            <a:r>
              <a:rPr lang="en-US" sz="2700" dirty="0">
                <a:solidFill>
                  <a:srgbClr val="FF4444"/>
                </a:solidFill>
                <a:latin typeface="Courier New" pitchFamily="34" charset="0"/>
                <a:ea typeface="Courier New" pitchFamily="34" charset="-122"/>
                <a:cs typeface="Courier New" pitchFamily="34" charset="-120"/>
              </a:rPr>
              <a:t>149 km</a:t>
            </a:r>
            <a:endParaRPr lang="en-US" sz="2700" dirty="0"/>
          </a:p>
        </p:txBody>
      </p:sp>
      <p:sp>
        <p:nvSpPr>
          <p:cNvPr id="27" name="Shape 25"/>
          <p:cNvSpPr/>
          <p:nvPr/>
        </p:nvSpPr>
        <p:spPr>
          <a:xfrm>
            <a:off x="11794173" y="3992880"/>
            <a:ext cx="2386648" cy="10160"/>
          </a:xfrm>
          <a:prstGeom prst="rect">
            <a:avLst/>
          </a:prstGeom>
          <a:solidFill>
            <a:srgbClr val="FFFFFF">
              <a:alpha val="5000"/>
            </a:srgbClr>
          </a:solidFill>
          <a:ln/>
        </p:spPr>
      </p:sp>
      <p:sp>
        <p:nvSpPr>
          <p:cNvPr id="28" name="Text 26"/>
          <p:cNvSpPr/>
          <p:nvPr/>
        </p:nvSpPr>
        <p:spPr>
          <a:xfrm>
            <a:off x="12060873" y="3348990"/>
            <a:ext cx="1777048" cy="434340"/>
          </a:xfrm>
          <a:prstGeom prst="rect">
            <a:avLst/>
          </a:prstGeom>
          <a:noFill/>
          <a:ln/>
        </p:spPr>
        <p:txBody>
          <a:bodyPr wrap="square" lIns="25400" tIns="25400" rIns="25400" bIns="25400" rtlCol="0" anchor="ctr">
            <a:normAutofit/>
          </a:bodyPr>
          <a:lstStyle/>
          <a:p>
            <a:pPr marL="0" indent="0" algn="r">
              <a:buNone/>
            </a:pPr>
            <a:r>
              <a:rPr lang="en-US" sz="2700" dirty="0">
                <a:solidFill>
                  <a:srgbClr val="FF4444"/>
                </a:solidFill>
                <a:latin typeface="Courier New" pitchFamily="34" charset="0"/>
                <a:ea typeface="Courier New" pitchFamily="34" charset="-122"/>
                <a:cs typeface="Courier New" pitchFamily="34" charset="-120"/>
              </a:rPr>
              <a:t>355 km</a:t>
            </a:r>
            <a:endParaRPr lang="en-US" sz="2700" dirty="0"/>
          </a:p>
        </p:txBody>
      </p:sp>
      <p:sp>
        <p:nvSpPr>
          <p:cNvPr id="29" name="Shape 27"/>
          <p:cNvSpPr/>
          <p:nvPr/>
        </p:nvSpPr>
        <p:spPr>
          <a:xfrm>
            <a:off x="14180820" y="3992880"/>
            <a:ext cx="3154680" cy="10160"/>
          </a:xfrm>
          <a:prstGeom prst="rect">
            <a:avLst/>
          </a:prstGeom>
          <a:solidFill>
            <a:srgbClr val="FFFFFF">
              <a:alpha val="5000"/>
            </a:srgbClr>
          </a:solidFill>
          <a:ln/>
        </p:spPr>
      </p:sp>
      <p:sp>
        <p:nvSpPr>
          <p:cNvPr id="30" name="Text 28"/>
          <p:cNvSpPr/>
          <p:nvPr/>
        </p:nvSpPr>
        <p:spPr>
          <a:xfrm>
            <a:off x="14429080" y="3348990"/>
            <a:ext cx="2563521" cy="434340"/>
          </a:xfrm>
          <a:prstGeom prst="rect">
            <a:avLst/>
          </a:prstGeom>
          <a:noFill/>
          <a:ln/>
        </p:spPr>
        <p:txBody>
          <a:bodyPr wrap="square" lIns="25400" tIns="25400" rIns="25400" bIns="25400" rtlCol="0" anchor="ctr">
            <a:normAutofit/>
          </a:bodyPr>
          <a:lstStyle/>
          <a:p>
            <a:pPr marL="0" indent="0" algn="r">
              <a:buNone/>
            </a:pPr>
            <a:r>
              <a:rPr lang="en-US" sz="2250" dirty="0">
                <a:solidFill>
                  <a:srgbClr val="5A7A9A"/>
                </a:solidFill>
                <a:latin typeface="Courier New" pitchFamily="34" charset="0"/>
                <a:ea typeface="Courier New" pitchFamily="34" charset="-122"/>
                <a:cs typeface="Courier New" pitchFamily="34" charset="-120"/>
              </a:rPr>
              <a:t>Reference</a:t>
            </a:r>
            <a:endParaRPr lang="en-US" sz="2250" dirty="0"/>
          </a:p>
        </p:txBody>
      </p:sp>
      <p:sp>
        <p:nvSpPr>
          <p:cNvPr id="31" name="Shape 29"/>
          <p:cNvSpPr/>
          <p:nvPr/>
        </p:nvSpPr>
        <p:spPr>
          <a:xfrm>
            <a:off x="952500" y="4003040"/>
            <a:ext cx="16383001" cy="901700"/>
          </a:xfrm>
          <a:prstGeom prst="rect">
            <a:avLst/>
          </a:prstGeom>
          <a:solidFill>
            <a:srgbClr val="4488FF">
              <a:alpha val="6000"/>
            </a:srgbClr>
          </a:solidFill>
          <a:ln/>
        </p:spPr>
      </p:sp>
      <p:sp>
        <p:nvSpPr>
          <p:cNvPr id="32" name="Shape 30"/>
          <p:cNvSpPr/>
          <p:nvPr/>
        </p:nvSpPr>
        <p:spPr>
          <a:xfrm>
            <a:off x="952500" y="4894580"/>
            <a:ext cx="5897880" cy="10160"/>
          </a:xfrm>
          <a:prstGeom prst="rect">
            <a:avLst/>
          </a:prstGeom>
          <a:solidFill>
            <a:srgbClr val="FFFFFF">
              <a:alpha val="5000"/>
            </a:srgbClr>
          </a:solidFill>
          <a:ln/>
        </p:spPr>
      </p:sp>
      <p:sp>
        <p:nvSpPr>
          <p:cNvPr id="33" name="Text 31"/>
          <p:cNvSpPr/>
          <p:nvPr/>
        </p:nvSpPr>
        <p:spPr>
          <a:xfrm>
            <a:off x="1295400" y="4250690"/>
            <a:ext cx="5389017" cy="434340"/>
          </a:xfrm>
          <a:prstGeom prst="rect">
            <a:avLst/>
          </a:prstGeom>
          <a:noFill/>
          <a:ln/>
        </p:spPr>
        <p:txBody>
          <a:bodyPr wrap="square" lIns="25400" tIns="25400" rIns="25400" bIns="25400" rtlCol="0" anchor="ctr">
            <a:normAutofit/>
          </a:bodyPr>
          <a:lstStyle/>
          <a:p>
            <a:pPr marL="0" indent="0" algn="l">
              <a:buNone/>
            </a:pPr>
            <a:r>
              <a:rPr lang="en-US" sz="2700" b="1" dirty="0">
                <a:solidFill>
                  <a:srgbClr val="4488FF"/>
                </a:solidFill>
                <a:latin typeface="Arial" pitchFamily="34" charset="0"/>
                <a:ea typeface="Arial" pitchFamily="34" charset="-122"/>
                <a:cs typeface="Arial" pitchFamily="34" charset="-120"/>
              </a:rPr>
              <a:t>Kalman RTS</a:t>
            </a:r>
            <a:endParaRPr lang="en-US" sz="2700" dirty="0"/>
          </a:p>
        </p:txBody>
      </p:sp>
      <p:sp>
        <p:nvSpPr>
          <p:cNvPr id="34" name="Shape 32"/>
          <p:cNvSpPr/>
          <p:nvPr/>
        </p:nvSpPr>
        <p:spPr>
          <a:xfrm>
            <a:off x="6850380" y="4894580"/>
            <a:ext cx="2557145" cy="10160"/>
          </a:xfrm>
          <a:prstGeom prst="rect">
            <a:avLst/>
          </a:prstGeom>
          <a:solidFill>
            <a:srgbClr val="FFFFFF">
              <a:alpha val="5000"/>
            </a:srgbClr>
          </a:solidFill>
          <a:ln/>
        </p:spPr>
      </p:sp>
      <p:sp>
        <p:nvSpPr>
          <p:cNvPr id="35" name="Text 33"/>
          <p:cNvSpPr/>
          <p:nvPr/>
        </p:nvSpPr>
        <p:spPr>
          <a:xfrm>
            <a:off x="7116566" y="4250690"/>
            <a:ext cx="1948059" cy="434340"/>
          </a:xfrm>
          <a:prstGeom prst="rect">
            <a:avLst/>
          </a:prstGeom>
          <a:noFill/>
          <a:ln/>
        </p:spPr>
        <p:txBody>
          <a:bodyPr wrap="square" lIns="25400" tIns="25400" rIns="25400" bIns="25400" rtlCol="0" anchor="ctr">
            <a:normAutofit/>
          </a:bodyPr>
          <a:lstStyle/>
          <a:p>
            <a:pPr marL="0" indent="0" algn="r">
              <a:buNone/>
            </a:pPr>
            <a:r>
              <a:rPr lang="en-US" sz="2700" dirty="0">
                <a:solidFill>
                  <a:srgbClr val="4488FF"/>
                </a:solidFill>
                <a:latin typeface="Courier New" pitchFamily="34" charset="0"/>
                <a:ea typeface="Courier New" pitchFamily="34" charset="-122"/>
                <a:cs typeface="Courier New" pitchFamily="34" charset="-120"/>
              </a:rPr>
              <a:t>83 km</a:t>
            </a:r>
            <a:endParaRPr lang="en-US" sz="2700" dirty="0"/>
          </a:p>
        </p:txBody>
      </p:sp>
      <p:sp>
        <p:nvSpPr>
          <p:cNvPr id="36" name="Shape 34"/>
          <p:cNvSpPr/>
          <p:nvPr/>
        </p:nvSpPr>
        <p:spPr>
          <a:xfrm>
            <a:off x="9407526" y="4894580"/>
            <a:ext cx="2386648" cy="10160"/>
          </a:xfrm>
          <a:prstGeom prst="rect">
            <a:avLst/>
          </a:prstGeom>
          <a:solidFill>
            <a:srgbClr val="FFFFFF">
              <a:alpha val="5000"/>
            </a:srgbClr>
          </a:solidFill>
          <a:ln/>
        </p:spPr>
      </p:sp>
      <p:sp>
        <p:nvSpPr>
          <p:cNvPr id="37" name="Text 35"/>
          <p:cNvSpPr/>
          <p:nvPr/>
        </p:nvSpPr>
        <p:spPr>
          <a:xfrm>
            <a:off x="9674226" y="4250690"/>
            <a:ext cx="1777048" cy="434340"/>
          </a:xfrm>
          <a:prstGeom prst="rect">
            <a:avLst/>
          </a:prstGeom>
          <a:noFill/>
          <a:ln/>
        </p:spPr>
        <p:txBody>
          <a:bodyPr wrap="square" lIns="25400" tIns="25400" rIns="25400" bIns="25400" rtlCol="0" anchor="ctr">
            <a:normAutofit/>
          </a:bodyPr>
          <a:lstStyle/>
          <a:p>
            <a:pPr marL="0" indent="0" algn="r">
              <a:buNone/>
            </a:pPr>
            <a:r>
              <a:rPr lang="en-US" sz="2700" dirty="0">
                <a:solidFill>
                  <a:srgbClr val="4488FF"/>
                </a:solidFill>
                <a:latin typeface="Courier New" pitchFamily="34" charset="0"/>
                <a:ea typeface="Courier New" pitchFamily="34" charset="-122"/>
                <a:cs typeface="Courier New" pitchFamily="34" charset="-120"/>
              </a:rPr>
              <a:t>98 km</a:t>
            </a:r>
            <a:endParaRPr lang="en-US" sz="2700" dirty="0"/>
          </a:p>
        </p:txBody>
      </p:sp>
      <p:sp>
        <p:nvSpPr>
          <p:cNvPr id="38" name="Shape 36"/>
          <p:cNvSpPr/>
          <p:nvPr/>
        </p:nvSpPr>
        <p:spPr>
          <a:xfrm>
            <a:off x="11794173" y="4894580"/>
            <a:ext cx="2386648" cy="10160"/>
          </a:xfrm>
          <a:prstGeom prst="rect">
            <a:avLst/>
          </a:prstGeom>
          <a:solidFill>
            <a:srgbClr val="FFFFFF">
              <a:alpha val="5000"/>
            </a:srgbClr>
          </a:solidFill>
          <a:ln/>
        </p:spPr>
      </p:sp>
      <p:sp>
        <p:nvSpPr>
          <p:cNvPr id="39" name="Text 37"/>
          <p:cNvSpPr/>
          <p:nvPr/>
        </p:nvSpPr>
        <p:spPr>
          <a:xfrm>
            <a:off x="12060873" y="4250690"/>
            <a:ext cx="1777048" cy="434340"/>
          </a:xfrm>
          <a:prstGeom prst="rect">
            <a:avLst/>
          </a:prstGeom>
          <a:noFill/>
          <a:ln/>
        </p:spPr>
        <p:txBody>
          <a:bodyPr wrap="square" lIns="25400" tIns="25400" rIns="25400" bIns="25400" rtlCol="0" anchor="ctr">
            <a:normAutofit/>
          </a:bodyPr>
          <a:lstStyle/>
          <a:p>
            <a:pPr marL="0" indent="0" algn="r">
              <a:buNone/>
            </a:pPr>
            <a:r>
              <a:rPr lang="en-US" sz="2700" dirty="0">
                <a:solidFill>
                  <a:srgbClr val="4488FF"/>
                </a:solidFill>
                <a:latin typeface="Courier New" pitchFamily="34" charset="0"/>
                <a:ea typeface="Courier New" pitchFamily="34" charset="-122"/>
                <a:cs typeface="Courier New" pitchFamily="34" charset="-120"/>
              </a:rPr>
              <a:t>222 km</a:t>
            </a:r>
            <a:endParaRPr lang="en-US" sz="2700" dirty="0"/>
          </a:p>
        </p:txBody>
      </p:sp>
      <p:sp>
        <p:nvSpPr>
          <p:cNvPr id="40" name="Shape 38"/>
          <p:cNvSpPr/>
          <p:nvPr/>
        </p:nvSpPr>
        <p:spPr>
          <a:xfrm>
            <a:off x="14180820" y="4894580"/>
            <a:ext cx="3154680" cy="10160"/>
          </a:xfrm>
          <a:prstGeom prst="rect">
            <a:avLst/>
          </a:prstGeom>
          <a:solidFill>
            <a:srgbClr val="FFFFFF">
              <a:alpha val="5000"/>
            </a:srgbClr>
          </a:solidFill>
          <a:ln/>
        </p:spPr>
      </p:sp>
      <p:sp>
        <p:nvSpPr>
          <p:cNvPr id="41" name="Text 39"/>
          <p:cNvSpPr/>
          <p:nvPr/>
        </p:nvSpPr>
        <p:spPr>
          <a:xfrm>
            <a:off x="14429080" y="4250690"/>
            <a:ext cx="2563521" cy="434340"/>
          </a:xfrm>
          <a:prstGeom prst="rect">
            <a:avLst/>
          </a:prstGeom>
          <a:noFill/>
          <a:ln/>
        </p:spPr>
        <p:txBody>
          <a:bodyPr wrap="square" lIns="25400" tIns="25400" rIns="25400" bIns="25400" rtlCol="0" anchor="ctr">
            <a:normAutofit/>
          </a:bodyPr>
          <a:lstStyle/>
          <a:p>
            <a:pPr marL="0" indent="0" algn="r">
              <a:buNone/>
            </a:pPr>
            <a:r>
              <a:rPr lang="en-US" sz="2700" dirty="0">
                <a:solidFill>
                  <a:srgbClr val="4488FF"/>
                </a:solidFill>
                <a:latin typeface="Courier New" pitchFamily="34" charset="0"/>
                <a:ea typeface="Courier New" pitchFamily="34" charset="-122"/>
                <a:cs typeface="Courier New" pitchFamily="34" charset="-120"/>
              </a:rPr>
              <a:t>−37%</a:t>
            </a:r>
            <a:endParaRPr lang="en-US" sz="2700" dirty="0"/>
          </a:p>
        </p:txBody>
      </p:sp>
      <p:sp>
        <p:nvSpPr>
          <p:cNvPr id="42" name="Shape 40"/>
          <p:cNvSpPr/>
          <p:nvPr/>
        </p:nvSpPr>
        <p:spPr>
          <a:xfrm>
            <a:off x="952500" y="4904740"/>
            <a:ext cx="16383001" cy="1074420"/>
          </a:xfrm>
          <a:prstGeom prst="rect">
            <a:avLst/>
          </a:prstGeom>
          <a:solidFill>
            <a:srgbClr val="00FF88">
              <a:alpha val="8000"/>
            </a:srgbClr>
          </a:solidFill>
          <a:ln/>
        </p:spPr>
      </p:sp>
      <p:sp>
        <p:nvSpPr>
          <p:cNvPr id="43" name="Shape 41"/>
          <p:cNvSpPr/>
          <p:nvPr/>
        </p:nvSpPr>
        <p:spPr>
          <a:xfrm>
            <a:off x="952500" y="5969000"/>
            <a:ext cx="5897880" cy="10160"/>
          </a:xfrm>
          <a:prstGeom prst="rect">
            <a:avLst/>
          </a:prstGeom>
          <a:solidFill>
            <a:srgbClr val="FFFFFF">
              <a:alpha val="5000"/>
            </a:srgbClr>
          </a:solidFill>
          <a:ln/>
        </p:spPr>
      </p:sp>
      <p:sp>
        <p:nvSpPr>
          <p:cNvPr id="44" name="Text 42"/>
          <p:cNvSpPr/>
          <p:nvPr/>
        </p:nvSpPr>
        <p:spPr>
          <a:xfrm>
            <a:off x="1295400" y="5152390"/>
            <a:ext cx="5389017" cy="607060"/>
          </a:xfrm>
          <a:prstGeom prst="rect">
            <a:avLst/>
          </a:prstGeom>
          <a:noFill/>
          <a:ln/>
        </p:spPr>
        <p:txBody>
          <a:bodyPr wrap="square" lIns="25400" tIns="25400" rIns="25400" bIns="25400" rtlCol="0" anchor="ctr">
            <a:normAutofit/>
          </a:bodyPr>
          <a:lstStyle/>
          <a:p>
            <a:pPr marL="0" indent="0" algn="l">
              <a:buNone/>
            </a:pPr>
            <a:r>
              <a:rPr lang="en-US" sz="2700" b="1" dirty="0">
                <a:solidFill>
                  <a:srgbClr val="00FF88"/>
                </a:solidFill>
                <a:latin typeface="Arial" pitchFamily="34" charset="0"/>
                <a:ea typeface="Arial" pitchFamily="34" charset="-122"/>
                <a:cs typeface="Arial" pitchFamily="34" charset="-120"/>
              </a:rPr>
              <a:t>GRU  ★</a:t>
            </a:r>
            <a:endParaRPr lang="en-US" sz="2700" dirty="0"/>
          </a:p>
        </p:txBody>
      </p:sp>
      <p:sp>
        <p:nvSpPr>
          <p:cNvPr id="45" name="Shape 43"/>
          <p:cNvSpPr/>
          <p:nvPr/>
        </p:nvSpPr>
        <p:spPr>
          <a:xfrm>
            <a:off x="6850380" y="5969000"/>
            <a:ext cx="2557145" cy="10160"/>
          </a:xfrm>
          <a:prstGeom prst="rect">
            <a:avLst/>
          </a:prstGeom>
          <a:solidFill>
            <a:srgbClr val="FFFFFF">
              <a:alpha val="5000"/>
            </a:srgbClr>
          </a:solidFill>
          <a:ln/>
        </p:spPr>
      </p:sp>
      <p:sp>
        <p:nvSpPr>
          <p:cNvPr id="46" name="Text 44"/>
          <p:cNvSpPr/>
          <p:nvPr/>
        </p:nvSpPr>
        <p:spPr>
          <a:xfrm>
            <a:off x="7116566" y="5152390"/>
            <a:ext cx="1948059" cy="607060"/>
          </a:xfrm>
          <a:prstGeom prst="rect">
            <a:avLst/>
          </a:prstGeom>
          <a:noFill/>
          <a:ln/>
        </p:spPr>
        <p:txBody>
          <a:bodyPr wrap="square" lIns="25400" tIns="25400" rIns="25400" bIns="25400" rtlCol="0" anchor="ctr">
            <a:normAutofit/>
          </a:bodyPr>
          <a:lstStyle/>
          <a:p>
            <a:pPr marL="0" indent="0" algn="r">
              <a:buNone/>
            </a:pPr>
            <a:r>
              <a:rPr lang="en-US" sz="3600" b="1" dirty="0">
                <a:solidFill>
                  <a:srgbClr val="00FF88"/>
                </a:solidFill>
                <a:latin typeface="Courier New" pitchFamily="34" charset="0"/>
                <a:ea typeface="Courier New" pitchFamily="34" charset="-122"/>
                <a:cs typeface="Courier New" pitchFamily="34" charset="-120"/>
              </a:rPr>
              <a:t>64 km</a:t>
            </a:r>
            <a:endParaRPr lang="en-US" sz="3600" dirty="0"/>
          </a:p>
        </p:txBody>
      </p:sp>
      <p:sp>
        <p:nvSpPr>
          <p:cNvPr id="47" name="Shape 45"/>
          <p:cNvSpPr/>
          <p:nvPr/>
        </p:nvSpPr>
        <p:spPr>
          <a:xfrm>
            <a:off x="9407526" y="5969000"/>
            <a:ext cx="2386648" cy="10160"/>
          </a:xfrm>
          <a:prstGeom prst="rect">
            <a:avLst/>
          </a:prstGeom>
          <a:solidFill>
            <a:srgbClr val="FFFFFF">
              <a:alpha val="5000"/>
            </a:srgbClr>
          </a:solidFill>
          <a:ln/>
        </p:spPr>
      </p:sp>
      <p:sp>
        <p:nvSpPr>
          <p:cNvPr id="48" name="Text 46"/>
          <p:cNvSpPr/>
          <p:nvPr/>
        </p:nvSpPr>
        <p:spPr>
          <a:xfrm>
            <a:off x="9674226" y="5152390"/>
            <a:ext cx="1777048" cy="607060"/>
          </a:xfrm>
          <a:prstGeom prst="rect">
            <a:avLst/>
          </a:prstGeom>
          <a:noFill/>
          <a:ln/>
        </p:spPr>
        <p:txBody>
          <a:bodyPr wrap="square" lIns="25400" tIns="25400" rIns="25400" bIns="25400" rtlCol="0" anchor="ctr">
            <a:normAutofit/>
          </a:bodyPr>
          <a:lstStyle/>
          <a:p>
            <a:pPr marL="0" indent="0" algn="r">
              <a:buNone/>
            </a:pPr>
            <a:r>
              <a:rPr lang="en-US" sz="2700" dirty="0">
                <a:solidFill>
                  <a:srgbClr val="00FF88"/>
                </a:solidFill>
                <a:latin typeface="Courier New" pitchFamily="34" charset="0"/>
                <a:ea typeface="Courier New" pitchFamily="34" charset="-122"/>
                <a:cs typeface="Courier New" pitchFamily="34" charset="-120"/>
              </a:rPr>
              <a:t>84 km</a:t>
            </a:r>
            <a:endParaRPr lang="en-US" sz="2700" dirty="0"/>
          </a:p>
        </p:txBody>
      </p:sp>
      <p:sp>
        <p:nvSpPr>
          <p:cNvPr id="49" name="Shape 47"/>
          <p:cNvSpPr/>
          <p:nvPr/>
        </p:nvSpPr>
        <p:spPr>
          <a:xfrm>
            <a:off x="11794173" y="5969000"/>
            <a:ext cx="2386648" cy="10160"/>
          </a:xfrm>
          <a:prstGeom prst="rect">
            <a:avLst/>
          </a:prstGeom>
          <a:solidFill>
            <a:srgbClr val="FFFFFF">
              <a:alpha val="5000"/>
            </a:srgbClr>
          </a:solidFill>
          <a:ln/>
        </p:spPr>
      </p:sp>
      <p:sp>
        <p:nvSpPr>
          <p:cNvPr id="50" name="Text 48"/>
          <p:cNvSpPr/>
          <p:nvPr/>
        </p:nvSpPr>
        <p:spPr>
          <a:xfrm>
            <a:off x="12060873" y="5152390"/>
            <a:ext cx="1777048" cy="607060"/>
          </a:xfrm>
          <a:prstGeom prst="rect">
            <a:avLst/>
          </a:prstGeom>
          <a:noFill/>
          <a:ln/>
        </p:spPr>
        <p:txBody>
          <a:bodyPr wrap="square" lIns="25400" tIns="25400" rIns="25400" bIns="25400" rtlCol="0" anchor="ctr">
            <a:normAutofit/>
          </a:bodyPr>
          <a:lstStyle/>
          <a:p>
            <a:pPr marL="0" indent="0" algn="r">
              <a:buNone/>
            </a:pPr>
            <a:r>
              <a:rPr lang="en-US" sz="2700" dirty="0">
                <a:solidFill>
                  <a:srgbClr val="00FF88"/>
                </a:solidFill>
                <a:latin typeface="Courier New" pitchFamily="34" charset="0"/>
                <a:ea typeface="Courier New" pitchFamily="34" charset="-122"/>
                <a:cs typeface="Courier New" pitchFamily="34" charset="-120"/>
              </a:rPr>
              <a:t>171 km</a:t>
            </a:r>
            <a:endParaRPr lang="en-US" sz="2700" dirty="0"/>
          </a:p>
        </p:txBody>
      </p:sp>
      <p:sp>
        <p:nvSpPr>
          <p:cNvPr id="51" name="Shape 49"/>
          <p:cNvSpPr/>
          <p:nvPr/>
        </p:nvSpPr>
        <p:spPr>
          <a:xfrm>
            <a:off x="14180820" y="5969000"/>
            <a:ext cx="3154680" cy="10160"/>
          </a:xfrm>
          <a:prstGeom prst="rect">
            <a:avLst/>
          </a:prstGeom>
          <a:solidFill>
            <a:srgbClr val="FFFFFF">
              <a:alpha val="5000"/>
            </a:srgbClr>
          </a:solidFill>
          <a:ln/>
        </p:spPr>
      </p:sp>
      <p:sp>
        <p:nvSpPr>
          <p:cNvPr id="52" name="Text 50"/>
          <p:cNvSpPr/>
          <p:nvPr/>
        </p:nvSpPr>
        <p:spPr>
          <a:xfrm>
            <a:off x="14429080" y="5152390"/>
            <a:ext cx="2563521" cy="607060"/>
          </a:xfrm>
          <a:prstGeom prst="rect">
            <a:avLst/>
          </a:prstGeom>
          <a:noFill/>
          <a:ln/>
        </p:spPr>
        <p:txBody>
          <a:bodyPr wrap="square" lIns="25400" tIns="25400" rIns="25400" bIns="25400" rtlCol="0" anchor="ctr">
            <a:normAutofit/>
          </a:bodyPr>
          <a:lstStyle/>
          <a:p>
            <a:pPr marL="0" indent="0" algn="r">
              <a:buNone/>
            </a:pPr>
            <a:r>
              <a:rPr lang="en-US" sz="3900" b="1" dirty="0">
                <a:solidFill>
                  <a:srgbClr val="00FF88"/>
                </a:solidFill>
                <a:latin typeface="Courier New" pitchFamily="34" charset="0"/>
                <a:ea typeface="Courier New" pitchFamily="34" charset="-122"/>
                <a:cs typeface="Courier New" pitchFamily="34" charset="-120"/>
              </a:rPr>
              <a:t>−51%</a:t>
            </a:r>
            <a:endParaRPr lang="en-US" sz="3900" dirty="0"/>
          </a:p>
        </p:txBody>
      </p:sp>
      <p:sp>
        <p:nvSpPr>
          <p:cNvPr id="53" name="Shape 51"/>
          <p:cNvSpPr/>
          <p:nvPr/>
        </p:nvSpPr>
        <p:spPr>
          <a:xfrm>
            <a:off x="952500" y="6441441"/>
            <a:ext cx="16383001" cy="1122680"/>
          </a:xfrm>
          <a:prstGeom prst="roundRect">
            <a:avLst>
              <a:gd name="adj" fmla="val 6787"/>
            </a:avLst>
          </a:prstGeom>
          <a:solidFill>
            <a:srgbClr val="00FF88">
              <a:alpha val="7000"/>
            </a:srgbClr>
          </a:solidFill>
          <a:ln w="10160">
            <a:solidFill>
              <a:srgbClr val="00FF88">
                <a:alpha val="20000"/>
              </a:srgbClr>
            </a:solidFill>
            <a:prstDash val="solid"/>
          </a:ln>
        </p:spPr>
      </p:sp>
      <p:sp>
        <p:nvSpPr>
          <p:cNvPr id="54" name="Text 52"/>
          <p:cNvSpPr/>
          <p:nvPr/>
        </p:nvSpPr>
        <p:spPr>
          <a:xfrm>
            <a:off x="1097915" y="6718301"/>
            <a:ext cx="16092171" cy="607060"/>
          </a:xfrm>
          <a:prstGeom prst="rect">
            <a:avLst/>
          </a:prstGeom>
          <a:noFill/>
          <a:ln/>
        </p:spPr>
        <p:txBody>
          <a:bodyPr wrap="square" lIns="25400" tIns="25400" rIns="25400" bIns="25400" rtlCol="0" anchor="t">
            <a:normAutofit/>
          </a:bodyPr>
          <a:lstStyle/>
          <a:p>
            <a:pPr marL="0" indent="0" algn="ctr">
              <a:buNone/>
            </a:pPr>
            <a:r>
              <a:rPr lang="en-US" sz="2700" dirty="0">
                <a:solidFill>
                  <a:srgbClr val="E8F4FF">
                    <a:alpha val="70000"/>
                  </a:srgbClr>
                </a:solidFill>
                <a:latin typeface="Arial" pitchFamily="34" charset="0"/>
                <a:ea typeface="Arial" pitchFamily="34" charset="-122"/>
                <a:cs typeface="Arial" pitchFamily="34" charset="-120"/>
              </a:rPr>
              <a:t>GRU achieves </a:t>
            </a:r>
            <a:r>
              <a:rPr lang="en-US" sz="3900" b="1" dirty="0">
                <a:solidFill>
                  <a:srgbClr val="00FF88"/>
                </a:solidFill>
                <a:latin typeface="Courier New" pitchFamily="34" charset="0"/>
                <a:ea typeface="Courier New" pitchFamily="34" charset="-122"/>
                <a:cs typeface="Courier New" pitchFamily="34" charset="-120"/>
              </a:rPr>
              <a:t>51% </a:t>
            </a:r>
            <a:r>
              <a:rPr lang="en-US" sz="2700" dirty="0">
                <a:solidFill>
                  <a:srgbClr val="E8F4FF">
                    <a:alpha val="70000"/>
                  </a:srgbClr>
                </a:solidFill>
                <a:latin typeface="Arial" pitchFamily="34" charset="0"/>
                <a:ea typeface="Arial" pitchFamily="34" charset="-122"/>
                <a:cs typeface="Arial" pitchFamily="34" charset="-120"/>
              </a:rPr>
              <a:t>median error reduction over naive geometric interpolation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sp>
        <p:nvSpPr>
          <p:cNvPr id="7" name="Shape 5"/>
          <p:cNvSpPr/>
          <p:nvPr/>
        </p:nvSpPr>
        <p:spPr>
          <a:xfrm>
            <a:off x="952500" y="762000"/>
            <a:ext cx="3922395" cy="398780"/>
          </a:xfrm>
          <a:prstGeom prst="roundRect">
            <a:avLst>
              <a:gd name="adj" fmla="val 9554"/>
            </a:avLst>
          </a:prstGeom>
          <a:ln w="10160">
            <a:solidFill>
              <a:srgbClr val="00D4FF"/>
            </a:solidFill>
            <a:prstDash val="solid"/>
          </a:ln>
        </p:spPr>
      </p:sp>
      <p:sp>
        <p:nvSpPr>
          <p:cNvPr id="8" name="Text 6"/>
          <p:cNvSpPr/>
          <p:nvPr/>
        </p:nvSpPr>
        <p:spPr>
          <a:xfrm>
            <a:off x="1153160" y="829310"/>
            <a:ext cx="3638747"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D4FF"/>
                </a:solidFill>
                <a:latin typeface="Courier New" pitchFamily="34" charset="0"/>
                <a:ea typeface="Courier New" pitchFamily="34" charset="-122"/>
                <a:cs typeface="Courier New" pitchFamily="34" charset="-120"/>
              </a:rPr>
              <a:t>PERFORMANCE COMPARISON</a:t>
            </a:r>
            <a:endParaRPr lang="en-US" sz="1800" dirty="0"/>
          </a:p>
        </p:txBody>
      </p:sp>
      <p:sp>
        <p:nvSpPr>
          <p:cNvPr id="9" name="Text 7"/>
          <p:cNvSpPr/>
          <p:nvPr/>
        </p:nvSpPr>
        <p:spPr>
          <a:xfrm>
            <a:off x="952500" y="1465580"/>
            <a:ext cx="16874491" cy="708660"/>
          </a:xfrm>
          <a:prstGeom prst="rect">
            <a:avLst/>
          </a:prstGeom>
          <a:noFill/>
          <a:ln/>
        </p:spPr>
        <p:txBody>
          <a:bodyPr wrap="square" lIns="25400" tIns="25400" rIns="25400" bIns="25400" rtlCol="0" anchor="t">
            <a:normAutofit/>
          </a:bodyPr>
          <a:lstStyle/>
          <a:p>
            <a:pPr marL="0" indent="0" algn="l">
              <a:lnSpc>
                <a:spcPct val="110000"/>
              </a:lnSpc>
              <a:buNone/>
            </a:pPr>
            <a:r>
              <a:rPr lang="en-US" sz="4800" b="1" dirty="0">
                <a:solidFill>
                  <a:srgbClr val="E8F4FF"/>
                </a:solidFill>
                <a:latin typeface="Arial" pitchFamily="34" charset="0"/>
                <a:ea typeface="Arial" pitchFamily="34" charset="-122"/>
                <a:cs typeface="Arial" pitchFamily="34" charset="-120"/>
              </a:rPr>
              <a:t>Error Distribution — </a:t>
            </a:r>
            <a:r>
              <a:rPr lang="en-US" sz="4800" b="1" dirty="0">
                <a:solidFill>
                  <a:srgbClr val="00D4FF"/>
                </a:solidFill>
                <a:latin typeface="Arial" pitchFamily="34" charset="0"/>
                <a:ea typeface="Arial" pitchFamily="34" charset="-122"/>
                <a:cs typeface="Arial" pitchFamily="34" charset="-120"/>
              </a:rPr>
              <a:t>All 240 Test Flights</a:t>
            </a:r>
            <a:endParaRPr lang="en-US" sz="4800" dirty="0"/>
          </a:p>
        </p:txBody>
      </p:sp>
      <p:sp>
        <p:nvSpPr>
          <p:cNvPr id="10" name="Text 8"/>
          <p:cNvSpPr/>
          <p:nvPr/>
        </p:nvSpPr>
        <p:spPr>
          <a:xfrm>
            <a:off x="952500" y="2669540"/>
            <a:ext cx="8123302" cy="312420"/>
          </a:xfrm>
          <a:prstGeom prst="rect">
            <a:avLst/>
          </a:prstGeom>
          <a:noFill/>
          <a:ln/>
        </p:spPr>
        <p:txBody>
          <a:bodyPr wrap="square" lIns="25400" tIns="25400" rIns="25400" bIns="25400" rtlCol="0" anchor="t">
            <a:normAutofit/>
          </a:bodyPr>
          <a:lstStyle/>
          <a:p>
            <a:pPr marL="0" indent="0" algn="l">
              <a:buNone/>
            </a:pPr>
            <a:r>
              <a:rPr lang="en-US" sz="1950" kern="0" spc="195" dirty="0">
                <a:solidFill>
                  <a:srgbClr val="5A7A9A"/>
                </a:solidFill>
                <a:latin typeface="Courier New" pitchFamily="34" charset="0"/>
                <a:ea typeface="Courier New" pitchFamily="34" charset="-122"/>
                <a:cs typeface="Courier New" pitchFamily="34" charset="-120"/>
              </a:rPr>
              <a:t>MEDIAN ERROR (km)</a:t>
            </a:r>
            <a:endParaRPr lang="en-US" sz="1950" dirty="0"/>
          </a:p>
        </p:txBody>
      </p:sp>
      <p:sp>
        <p:nvSpPr>
          <p:cNvPr id="11" name="Text 9"/>
          <p:cNvSpPr/>
          <p:nvPr/>
        </p:nvSpPr>
        <p:spPr>
          <a:xfrm>
            <a:off x="876300" y="3343910"/>
            <a:ext cx="1790700" cy="342900"/>
          </a:xfrm>
          <a:prstGeom prst="rect">
            <a:avLst/>
          </a:prstGeom>
          <a:noFill/>
          <a:ln/>
        </p:spPr>
        <p:txBody>
          <a:bodyPr wrap="square" lIns="25400" tIns="25400" rIns="25400" bIns="25400" rtlCol="0" anchor="t">
            <a:normAutofit/>
          </a:bodyPr>
          <a:lstStyle/>
          <a:p>
            <a:pPr marL="0" indent="0" algn="r">
              <a:buNone/>
            </a:pPr>
            <a:r>
              <a:rPr lang="en-US" sz="2100" dirty="0">
                <a:solidFill>
                  <a:srgbClr val="FF4444"/>
                </a:solidFill>
                <a:latin typeface="Courier New" pitchFamily="34" charset="0"/>
                <a:ea typeface="Courier New" pitchFamily="34" charset="-122"/>
                <a:cs typeface="Courier New" pitchFamily="34" charset="-120"/>
              </a:rPr>
              <a:t>Baseline</a:t>
            </a:r>
            <a:endParaRPr lang="en-US" sz="2100" dirty="0"/>
          </a:p>
        </p:txBody>
      </p:sp>
      <p:sp>
        <p:nvSpPr>
          <p:cNvPr id="12" name="Shape 10"/>
          <p:cNvSpPr/>
          <p:nvPr/>
        </p:nvSpPr>
        <p:spPr>
          <a:xfrm>
            <a:off x="2895600" y="3248660"/>
            <a:ext cx="4648200" cy="495300"/>
          </a:xfrm>
          <a:prstGeom prst="roundRect">
            <a:avLst>
              <a:gd name="adj" fmla="val 11538"/>
            </a:avLst>
          </a:prstGeom>
          <a:solidFill>
            <a:srgbClr val="FFFFFF">
              <a:alpha val="6000"/>
            </a:srgbClr>
          </a:solidFill>
          <a:ln/>
        </p:spPr>
      </p:sp>
      <p:sp>
        <p:nvSpPr>
          <p:cNvPr id="13" name="Shape 11"/>
          <p:cNvSpPr/>
          <p:nvPr/>
        </p:nvSpPr>
        <p:spPr>
          <a:xfrm>
            <a:off x="2895600" y="3248660"/>
            <a:ext cx="4648200" cy="495300"/>
          </a:xfrm>
          <a:prstGeom prst="roundRect">
            <a:avLst>
              <a:gd name="adj" fmla="val 11538"/>
            </a:avLst>
          </a:prstGeom>
          <a:solidFill>
            <a:srgbClr val="FF4444">
              <a:alpha val="70000"/>
            </a:srgbClr>
          </a:solidFill>
          <a:ln/>
        </p:spPr>
      </p:sp>
      <p:sp>
        <p:nvSpPr>
          <p:cNvPr id="14" name="Text 12"/>
          <p:cNvSpPr/>
          <p:nvPr/>
        </p:nvSpPr>
        <p:spPr>
          <a:xfrm>
            <a:off x="6431121" y="3343910"/>
            <a:ext cx="1036479"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E8F4FF"/>
                </a:solidFill>
                <a:latin typeface="Courier New" pitchFamily="34" charset="0"/>
                <a:ea typeface="Courier New" pitchFamily="34" charset="-122"/>
                <a:cs typeface="Courier New" pitchFamily="34" charset="-120"/>
              </a:rPr>
              <a:t>131 km</a:t>
            </a:r>
            <a:endParaRPr lang="en-US" sz="2100" dirty="0"/>
          </a:p>
        </p:txBody>
      </p:sp>
      <p:sp>
        <p:nvSpPr>
          <p:cNvPr id="15" name="Text 13"/>
          <p:cNvSpPr/>
          <p:nvPr/>
        </p:nvSpPr>
        <p:spPr>
          <a:xfrm>
            <a:off x="7886701" y="3364230"/>
            <a:ext cx="1028700" cy="302260"/>
          </a:xfrm>
          <a:prstGeom prst="rect">
            <a:avLst/>
          </a:prstGeom>
          <a:noFill/>
          <a:ln/>
        </p:spPr>
        <p:txBody>
          <a:bodyPr wrap="square" lIns="25400" tIns="25400" rIns="25400" bIns="25400" rtlCol="0" anchor="t">
            <a:normAutofit/>
          </a:bodyPr>
          <a:lstStyle/>
          <a:p>
            <a:pPr marL="0" indent="0" algn="l">
              <a:buNone/>
            </a:pPr>
            <a:r>
              <a:rPr lang="en-US" sz="1800" dirty="0">
                <a:solidFill>
                  <a:srgbClr val="5A7A9A"/>
                </a:solidFill>
                <a:latin typeface="Courier New" pitchFamily="34" charset="0"/>
                <a:ea typeface="Courier New" pitchFamily="34" charset="-122"/>
                <a:cs typeface="Courier New" pitchFamily="34" charset="-120"/>
              </a:rPr>
              <a:t>ref</a:t>
            </a:r>
            <a:endParaRPr lang="en-US" sz="1800" dirty="0"/>
          </a:p>
        </p:txBody>
      </p:sp>
      <p:sp>
        <p:nvSpPr>
          <p:cNvPr id="16" name="Text 14"/>
          <p:cNvSpPr/>
          <p:nvPr/>
        </p:nvSpPr>
        <p:spPr>
          <a:xfrm>
            <a:off x="876300" y="4067810"/>
            <a:ext cx="1790700" cy="342900"/>
          </a:xfrm>
          <a:prstGeom prst="rect">
            <a:avLst/>
          </a:prstGeom>
          <a:noFill/>
          <a:ln/>
        </p:spPr>
        <p:txBody>
          <a:bodyPr wrap="square" lIns="25400" tIns="25400" rIns="25400" bIns="25400" rtlCol="0" anchor="t">
            <a:normAutofit/>
          </a:bodyPr>
          <a:lstStyle/>
          <a:p>
            <a:pPr marL="0" indent="0" algn="r">
              <a:buNone/>
            </a:pPr>
            <a:r>
              <a:rPr lang="en-US" sz="2100" dirty="0">
                <a:solidFill>
                  <a:srgbClr val="4488FF"/>
                </a:solidFill>
                <a:latin typeface="Courier New" pitchFamily="34" charset="0"/>
                <a:ea typeface="Courier New" pitchFamily="34" charset="-122"/>
                <a:cs typeface="Courier New" pitchFamily="34" charset="-120"/>
              </a:rPr>
              <a:t>Kalman</a:t>
            </a:r>
            <a:endParaRPr lang="en-US" sz="2100" dirty="0"/>
          </a:p>
        </p:txBody>
      </p:sp>
      <p:sp>
        <p:nvSpPr>
          <p:cNvPr id="17" name="Shape 15"/>
          <p:cNvSpPr/>
          <p:nvPr/>
        </p:nvSpPr>
        <p:spPr>
          <a:xfrm>
            <a:off x="2895600" y="3972560"/>
            <a:ext cx="4648200" cy="495300"/>
          </a:xfrm>
          <a:prstGeom prst="roundRect">
            <a:avLst>
              <a:gd name="adj" fmla="val 11538"/>
            </a:avLst>
          </a:prstGeom>
          <a:solidFill>
            <a:srgbClr val="FFFFFF">
              <a:alpha val="6000"/>
            </a:srgbClr>
          </a:solidFill>
          <a:ln/>
        </p:spPr>
      </p:sp>
      <p:sp>
        <p:nvSpPr>
          <p:cNvPr id="18" name="Shape 16"/>
          <p:cNvSpPr/>
          <p:nvPr/>
        </p:nvSpPr>
        <p:spPr>
          <a:xfrm>
            <a:off x="2895600" y="3972560"/>
            <a:ext cx="2946877" cy="495300"/>
          </a:xfrm>
          <a:prstGeom prst="roundRect">
            <a:avLst>
              <a:gd name="adj" fmla="val 11538"/>
            </a:avLst>
          </a:prstGeom>
          <a:solidFill>
            <a:srgbClr val="4488FF">
              <a:alpha val="70000"/>
            </a:srgbClr>
          </a:solidFill>
          <a:ln/>
        </p:spPr>
      </p:sp>
      <p:sp>
        <p:nvSpPr>
          <p:cNvPr id="19" name="Text 17"/>
          <p:cNvSpPr/>
          <p:nvPr/>
        </p:nvSpPr>
        <p:spPr>
          <a:xfrm>
            <a:off x="4889818" y="4067810"/>
            <a:ext cx="876459"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E8F4FF"/>
                </a:solidFill>
                <a:latin typeface="Courier New" pitchFamily="34" charset="0"/>
                <a:ea typeface="Courier New" pitchFamily="34" charset="-122"/>
                <a:cs typeface="Courier New" pitchFamily="34" charset="-120"/>
              </a:rPr>
              <a:t>83 km</a:t>
            </a:r>
            <a:endParaRPr lang="en-US" sz="2100" dirty="0"/>
          </a:p>
        </p:txBody>
      </p:sp>
      <p:sp>
        <p:nvSpPr>
          <p:cNvPr id="20" name="Text 18"/>
          <p:cNvSpPr/>
          <p:nvPr/>
        </p:nvSpPr>
        <p:spPr>
          <a:xfrm>
            <a:off x="7886701" y="4088130"/>
            <a:ext cx="1028700" cy="302260"/>
          </a:xfrm>
          <a:prstGeom prst="rect">
            <a:avLst/>
          </a:prstGeom>
          <a:noFill/>
          <a:ln/>
        </p:spPr>
        <p:txBody>
          <a:bodyPr wrap="square" lIns="25400" tIns="25400" rIns="25400" bIns="25400" rtlCol="0" anchor="t">
            <a:normAutofit/>
          </a:bodyPr>
          <a:lstStyle/>
          <a:p>
            <a:pPr marL="0" indent="0" algn="l">
              <a:buNone/>
            </a:pPr>
            <a:r>
              <a:rPr lang="en-US" sz="1800" dirty="0">
                <a:solidFill>
                  <a:srgbClr val="4488FF"/>
                </a:solidFill>
                <a:latin typeface="Courier New" pitchFamily="34" charset="0"/>
                <a:ea typeface="Courier New" pitchFamily="34" charset="-122"/>
                <a:cs typeface="Courier New" pitchFamily="34" charset="-120"/>
              </a:rPr>
              <a:t>−37%</a:t>
            </a:r>
            <a:endParaRPr lang="en-US" sz="1800" dirty="0"/>
          </a:p>
        </p:txBody>
      </p:sp>
      <p:sp>
        <p:nvSpPr>
          <p:cNvPr id="21" name="Text 19"/>
          <p:cNvSpPr/>
          <p:nvPr/>
        </p:nvSpPr>
        <p:spPr>
          <a:xfrm>
            <a:off x="876300" y="4791710"/>
            <a:ext cx="1790700" cy="342900"/>
          </a:xfrm>
          <a:prstGeom prst="rect">
            <a:avLst/>
          </a:prstGeom>
          <a:noFill/>
          <a:ln/>
        </p:spPr>
        <p:txBody>
          <a:bodyPr wrap="square" lIns="25400" tIns="25400" rIns="25400" bIns="25400" rtlCol="0" anchor="t">
            <a:normAutofit/>
          </a:bodyPr>
          <a:lstStyle/>
          <a:p>
            <a:pPr marL="0" indent="0" algn="r">
              <a:buNone/>
            </a:pPr>
            <a:r>
              <a:rPr lang="en-US" sz="2100" dirty="0">
                <a:solidFill>
                  <a:srgbClr val="00FF88"/>
                </a:solidFill>
                <a:latin typeface="Courier New" pitchFamily="34" charset="0"/>
                <a:ea typeface="Courier New" pitchFamily="34" charset="-122"/>
                <a:cs typeface="Courier New" pitchFamily="34" charset="-120"/>
              </a:rPr>
              <a:t>GRU</a:t>
            </a:r>
            <a:endParaRPr lang="en-US" sz="2100" dirty="0"/>
          </a:p>
        </p:txBody>
      </p:sp>
      <p:sp>
        <p:nvSpPr>
          <p:cNvPr id="22" name="Shape 20"/>
          <p:cNvSpPr/>
          <p:nvPr/>
        </p:nvSpPr>
        <p:spPr>
          <a:xfrm>
            <a:off x="2895600" y="4696460"/>
            <a:ext cx="4648200" cy="495300"/>
          </a:xfrm>
          <a:prstGeom prst="roundRect">
            <a:avLst>
              <a:gd name="adj" fmla="val 11538"/>
            </a:avLst>
          </a:prstGeom>
          <a:solidFill>
            <a:srgbClr val="FFFFFF">
              <a:alpha val="6000"/>
            </a:srgbClr>
          </a:solidFill>
          <a:ln/>
        </p:spPr>
      </p:sp>
      <p:sp>
        <p:nvSpPr>
          <p:cNvPr id="23" name="Shape 21"/>
          <p:cNvSpPr/>
          <p:nvPr/>
        </p:nvSpPr>
        <p:spPr>
          <a:xfrm>
            <a:off x="2895600" y="4696460"/>
            <a:ext cx="2272824" cy="495300"/>
          </a:xfrm>
          <a:prstGeom prst="roundRect">
            <a:avLst>
              <a:gd name="adj" fmla="val 11538"/>
            </a:avLst>
          </a:prstGeom>
          <a:solidFill>
            <a:srgbClr val="00FF88">
              <a:alpha val="70000"/>
            </a:srgbClr>
          </a:solidFill>
          <a:ln/>
        </p:spPr>
      </p:sp>
      <p:sp>
        <p:nvSpPr>
          <p:cNvPr id="24" name="Text 22"/>
          <p:cNvSpPr/>
          <p:nvPr/>
        </p:nvSpPr>
        <p:spPr>
          <a:xfrm>
            <a:off x="4215765" y="4791710"/>
            <a:ext cx="876459"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E8F4FF"/>
                </a:solidFill>
                <a:latin typeface="Courier New" pitchFamily="34" charset="0"/>
                <a:ea typeface="Courier New" pitchFamily="34" charset="-122"/>
                <a:cs typeface="Courier New" pitchFamily="34" charset="-120"/>
              </a:rPr>
              <a:t>64 km</a:t>
            </a:r>
            <a:endParaRPr lang="en-US" sz="2100" dirty="0"/>
          </a:p>
        </p:txBody>
      </p:sp>
      <p:sp>
        <p:nvSpPr>
          <p:cNvPr id="25" name="Text 23"/>
          <p:cNvSpPr/>
          <p:nvPr/>
        </p:nvSpPr>
        <p:spPr>
          <a:xfrm>
            <a:off x="7886701" y="4812030"/>
            <a:ext cx="1028700" cy="302260"/>
          </a:xfrm>
          <a:prstGeom prst="rect">
            <a:avLst/>
          </a:prstGeom>
          <a:noFill/>
          <a:ln/>
        </p:spPr>
        <p:txBody>
          <a:bodyPr wrap="square" lIns="25400" tIns="25400" rIns="25400" bIns="25400" rtlCol="0" anchor="t">
            <a:normAutofit/>
          </a:bodyPr>
          <a:lstStyle/>
          <a:p>
            <a:pPr marL="0" indent="0" algn="l">
              <a:buNone/>
            </a:pPr>
            <a:r>
              <a:rPr lang="en-US" sz="1800" dirty="0">
                <a:solidFill>
                  <a:srgbClr val="00FF88"/>
                </a:solidFill>
                <a:latin typeface="Courier New" pitchFamily="34" charset="0"/>
                <a:ea typeface="Courier New" pitchFamily="34" charset="-122"/>
                <a:cs typeface="Courier New" pitchFamily="34" charset="-120"/>
              </a:rPr>
              <a:t>−51%</a:t>
            </a:r>
            <a:endParaRPr lang="en-US" sz="1800" dirty="0"/>
          </a:p>
        </p:txBody>
      </p:sp>
      <p:sp>
        <p:nvSpPr>
          <p:cNvPr id="26" name="Text 24"/>
          <p:cNvSpPr/>
          <p:nvPr/>
        </p:nvSpPr>
        <p:spPr>
          <a:xfrm>
            <a:off x="9448801" y="2669540"/>
            <a:ext cx="8123302" cy="312420"/>
          </a:xfrm>
          <a:prstGeom prst="rect">
            <a:avLst/>
          </a:prstGeom>
          <a:noFill/>
          <a:ln/>
        </p:spPr>
        <p:txBody>
          <a:bodyPr wrap="square" lIns="25400" tIns="25400" rIns="25400" bIns="25400" rtlCol="0" anchor="t">
            <a:normAutofit/>
          </a:bodyPr>
          <a:lstStyle/>
          <a:p>
            <a:pPr marL="0" indent="0" algn="l">
              <a:buNone/>
            </a:pPr>
            <a:r>
              <a:rPr lang="en-US" sz="1950" kern="0" spc="195" dirty="0">
                <a:solidFill>
                  <a:srgbClr val="5A7A9A"/>
                </a:solidFill>
                <a:latin typeface="Courier New" pitchFamily="34" charset="0"/>
                <a:ea typeface="Courier New" pitchFamily="34" charset="-122"/>
                <a:cs typeface="Courier New" pitchFamily="34" charset="-120"/>
              </a:rPr>
              <a:t>P90 ERROR (km)</a:t>
            </a:r>
            <a:endParaRPr lang="en-US" sz="1950" dirty="0"/>
          </a:p>
        </p:txBody>
      </p:sp>
      <p:sp>
        <p:nvSpPr>
          <p:cNvPr id="27" name="Text 25"/>
          <p:cNvSpPr/>
          <p:nvPr/>
        </p:nvSpPr>
        <p:spPr>
          <a:xfrm>
            <a:off x="9372601" y="3343910"/>
            <a:ext cx="1790700" cy="342900"/>
          </a:xfrm>
          <a:prstGeom prst="rect">
            <a:avLst/>
          </a:prstGeom>
          <a:noFill/>
          <a:ln/>
        </p:spPr>
        <p:txBody>
          <a:bodyPr wrap="square" lIns="25400" tIns="25400" rIns="25400" bIns="25400" rtlCol="0" anchor="t">
            <a:normAutofit/>
          </a:bodyPr>
          <a:lstStyle/>
          <a:p>
            <a:pPr marL="0" indent="0" algn="r">
              <a:buNone/>
            </a:pPr>
            <a:r>
              <a:rPr lang="en-US" sz="2100" dirty="0">
                <a:solidFill>
                  <a:srgbClr val="FF4444"/>
                </a:solidFill>
                <a:latin typeface="Courier New" pitchFamily="34" charset="0"/>
                <a:ea typeface="Courier New" pitchFamily="34" charset="-122"/>
                <a:cs typeface="Courier New" pitchFamily="34" charset="-120"/>
              </a:rPr>
              <a:t>Baseline</a:t>
            </a:r>
            <a:endParaRPr lang="en-US" sz="2100" dirty="0"/>
          </a:p>
        </p:txBody>
      </p:sp>
      <p:sp>
        <p:nvSpPr>
          <p:cNvPr id="28" name="Shape 26"/>
          <p:cNvSpPr/>
          <p:nvPr/>
        </p:nvSpPr>
        <p:spPr>
          <a:xfrm>
            <a:off x="11391901" y="3248660"/>
            <a:ext cx="4648200" cy="495300"/>
          </a:xfrm>
          <a:prstGeom prst="roundRect">
            <a:avLst>
              <a:gd name="adj" fmla="val 11538"/>
            </a:avLst>
          </a:prstGeom>
          <a:solidFill>
            <a:srgbClr val="FFFFFF">
              <a:alpha val="6000"/>
            </a:srgbClr>
          </a:solidFill>
          <a:ln/>
        </p:spPr>
      </p:sp>
      <p:sp>
        <p:nvSpPr>
          <p:cNvPr id="29" name="Shape 27"/>
          <p:cNvSpPr/>
          <p:nvPr/>
        </p:nvSpPr>
        <p:spPr>
          <a:xfrm>
            <a:off x="11391901" y="3248660"/>
            <a:ext cx="4648200" cy="495300"/>
          </a:xfrm>
          <a:prstGeom prst="roundRect">
            <a:avLst>
              <a:gd name="adj" fmla="val 11538"/>
            </a:avLst>
          </a:prstGeom>
          <a:solidFill>
            <a:srgbClr val="FF4444">
              <a:alpha val="70000"/>
            </a:srgbClr>
          </a:solidFill>
          <a:ln/>
        </p:spPr>
      </p:sp>
      <p:sp>
        <p:nvSpPr>
          <p:cNvPr id="30" name="Text 28"/>
          <p:cNvSpPr/>
          <p:nvPr/>
        </p:nvSpPr>
        <p:spPr>
          <a:xfrm>
            <a:off x="14927423" y="3343910"/>
            <a:ext cx="1036479"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E8F4FF"/>
                </a:solidFill>
                <a:latin typeface="Courier New" pitchFamily="34" charset="0"/>
                <a:ea typeface="Courier New" pitchFamily="34" charset="-122"/>
                <a:cs typeface="Courier New" pitchFamily="34" charset="-120"/>
              </a:rPr>
              <a:t>355 km</a:t>
            </a:r>
            <a:endParaRPr lang="en-US" sz="2100" dirty="0"/>
          </a:p>
        </p:txBody>
      </p:sp>
      <p:sp>
        <p:nvSpPr>
          <p:cNvPr id="31" name="Text 29"/>
          <p:cNvSpPr/>
          <p:nvPr/>
        </p:nvSpPr>
        <p:spPr>
          <a:xfrm>
            <a:off x="16383001" y="3364230"/>
            <a:ext cx="1028700" cy="302260"/>
          </a:xfrm>
          <a:prstGeom prst="rect">
            <a:avLst/>
          </a:prstGeom>
          <a:noFill/>
          <a:ln/>
        </p:spPr>
        <p:txBody>
          <a:bodyPr wrap="square" lIns="25400" tIns="25400" rIns="25400" bIns="25400" rtlCol="0" anchor="t">
            <a:normAutofit/>
          </a:bodyPr>
          <a:lstStyle/>
          <a:p>
            <a:pPr marL="0" indent="0" algn="l">
              <a:buNone/>
            </a:pPr>
            <a:r>
              <a:rPr lang="en-US" sz="1800" dirty="0">
                <a:solidFill>
                  <a:srgbClr val="5A7A9A"/>
                </a:solidFill>
                <a:latin typeface="Courier New" pitchFamily="34" charset="0"/>
                <a:ea typeface="Courier New" pitchFamily="34" charset="-122"/>
                <a:cs typeface="Courier New" pitchFamily="34" charset="-120"/>
              </a:rPr>
              <a:t>ref</a:t>
            </a:r>
            <a:endParaRPr lang="en-US" sz="1800" dirty="0"/>
          </a:p>
        </p:txBody>
      </p:sp>
      <p:sp>
        <p:nvSpPr>
          <p:cNvPr id="32" name="Text 30"/>
          <p:cNvSpPr/>
          <p:nvPr/>
        </p:nvSpPr>
        <p:spPr>
          <a:xfrm>
            <a:off x="9372601" y="4067810"/>
            <a:ext cx="1790700" cy="342900"/>
          </a:xfrm>
          <a:prstGeom prst="rect">
            <a:avLst/>
          </a:prstGeom>
          <a:noFill/>
          <a:ln/>
        </p:spPr>
        <p:txBody>
          <a:bodyPr wrap="square" lIns="25400" tIns="25400" rIns="25400" bIns="25400" rtlCol="0" anchor="t">
            <a:normAutofit/>
          </a:bodyPr>
          <a:lstStyle/>
          <a:p>
            <a:pPr marL="0" indent="0" algn="r">
              <a:buNone/>
            </a:pPr>
            <a:r>
              <a:rPr lang="en-US" sz="2100" dirty="0">
                <a:solidFill>
                  <a:srgbClr val="4488FF"/>
                </a:solidFill>
                <a:latin typeface="Courier New" pitchFamily="34" charset="0"/>
                <a:ea typeface="Courier New" pitchFamily="34" charset="-122"/>
                <a:cs typeface="Courier New" pitchFamily="34" charset="-120"/>
              </a:rPr>
              <a:t>Kalman</a:t>
            </a:r>
            <a:endParaRPr lang="en-US" sz="2100" dirty="0"/>
          </a:p>
        </p:txBody>
      </p:sp>
      <p:sp>
        <p:nvSpPr>
          <p:cNvPr id="33" name="Shape 31"/>
          <p:cNvSpPr/>
          <p:nvPr/>
        </p:nvSpPr>
        <p:spPr>
          <a:xfrm>
            <a:off x="11391901" y="3972560"/>
            <a:ext cx="4648200" cy="495300"/>
          </a:xfrm>
          <a:prstGeom prst="roundRect">
            <a:avLst>
              <a:gd name="adj" fmla="val 11538"/>
            </a:avLst>
          </a:prstGeom>
          <a:solidFill>
            <a:srgbClr val="FFFFFF">
              <a:alpha val="6000"/>
            </a:srgbClr>
          </a:solidFill>
          <a:ln/>
        </p:spPr>
      </p:sp>
      <p:sp>
        <p:nvSpPr>
          <p:cNvPr id="34" name="Shape 32"/>
          <p:cNvSpPr/>
          <p:nvPr/>
        </p:nvSpPr>
        <p:spPr>
          <a:xfrm>
            <a:off x="11391901" y="3972560"/>
            <a:ext cx="2905125" cy="495300"/>
          </a:xfrm>
          <a:prstGeom prst="roundRect">
            <a:avLst>
              <a:gd name="adj" fmla="val 11538"/>
            </a:avLst>
          </a:prstGeom>
          <a:solidFill>
            <a:srgbClr val="4488FF">
              <a:alpha val="70000"/>
            </a:srgbClr>
          </a:solidFill>
          <a:ln/>
        </p:spPr>
      </p:sp>
      <p:sp>
        <p:nvSpPr>
          <p:cNvPr id="35" name="Text 33"/>
          <p:cNvSpPr/>
          <p:nvPr/>
        </p:nvSpPr>
        <p:spPr>
          <a:xfrm>
            <a:off x="13184346" y="4067810"/>
            <a:ext cx="1036479"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E8F4FF"/>
                </a:solidFill>
                <a:latin typeface="Courier New" pitchFamily="34" charset="0"/>
                <a:ea typeface="Courier New" pitchFamily="34" charset="-122"/>
                <a:cs typeface="Courier New" pitchFamily="34" charset="-120"/>
              </a:rPr>
              <a:t>222 km</a:t>
            </a:r>
            <a:endParaRPr lang="en-US" sz="2100" dirty="0"/>
          </a:p>
        </p:txBody>
      </p:sp>
      <p:sp>
        <p:nvSpPr>
          <p:cNvPr id="36" name="Text 34"/>
          <p:cNvSpPr/>
          <p:nvPr/>
        </p:nvSpPr>
        <p:spPr>
          <a:xfrm>
            <a:off x="16383001" y="4088130"/>
            <a:ext cx="1028700" cy="302260"/>
          </a:xfrm>
          <a:prstGeom prst="rect">
            <a:avLst/>
          </a:prstGeom>
          <a:noFill/>
          <a:ln/>
        </p:spPr>
        <p:txBody>
          <a:bodyPr wrap="square" lIns="25400" tIns="25400" rIns="25400" bIns="25400" rtlCol="0" anchor="t">
            <a:normAutofit/>
          </a:bodyPr>
          <a:lstStyle/>
          <a:p>
            <a:pPr marL="0" indent="0" algn="l">
              <a:buNone/>
            </a:pPr>
            <a:r>
              <a:rPr lang="en-US" sz="1800" dirty="0">
                <a:solidFill>
                  <a:srgbClr val="4488FF"/>
                </a:solidFill>
                <a:latin typeface="Courier New" pitchFamily="34" charset="0"/>
                <a:ea typeface="Courier New" pitchFamily="34" charset="-122"/>
                <a:cs typeface="Courier New" pitchFamily="34" charset="-120"/>
              </a:rPr>
              <a:t>−37%</a:t>
            </a:r>
            <a:endParaRPr lang="en-US" sz="1800" dirty="0"/>
          </a:p>
        </p:txBody>
      </p:sp>
      <p:sp>
        <p:nvSpPr>
          <p:cNvPr id="37" name="Text 35"/>
          <p:cNvSpPr/>
          <p:nvPr/>
        </p:nvSpPr>
        <p:spPr>
          <a:xfrm>
            <a:off x="9372601" y="4791710"/>
            <a:ext cx="1790700" cy="342900"/>
          </a:xfrm>
          <a:prstGeom prst="rect">
            <a:avLst/>
          </a:prstGeom>
          <a:noFill/>
          <a:ln/>
        </p:spPr>
        <p:txBody>
          <a:bodyPr wrap="square" lIns="25400" tIns="25400" rIns="25400" bIns="25400" rtlCol="0" anchor="t">
            <a:normAutofit/>
          </a:bodyPr>
          <a:lstStyle/>
          <a:p>
            <a:pPr marL="0" indent="0" algn="r">
              <a:buNone/>
            </a:pPr>
            <a:r>
              <a:rPr lang="en-US" sz="2100" dirty="0">
                <a:solidFill>
                  <a:srgbClr val="00FF88"/>
                </a:solidFill>
                <a:latin typeface="Courier New" pitchFamily="34" charset="0"/>
                <a:ea typeface="Courier New" pitchFamily="34" charset="-122"/>
                <a:cs typeface="Courier New" pitchFamily="34" charset="-120"/>
              </a:rPr>
              <a:t>GRU</a:t>
            </a:r>
            <a:endParaRPr lang="en-US" sz="2100" dirty="0"/>
          </a:p>
        </p:txBody>
      </p:sp>
      <p:sp>
        <p:nvSpPr>
          <p:cNvPr id="38" name="Shape 36"/>
          <p:cNvSpPr/>
          <p:nvPr/>
        </p:nvSpPr>
        <p:spPr>
          <a:xfrm>
            <a:off x="11391901" y="4696460"/>
            <a:ext cx="4648200" cy="495300"/>
          </a:xfrm>
          <a:prstGeom prst="roundRect">
            <a:avLst>
              <a:gd name="adj" fmla="val 11538"/>
            </a:avLst>
          </a:prstGeom>
          <a:solidFill>
            <a:srgbClr val="FFFFFF">
              <a:alpha val="6000"/>
            </a:srgbClr>
          </a:solidFill>
          <a:ln/>
        </p:spPr>
      </p:sp>
      <p:sp>
        <p:nvSpPr>
          <p:cNvPr id="39" name="Shape 37"/>
          <p:cNvSpPr/>
          <p:nvPr/>
        </p:nvSpPr>
        <p:spPr>
          <a:xfrm>
            <a:off x="11391901" y="4696460"/>
            <a:ext cx="2240280" cy="495300"/>
          </a:xfrm>
          <a:prstGeom prst="roundRect">
            <a:avLst>
              <a:gd name="adj" fmla="val 11538"/>
            </a:avLst>
          </a:prstGeom>
          <a:solidFill>
            <a:srgbClr val="00FF88">
              <a:alpha val="70000"/>
            </a:srgbClr>
          </a:solidFill>
          <a:ln/>
        </p:spPr>
      </p:sp>
      <p:sp>
        <p:nvSpPr>
          <p:cNvPr id="40" name="Text 38"/>
          <p:cNvSpPr/>
          <p:nvPr/>
        </p:nvSpPr>
        <p:spPr>
          <a:xfrm>
            <a:off x="12519502" y="4791710"/>
            <a:ext cx="1036479"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E8F4FF"/>
                </a:solidFill>
                <a:latin typeface="Courier New" pitchFamily="34" charset="0"/>
                <a:ea typeface="Courier New" pitchFamily="34" charset="-122"/>
                <a:cs typeface="Courier New" pitchFamily="34" charset="-120"/>
              </a:rPr>
              <a:t>171 km</a:t>
            </a:r>
            <a:endParaRPr lang="en-US" sz="2100" dirty="0"/>
          </a:p>
        </p:txBody>
      </p:sp>
      <p:sp>
        <p:nvSpPr>
          <p:cNvPr id="41" name="Text 39"/>
          <p:cNvSpPr/>
          <p:nvPr/>
        </p:nvSpPr>
        <p:spPr>
          <a:xfrm>
            <a:off x="16383001" y="4812030"/>
            <a:ext cx="1028700" cy="302260"/>
          </a:xfrm>
          <a:prstGeom prst="rect">
            <a:avLst/>
          </a:prstGeom>
          <a:noFill/>
          <a:ln/>
        </p:spPr>
        <p:txBody>
          <a:bodyPr wrap="square" lIns="25400" tIns="25400" rIns="25400" bIns="25400" rtlCol="0" anchor="t">
            <a:normAutofit/>
          </a:bodyPr>
          <a:lstStyle/>
          <a:p>
            <a:pPr marL="0" indent="0" algn="l">
              <a:buNone/>
            </a:pPr>
            <a:r>
              <a:rPr lang="en-US" sz="1800" dirty="0">
                <a:solidFill>
                  <a:srgbClr val="00FF88"/>
                </a:solidFill>
                <a:latin typeface="Courier New" pitchFamily="34" charset="0"/>
                <a:ea typeface="Courier New" pitchFamily="34" charset="-122"/>
                <a:cs typeface="Courier New" pitchFamily="34" charset="-120"/>
              </a:rPr>
              <a:t>−52%</a:t>
            </a:r>
            <a:endParaRPr lang="en-US" sz="1800" dirty="0"/>
          </a:p>
        </p:txBody>
      </p:sp>
      <p:sp>
        <p:nvSpPr>
          <p:cNvPr id="42" name="Shape 40"/>
          <p:cNvSpPr/>
          <p:nvPr/>
        </p:nvSpPr>
        <p:spPr>
          <a:xfrm>
            <a:off x="5838349" y="5715001"/>
            <a:ext cx="228600" cy="228600"/>
          </a:xfrm>
          <a:prstGeom prst="roundRect">
            <a:avLst>
              <a:gd name="adj" fmla="val 16667"/>
            </a:avLst>
          </a:prstGeom>
          <a:solidFill>
            <a:srgbClr val="FF4444">
              <a:alpha val="70000"/>
            </a:srgbClr>
          </a:solidFill>
          <a:ln/>
        </p:spPr>
      </p:sp>
      <p:sp>
        <p:nvSpPr>
          <p:cNvPr id="43" name="Text 41"/>
          <p:cNvSpPr/>
          <p:nvPr/>
        </p:nvSpPr>
        <p:spPr>
          <a:xfrm>
            <a:off x="6371749" y="5687060"/>
            <a:ext cx="1355725" cy="322580"/>
          </a:xfrm>
          <a:prstGeom prst="rect">
            <a:avLst/>
          </a:prstGeom>
          <a:noFill/>
          <a:ln/>
        </p:spPr>
        <p:txBody>
          <a:bodyPr wrap="square" lIns="25400" tIns="25400" rIns="25400" bIns="25400" rtlCol="0" anchor="t">
            <a:normAutofit/>
          </a:bodyPr>
          <a:lstStyle/>
          <a:p>
            <a:pPr marL="0" indent="0" algn="l">
              <a:buNone/>
            </a:pPr>
            <a:r>
              <a:rPr lang="en-US" sz="1950" dirty="0">
                <a:solidFill>
                  <a:srgbClr val="FF4444"/>
                </a:solidFill>
                <a:latin typeface="Arial" pitchFamily="34" charset="0"/>
                <a:ea typeface="Arial" pitchFamily="34" charset="-122"/>
                <a:cs typeface="Arial" pitchFamily="34" charset="-120"/>
              </a:rPr>
              <a:t>Great-circle</a:t>
            </a:r>
            <a:endParaRPr lang="en-US" sz="1950" dirty="0"/>
          </a:p>
        </p:txBody>
      </p:sp>
      <p:sp>
        <p:nvSpPr>
          <p:cNvPr id="44" name="Shape 42"/>
          <p:cNvSpPr/>
          <p:nvPr/>
        </p:nvSpPr>
        <p:spPr>
          <a:xfrm>
            <a:off x="8184674" y="5715001"/>
            <a:ext cx="228600" cy="228600"/>
          </a:xfrm>
          <a:prstGeom prst="roundRect">
            <a:avLst>
              <a:gd name="adj" fmla="val 16667"/>
            </a:avLst>
          </a:prstGeom>
          <a:solidFill>
            <a:srgbClr val="4488FF">
              <a:alpha val="70000"/>
            </a:srgbClr>
          </a:solidFill>
          <a:ln/>
        </p:spPr>
      </p:sp>
      <p:sp>
        <p:nvSpPr>
          <p:cNvPr id="45" name="Text 43"/>
          <p:cNvSpPr/>
          <p:nvPr/>
        </p:nvSpPr>
        <p:spPr>
          <a:xfrm>
            <a:off x="8718074" y="5687060"/>
            <a:ext cx="1475264" cy="322580"/>
          </a:xfrm>
          <a:prstGeom prst="rect">
            <a:avLst/>
          </a:prstGeom>
          <a:noFill/>
          <a:ln/>
        </p:spPr>
        <p:txBody>
          <a:bodyPr wrap="square" lIns="25400" tIns="25400" rIns="25400" bIns="25400" rtlCol="0" anchor="t">
            <a:normAutofit/>
          </a:bodyPr>
          <a:lstStyle/>
          <a:p>
            <a:pPr marL="0" indent="0" algn="l">
              <a:buNone/>
            </a:pPr>
            <a:r>
              <a:rPr lang="en-US" sz="1950" dirty="0">
                <a:solidFill>
                  <a:srgbClr val="4488FF"/>
                </a:solidFill>
                <a:latin typeface="Arial" pitchFamily="34" charset="0"/>
                <a:ea typeface="Arial" pitchFamily="34" charset="-122"/>
                <a:cs typeface="Arial" pitchFamily="34" charset="-120"/>
              </a:rPr>
              <a:t>Kalman RTS</a:t>
            </a:r>
            <a:endParaRPr lang="en-US" sz="1950" dirty="0"/>
          </a:p>
        </p:txBody>
      </p:sp>
      <p:sp>
        <p:nvSpPr>
          <p:cNvPr id="46" name="Shape 44"/>
          <p:cNvSpPr/>
          <p:nvPr/>
        </p:nvSpPr>
        <p:spPr>
          <a:xfrm>
            <a:off x="10650538" y="5715001"/>
            <a:ext cx="228600" cy="228600"/>
          </a:xfrm>
          <a:prstGeom prst="roundRect">
            <a:avLst>
              <a:gd name="adj" fmla="val 16667"/>
            </a:avLst>
          </a:prstGeom>
          <a:solidFill>
            <a:srgbClr val="00FF88">
              <a:alpha val="70000"/>
            </a:srgbClr>
          </a:solidFill>
          <a:ln/>
        </p:spPr>
      </p:sp>
      <p:sp>
        <p:nvSpPr>
          <p:cNvPr id="47" name="Text 45"/>
          <p:cNvSpPr/>
          <p:nvPr/>
        </p:nvSpPr>
        <p:spPr>
          <a:xfrm>
            <a:off x="11183938" y="5687060"/>
            <a:ext cx="1341914" cy="322580"/>
          </a:xfrm>
          <a:prstGeom prst="rect">
            <a:avLst/>
          </a:prstGeom>
          <a:noFill/>
          <a:ln/>
        </p:spPr>
        <p:txBody>
          <a:bodyPr wrap="square" lIns="25400" tIns="25400" rIns="25400" bIns="25400" rtlCol="0" anchor="t">
            <a:normAutofit/>
          </a:bodyPr>
          <a:lstStyle/>
          <a:p>
            <a:pPr marL="0" indent="0" algn="l">
              <a:buNone/>
            </a:pPr>
            <a:r>
              <a:rPr lang="en-US" sz="1950" dirty="0">
                <a:solidFill>
                  <a:srgbClr val="00FF88"/>
                </a:solidFill>
                <a:latin typeface="Arial" pitchFamily="34" charset="0"/>
                <a:ea typeface="Arial" pitchFamily="34" charset="-122"/>
                <a:cs typeface="Arial" pitchFamily="34" charset="-120"/>
              </a:rPr>
              <a:t>GRU (ours)</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sp>
        <p:nvSpPr>
          <p:cNvPr id="7" name="Shape 5"/>
          <p:cNvSpPr/>
          <p:nvPr/>
        </p:nvSpPr>
        <p:spPr>
          <a:xfrm>
            <a:off x="0" y="0"/>
            <a:ext cx="18288001" cy="2143760"/>
          </a:xfrm>
          <a:prstGeom prst="rect">
            <a:avLst/>
          </a:prstGeom>
          <a:solidFill>
            <a:srgbClr val="0A1628">
              <a:alpha val="95000"/>
            </a:srgbClr>
          </a:solidFill>
          <a:ln/>
        </p:spPr>
      </p:sp>
      <p:sp>
        <p:nvSpPr>
          <p:cNvPr id="8" name="Shape 6"/>
          <p:cNvSpPr/>
          <p:nvPr/>
        </p:nvSpPr>
        <p:spPr>
          <a:xfrm>
            <a:off x="952500" y="381000"/>
            <a:ext cx="2962116" cy="398780"/>
          </a:xfrm>
          <a:prstGeom prst="roundRect">
            <a:avLst>
              <a:gd name="adj" fmla="val 9554"/>
            </a:avLst>
          </a:prstGeom>
          <a:ln w="10160">
            <a:solidFill>
              <a:srgbClr val="00D4FF"/>
            </a:solidFill>
            <a:prstDash val="solid"/>
          </a:ln>
        </p:spPr>
      </p:sp>
      <p:sp>
        <p:nvSpPr>
          <p:cNvPr id="9" name="Text 7"/>
          <p:cNvSpPr/>
          <p:nvPr/>
        </p:nvSpPr>
        <p:spPr>
          <a:xfrm>
            <a:off x="1153160" y="448310"/>
            <a:ext cx="2649660"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D4FF"/>
                </a:solidFill>
                <a:latin typeface="Courier New" pitchFamily="34" charset="0"/>
                <a:ea typeface="Courier New" pitchFamily="34" charset="-122"/>
                <a:cs typeface="Courier New" pitchFamily="34" charset="-120"/>
              </a:rPr>
              <a:t>BEST CASE RESULT</a:t>
            </a:r>
            <a:endParaRPr lang="en-US" sz="1800" dirty="0"/>
          </a:p>
        </p:txBody>
      </p:sp>
      <p:sp>
        <p:nvSpPr>
          <p:cNvPr id="10" name="Text 8"/>
          <p:cNvSpPr/>
          <p:nvPr/>
        </p:nvSpPr>
        <p:spPr>
          <a:xfrm>
            <a:off x="952500" y="875030"/>
            <a:ext cx="3531870" cy="1002030"/>
          </a:xfrm>
          <a:prstGeom prst="rect">
            <a:avLst/>
          </a:prstGeom>
          <a:noFill/>
          <a:ln/>
        </p:spPr>
        <p:txBody>
          <a:bodyPr wrap="square" lIns="25400" tIns="25400" rIns="25400" bIns="25400" rtlCol="0" anchor="t">
            <a:normAutofit/>
          </a:bodyPr>
          <a:lstStyle/>
          <a:p>
            <a:pPr marL="0" indent="0" algn="l">
              <a:lnSpc>
                <a:spcPct val="115000"/>
              </a:lnSpc>
              <a:buNone/>
            </a:pPr>
            <a:r>
              <a:rPr lang="en-US" sz="3300" b="1" dirty="0">
                <a:solidFill>
                  <a:srgbClr val="FFFFFF"/>
                </a:solidFill>
                <a:latin typeface="Arial" pitchFamily="34" charset="0"/>
                <a:ea typeface="Arial" pitchFamily="34" charset="-122"/>
                <a:cs typeface="Arial" pitchFamily="34" charset="-120"/>
              </a:rPr>
              <a:t>Flight </a:t>
            </a:r>
            <a:r>
              <a:rPr lang="en-US" sz="3300" b="1" dirty="0">
                <a:solidFill>
                  <a:srgbClr val="00D4FF"/>
                </a:solidFill>
                <a:latin typeface="Arial" pitchFamily="34" charset="0"/>
                <a:ea typeface="Arial" pitchFamily="34" charset="-122"/>
                <a:cs typeface="Arial" pitchFamily="34" charset="-120"/>
              </a:rPr>
              <a:t>BAW2273 </a:t>
            </a:r>
            <a:r>
              <a:rPr lang="en-US" sz="3300" b="1" dirty="0">
                <a:solidFill>
                  <a:srgbClr val="FFFFFF"/>
                </a:solidFill>
                <a:latin typeface="Arial" pitchFamily="34" charset="0"/>
                <a:ea typeface="Arial" pitchFamily="34" charset="-122"/>
                <a:cs typeface="Arial" pitchFamily="34" charset="-120"/>
              </a:rPr>
              <a:t>01 Aug 2025</a:t>
            </a:r>
            <a:endParaRPr lang="en-US" sz="3300" dirty="0"/>
          </a:p>
        </p:txBody>
      </p:sp>
      <p:sp>
        <p:nvSpPr>
          <p:cNvPr id="11" name="Shape 9"/>
          <p:cNvSpPr/>
          <p:nvPr/>
        </p:nvSpPr>
        <p:spPr>
          <a:xfrm>
            <a:off x="8205471" y="510540"/>
            <a:ext cx="2763996" cy="1198880"/>
          </a:xfrm>
          <a:prstGeom prst="roundRect">
            <a:avLst>
              <a:gd name="adj" fmla="val 7945"/>
            </a:avLst>
          </a:prstGeom>
          <a:solidFill>
            <a:srgbClr val="FF4444">
              <a:alpha val="7000"/>
            </a:srgbClr>
          </a:solidFill>
          <a:ln w="10160">
            <a:solidFill>
              <a:srgbClr val="FF4444">
                <a:alpha val="30000"/>
              </a:srgbClr>
            </a:solidFill>
            <a:prstDash val="solid"/>
          </a:ln>
        </p:spPr>
      </p:sp>
      <p:sp>
        <p:nvSpPr>
          <p:cNvPr id="12" name="Text 10"/>
          <p:cNvSpPr/>
          <p:nvPr/>
        </p:nvSpPr>
        <p:spPr>
          <a:xfrm>
            <a:off x="8520431" y="692150"/>
            <a:ext cx="2134076" cy="302260"/>
          </a:xfrm>
          <a:prstGeom prst="rect">
            <a:avLst/>
          </a:prstGeom>
          <a:noFill/>
          <a:ln/>
        </p:spPr>
        <p:txBody>
          <a:bodyPr wrap="square" lIns="25400" tIns="25400" rIns="25400" bIns="25400" rtlCol="0" anchor="t">
            <a:normAutofit/>
          </a:bodyPr>
          <a:lstStyle/>
          <a:p>
            <a:pPr marL="0" indent="0" algn="ctr">
              <a:buNone/>
            </a:pPr>
            <a:r>
              <a:rPr lang="en-US" sz="1800" dirty="0">
                <a:solidFill>
                  <a:srgbClr val="5A7A9A"/>
                </a:solidFill>
                <a:latin typeface="Courier New" pitchFamily="34" charset="0"/>
                <a:ea typeface="Courier New" pitchFamily="34" charset="-122"/>
                <a:cs typeface="Courier New" pitchFamily="34" charset="-120"/>
              </a:rPr>
              <a:t>BASELINE</a:t>
            </a:r>
            <a:endParaRPr lang="en-US" sz="1800" dirty="0"/>
          </a:p>
        </p:txBody>
      </p:sp>
      <p:sp>
        <p:nvSpPr>
          <p:cNvPr id="13" name="Text 11"/>
          <p:cNvSpPr/>
          <p:nvPr/>
        </p:nvSpPr>
        <p:spPr>
          <a:xfrm>
            <a:off x="8520431" y="956310"/>
            <a:ext cx="2134076" cy="609600"/>
          </a:xfrm>
          <a:prstGeom prst="rect">
            <a:avLst/>
          </a:prstGeom>
          <a:noFill/>
          <a:ln/>
        </p:spPr>
        <p:txBody>
          <a:bodyPr wrap="square" lIns="25400" tIns="25400" rIns="25400" bIns="25400" rtlCol="0" anchor="t">
            <a:normAutofit/>
          </a:bodyPr>
          <a:lstStyle/>
          <a:p>
            <a:pPr marL="0" indent="0" algn="ctr">
              <a:lnSpc>
                <a:spcPct val="100000"/>
              </a:lnSpc>
              <a:buNone/>
            </a:pPr>
            <a:r>
              <a:rPr lang="en-US" sz="4500" b="1" dirty="0">
                <a:solidFill>
                  <a:srgbClr val="FF4444"/>
                </a:solidFill>
                <a:latin typeface="Courier New" pitchFamily="34" charset="0"/>
                <a:ea typeface="Courier New" pitchFamily="34" charset="-122"/>
                <a:cs typeface="Courier New" pitchFamily="34" charset="-120"/>
              </a:rPr>
              <a:t>439 km</a:t>
            </a:r>
            <a:endParaRPr lang="en-US" sz="4500" dirty="0"/>
          </a:p>
        </p:txBody>
      </p:sp>
      <p:sp>
        <p:nvSpPr>
          <p:cNvPr id="14" name="Text 12"/>
          <p:cNvSpPr/>
          <p:nvPr/>
        </p:nvSpPr>
        <p:spPr>
          <a:xfrm>
            <a:off x="11236166" y="891540"/>
            <a:ext cx="457200" cy="474980"/>
          </a:xfrm>
          <a:prstGeom prst="rect">
            <a:avLst/>
          </a:prstGeom>
          <a:noFill/>
          <a:ln/>
        </p:spPr>
        <p:txBody>
          <a:bodyPr wrap="square" lIns="25400" tIns="25400" rIns="25400" bIns="25400" rtlCol="0" anchor="t">
            <a:normAutofit/>
          </a:bodyPr>
          <a:lstStyle/>
          <a:p>
            <a:pPr marL="0" indent="0" algn="l">
              <a:buNone/>
            </a:pPr>
            <a:r>
              <a:rPr lang="en-US" sz="3000" dirty="0">
                <a:solidFill>
                  <a:srgbClr val="5A7A9A"/>
                </a:solidFill>
                <a:latin typeface="Arial" pitchFamily="34" charset="0"/>
                <a:ea typeface="Arial" pitchFamily="34" charset="-122"/>
                <a:cs typeface="Arial" pitchFamily="34" charset="-120"/>
              </a:rPr>
              <a:t>→</a:t>
            </a:r>
            <a:endParaRPr lang="en-US" sz="3000" dirty="0"/>
          </a:p>
        </p:txBody>
      </p:sp>
      <p:sp>
        <p:nvSpPr>
          <p:cNvPr id="15" name="Shape 13"/>
          <p:cNvSpPr/>
          <p:nvPr/>
        </p:nvSpPr>
        <p:spPr>
          <a:xfrm>
            <a:off x="11883866" y="510540"/>
            <a:ext cx="2420938" cy="1198880"/>
          </a:xfrm>
          <a:prstGeom prst="roundRect">
            <a:avLst>
              <a:gd name="adj" fmla="val 7945"/>
            </a:avLst>
          </a:prstGeom>
          <a:solidFill>
            <a:srgbClr val="00FF88">
              <a:alpha val="7000"/>
            </a:srgbClr>
          </a:solidFill>
          <a:ln w="10160">
            <a:solidFill>
              <a:srgbClr val="00FF88">
                <a:alpha val="30000"/>
              </a:srgbClr>
            </a:solidFill>
            <a:prstDash val="solid"/>
          </a:ln>
        </p:spPr>
      </p:sp>
      <p:sp>
        <p:nvSpPr>
          <p:cNvPr id="16" name="Text 14"/>
          <p:cNvSpPr/>
          <p:nvPr/>
        </p:nvSpPr>
        <p:spPr>
          <a:xfrm>
            <a:off x="12198826" y="692150"/>
            <a:ext cx="1791018" cy="302260"/>
          </a:xfrm>
          <a:prstGeom prst="rect">
            <a:avLst/>
          </a:prstGeom>
          <a:noFill/>
          <a:ln/>
        </p:spPr>
        <p:txBody>
          <a:bodyPr wrap="square" lIns="25400" tIns="25400" rIns="25400" bIns="25400" rtlCol="0" anchor="t">
            <a:normAutofit/>
          </a:bodyPr>
          <a:lstStyle/>
          <a:p>
            <a:pPr marL="0" indent="0" algn="ctr">
              <a:buNone/>
            </a:pPr>
            <a:r>
              <a:rPr lang="en-US" sz="1800" dirty="0">
                <a:solidFill>
                  <a:srgbClr val="5A7A9A"/>
                </a:solidFill>
                <a:latin typeface="Courier New" pitchFamily="34" charset="0"/>
                <a:ea typeface="Courier New" pitchFamily="34" charset="-122"/>
                <a:cs typeface="Courier New" pitchFamily="34" charset="-120"/>
              </a:rPr>
              <a:t>GRU</a:t>
            </a:r>
            <a:endParaRPr lang="en-US" sz="1800" dirty="0"/>
          </a:p>
        </p:txBody>
      </p:sp>
      <p:sp>
        <p:nvSpPr>
          <p:cNvPr id="17" name="Text 15"/>
          <p:cNvSpPr/>
          <p:nvPr/>
        </p:nvSpPr>
        <p:spPr>
          <a:xfrm>
            <a:off x="12198826" y="956310"/>
            <a:ext cx="1791018" cy="609600"/>
          </a:xfrm>
          <a:prstGeom prst="rect">
            <a:avLst/>
          </a:prstGeom>
          <a:noFill/>
          <a:ln/>
        </p:spPr>
        <p:txBody>
          <a:bodyPr wrap="square" lIns="25400" tIns="25400" rIns="25400" bIns="25400" rtlCol="0" anchor="t">
            <a:normAutofit/>
          </a:bodyPr>
          <a:lstStyle/>
          <a:p>
            <a:pPr marL="0" indent="0" algn="ctr">
              <a:lnSpc>
                <a:spcPct val="100000"/>
              </a:lnSpc>
              <a:buNone/>
            </a:pPr>
            <a:r>
              <a:rPr lang="en-US" sz="4500" b="1" dirty="0">
                <a:solidFill>
                  <a:srgbClr val="00FF88"/>
                </a:solidFill>
                <a:latin typeface="Courier New" pitchFamily="34" charset="0"/>
                <a:ea typeface="Courier New" pitchFamily="34" charset="-122"/>
                <a:cs typeface="Courier New" pitchFamily="34" charset="-120"/>
              </a:rPr>
              <a:t>45 km</a:t>
            </a:r>
            <a:endParaRPr lang="en-US" sz="4500" dirty="0"/>
          </a:p>
        </p:txBody>
      </p:sp>
      <p:sp>
        <p:nvSpPr>
          <p:cNvPr id="18" name="Shape 16"/>
          <p:cNvSpPr/>
          <p:nvPr/>
        </p:nvSpPr>
        <p:spPr>
          <a:xfrm>
            <a:off x="14571505" y="510540"/>
            <a:ext cx="2763996" cy="1198880"/>
          </a:xfrm>
          <a:prstGeom prst="roundRect">
            <a:avLst>
              <a:gd name="adj" fmla="val 7945"/>
            </a:avLst>
          </a:prstGeom>
          <a:solidFill>
            <a:srgbClr val="00D4FF">
              <a:alpha val="8000"/>
            </a:srgbClr>
          </a:solidFill>
          <a:ln w="10160">
            <a:solidFill>
              <a:srgbClr val="00D4FF">
                <a:alpha val="30000"/>
              </a:srgbClr>
            </a:solidFill>
            <a:prstDash val="solid"/>
          </a:ln>
        </p:spPr>
      </p:sp>
      <p:sp>
        <p:nvSpPr>
          <p:cNvPr id="19" name="Text 17"/>
          <p:cNvSpPr/>
          <p:nvPr/>
        </p:nvSpPr>
        <p:spPr>
          <a:xfrm>
            <a:off x="14886465" y="692150"/>
            <a:ext cx="2134076" cy="302260"/>
          </a:xfrm>
          <a:prstGeom prst="rect">
            <a:avLst/>
          </a:prstGeom>
          <a:noFill/>
          <a:ln/>
        </p:spPr>
        <p:txBody>
          <a:bodyPr wrap="square" lIns="25400" tIns="25400" rIns="25400" bIns="25400" rtlCol="0" anchor="t">
            <a:normAutofit/>
          </a:bodyPr>
          <a:lstStyle/>
          <a:p>
            <a:pPr marL="0" indent="0" algn="ctr">
              <a:buNone/>
            </a:pPr>
            <a:r>
              <a:rPr lang="en-US" sz="1800" dirty="0">
                <a:solidFill>
                  <a:srgbClr val="5A7A9A"/>
                </a:solidFill>
                <a:latin typeface="Courier New" pitchFamily="34" charset="0"/>
                <a:ea typeface="Courier New" pitchFamily="34" charset="-122"/>
                <a:cs typeface="Courier New" pitchFamily="34" charset="-120"/>
              </a:rPr>
              <a:t>IMPROVEMENT</a:t>
            </a:r>
            <a:endParaRPr lang="en-US" sz="1800" dirty="0"/>
          </a:p>
        </p:txBody>
      </p:sp>
      <p:sp>
        <p:nvSpPr>
          <p:cNvPr id="20" name="Text 18"/>
          <p:cNvSpPr/>
          <p:nvPr/>
        </p:nvSpPr>
        <p:spPr>
          <a:xfrm>
            <a:off x="14886465" y="956310"/>
            <a:ext cx="2134076" cy="609600"/>
          </a:xfrm>
          <a:prstGeom prst="rect">
            <a:avLst/>
          </a:prstGeom>
          <a:noFill/>
          <a:ln/>
        </p:spPr>
        <p:txBody>
          <a:bodyPr wrap="square" lIns="25400" tIns="25400" rIns="25400" bIns="25400" rtlCol="0" anchor="t">
            <a:normAutofit/>
          </a:bodyPr>
          <a:lstStyle/>
          <a:p>
            <a:pPr marL="0" indent="0" algn="ctr">
              <a:lnSpc>
                <a:spcPct val="100000"/>
              </a:lnSpc>
              <a:buNone/>
            </a:pPr>
            <a:r>
              <a:rPr lang="en-US" sz="4500" b="1" dirty="0">
                <a:solidFill>
                  <a:srgbClr val="00D4FF"/>
                </a:solidFill>
                <a:latin typeface="Courier New" pitchFamily="34" charset="0"/>
                <a:ea typeface="Courier New" pitchFamily="34" charset="-122"/>
                <a:cs typeface="Courier New" pitchFamily="34" charset="-120"/>
              </a:rPr>
              <a:t>+89.7%</a:t>
            </a:r>
            <a:endParaRPr lang="en-US" sz="4500" dirty="0"/>
          </a:p>
        </p:txBody>
      </p:sp>
      <p:sp>
        <p:nvSpPr>
          <p:cNvPr id="21" name="Shape 19"/>
          <p:cNvSpPr/>
          <p:nvPr/>
        </p:nvSpPr>
        <p:spPr>
          <a:xfrm>
            <a:off x="571500" y="2286000"/>
            <a:ext cx="17145001" cy="7239001"/>
          </a:xfrm>
          <a:prstGeom prst="roundRect">
            <a:avLst>
              <a:gd name="adj" fmla="val 1316"/>
            </a:avLst>
          </a:prstGeom>
          <a:ln w="10160">
            <a:solidFill>
              <a:srgbClr val="00D4FF">
                <a:alpha val="15000"/>
              </a:srgbClr>
            </a:solidFill>
            <a:prstDash val="solid"/>
          </a:ln>
        </p:spPr>
      </p:sp>
      <p:pic>
        <p:nvPicPr>
          <p:cNvPr id="22" name="Image 0" descr="preencoded.png"/>
          <p:cNvPicPr>
            <a:picLocks noChangeAspect="1"/>
          </p:cNvPicPr>
          <p:nvPr/>
        </p:nvPicPr>
        <p:blipFill>
          <a:blip r:embed="rId3"/>
          <a:srcRect/>
          <a:stretch/>
        </p:blipFill>
        <p:spPr>
          <a:xfrm>
            <a:off x="571500" y="2286000"/>
            <a:ext cx="17145001" cy="7239001"/>
          </a:xfrm>
          <a:prstGeom prst="rect">
            <a:avLst/>
          </a:prstGeom>
        </p:spPr>
      </p:pic>
      <p:sp>
        <p:nvSpPr>
          <p:cNvPr id="23" name="Shape 20"/>
          <p:cNvSpPr/>
          <p:nvPr/>
        </p:nvSpPr>
        <p:spPr>
          <a:xfrm>
            <a:off x="0" y="9525001"/>
            <a:ext cx="18288001" cy="762000"/>
          </a:xfrm>
          <a:prstGeom prst="rect">
            <a:avLst/>
          </a:prstGeom>
          <a:solidFill>
            <a:srgbClr val="0A1628">
              <a:alpha val="90000"/>
            </a:srgbClr>
          </a:solidFill>
          <a:ln/>
        </p:spPr>
      </p:sp>
      <p:sp>
        <p:nvSpPr>
          <p:cNvPr id="24" name="Text 21"/>
          <p:cNvSpPr/>
          <p:nvPr/>
        </p:nvSpPr>
        <p:spPr>
          <a:xfrm>
            <a:off x="5126831" y="9763761"/>
            <a:ext cx="8275205" cy="322580"/>
          </a:xfrm>
          <a:prstGeom prst="rect">
            <a:avLst/>
          </a:prstGeom>
          <a:noFill/>
          <a:ln/>
        </p:spPr>
        <p:txBody>
          <a:bodyPr wrap="square" lIns="25400" tIns="25400" rIns="25400" bIns="25400" rtlCol="0" anchor="t">
            <a:normAutofit/>
          </a:bodyPr>
          <a:lstStyle/>
          <a:p>
            <a:pPr marL="0" indent="0" algn="l">
              <a:buNone/>
            </a:pPr>
            <a:r>
              <a:rPr lang="en-US" sz="1950" i="1" dirty="0">
                <a:solidFill>
                  <a:srgbClr val="E8F4FF">
                    <a:alpha val="70000"/>
                  </a:srgbClr>
                </a:solidFill>
                <a:latin typeface="Arial" pitchFamily="34" charset="0"/>
                <a:ea typeface="Arial" pitchFamily="34" charset="-122"/>
                <a:cs typeface="Arial" pitchFamily="34" charset="-120"/>
              </a:rPr>
              <a:t>"The GRU learned the jet-stream curve the baseline never knew existed."</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sp>
        <p:nvSpPr>
          <p:cNvPr id="7" name="Shape 5"/>
          <p:cNvSpPr/>
          <p:nvPr/>
        </p:nvSpPr>
        <p:spPr>
          <a:xfrm>
            <a:off x="0" y="0"/>
            <a:ext cx="18288001" cy="1672590"/>
          </a:xfrm>
          <a:prstGeom prst="rect">
            <a:avLst/>
          </a:prstGeom>
          <a:solidFill>
            <a:srgbClr val="0A1628">
              <a:alpha val="96000"/>
            </a:srgbClr>
          </a:solidFill>
          <a:ln/>
        </p:spPr>
      </p:sp>
      <p:sp>
        <p:nvSpPr>
          <p:cNvPr id="8" name="Shape 6"/>
          <p:cNvSpPr/>
          <p:nvPr/>
        </p:nvSpPr>
        <p:spPr>
          <a:xfrm>
            <a:off x="952500" y="342900"/>
            <a:ext cx="1841818" cy="398780"/>
          </a:xfrm>
          <a:prstGeom prst="roundRect">
            <a:avLst>
              <a:gd name="adj" fmla="val 9554"/>
            </a:avLst>
          </a:prstGeom>
          <a:ln w="10160">
            <a:solidFill>
              <a:srgbClr val="00D4FF"/>
            </a:solidFill>
            <a:prstDash val="solid"/>
          </a:ln>
        </p:spPr>
      </p:sp>
      <p:sp>
        <p:nvSpPr>
          <p:cNvPr id="9" name="Text 7"/>
          <p:cNvSpPr/>
          <p:nvPr/>
        </p:nvSpPr>
        <p:spPr>
          <a:xfrm>
            <a:off x="1153160" y="410210"/>
            <a:ext cx="1516698"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D4FF"/>
                </a:solidFill>
                <a:latin typeface="Courier New" pitchFamily="34" charset="0"/>
                <a:ea typeface="Courier New" pitchFamily="34" charset="-122"/>
                <a:cs typeface="Courier New" pitchFamily="34" charset="-120"/>
              </a:rPr>
              <a:t>LIVE DEMO</a:t>
            </a:r>
            <a:endParaRPr lang="en-US" sz="1800" dirty="0"/>
          </a:p>
        </p:txBody>
      </p:sp>
      <p:sp>
        <p:nvSpPr>
          <p:cNvPr id="10" name="Text 8"/>
          <p:cNvSpPr/>
          <p:nvPr/>
        </p:nvSpPr>
        <p:spPr>
          <a:xfrm>
            <a:off x="952500" y="836930"/>
            <a:ext cx="6803428" cy="607060"/>
          </a:xfrm>
          <a:prstGeom prst="rect">
            <a:avLst/>
          </a:prstGeom>
          <a:noFill/>
          <a:ln/>
        </p:spPr>
        <p:txBody>
          <a:bodyPr wrap="square" lIns="25400" tIns="25400" rIns="25400" bIns="25400" rtlCol="0" anchor="t">
            <a:normAutofit/>
          </a:bodyPr>
          <a:lstStyle/>
          <a:p>
            <a:pPr marL="0" indent="0" algn="l">
              <a:buNone/>
            </a:pPr>
            <a:r>
              <a:rPr lang="en-US" sz="3900" b="1" dirty="0">
                <a:solidFill>
                  <a:srgbClr val="FFFFFF"/>
                </a:solidFill>
                <a:latin typeface="Arial" pitchFamily="34" charset="0"/>
                <a:ea typeface="Arial" pitchFamily="34" charset="-122"/>
                <a:cs typeface="Arial" pitchFamily="34" charset="-120"/>
              </a:rPr>
              <a:t>AeroFusion </a:t>
            </a:r>
            <a:r>
              <a:rPr lang="en-US" sz="3900" b="1" dirty="0">
                <a:solidFill>
                  <a:srgbClr val="00D4FF"/>
                </a:solidFill>
                <a:latin typeface="Arial" pitchFamily="34" charset="0"/>
                <a:ea typeface="Arial" pitchFamily="34" charset="-122"/>
                <a:cs typeface="Arial" pitchFamily="34" charset="-120"/>
              </a:rPr>
              <a:t>Live Dashboard</a:t>
            </a:r>
            <a:endParaRPr lang="en-US" sz="3900" dirty="0"/>
          </a:p>
        </p:txBody>
      </p:sp>
      <p:sp>
        <p:nvSpPr>
          <p:cNvPr id="11" name="Shape 9"/>
          <p:cNvSpPr/>
          <p:nvPr/>
        </p:nvSpPr>
        <p:spPr>
          <a:xfrm>
            <a:off x="12273757" y="626745"/>
            <a:ext cx="1975326" cy="495300"/>
          </a:xfrm>
          <a:prstGeom prst="roundRect">
            <a:avLst>
              <a:gd name="adj" fmla="val 11538"/>
            </a:avLst>
          </a:prstGeom>
          <a:solidFill>
            <a:srgbClr val="FF4444">
              <a:alpha val="12000"/>
            </a:srgbClr>
          </a:solidFill>
          <a:ln w="10160">
            <a:solidFill>
              <a:srgbClr val="FF4444">
                <a:alpha val="30000"/>
              </a:srgbClr>
            </a:solidFill>
            <a:prstDash val="solid"/>
          </a:ln>
        </p:spPr>
      </p:sp>
      <p:sp>
        <p:nvSpPr>
          <p:cNvPr id="12" name="Text 10"/>
          <p:cNvSpPr/>
          <p:nvPr/>
        </p:nvSpPr>
        <p:spPr>
          <a:xfrm>
            <a:off x="12512517" y="732155"/>
            <a:ext cx="1574006" cy="322580"/>
          </a:xfrm>
          <a:prstGeom prst="rect">
            <a:avLst/>
          </a:prstGeom>
          <a:noFill/>
          <a:ln/>
        </p:spPr>
        <p:txBody>
          <a:bodyPr wrap="square" lIns="25400" tIns="25400" rIns="25400" bIns="25400" rtlCol="0" anchor="t">
            <a:normAutofit/>
          </a:bodyPr>
          <a:lstStyle/>
          <a:p>
            <a:pPr marL="0" indent="0" algn="l">
              <a:buNone/>
            </a:pPr>
            <a:r>
              <a:rPr lang="en-US" sz="1950" dirty="0">
                <a:solidFill>
                  <a:srgbClr val="FF4444"/>
                </a:solidFill>
                <a:latin typeface="Arial" pitchFamily="34" charset="0"/>
                <a:ea typeface="Arial" pitchFamily="34" charset="-122"/>
                <a:cs typeface="Arial" pitchFamily="34" charset="-120"/>
              </a:rPr>
              <a:t>● Great-circle</a:t>
            </a:r>
            <a:endParaRPr lang="en-US" sz="1950" dirty="0"/>
          </a:p>
        </p:txBody>
      </p:sp>
      <p:sp>
        <p:nvSpPr>
          <p:cNvPr id="13" name="Shape 11"/>
          <p:cNvSpPr/>
          <p:nvPr/>
        </p:nvSpPr>
        <p:spPr>
          <a:xfrm>
            <a:off x="14401484" y="626745"/>
            <a:ext cx="1535430" cy="495300"/>
          </a:xfrm>
          <a:prstGeom prst="roundRect">
            <a:avLst>
              <a:gd name="adj" fmla="val 11538"/>
            </a:avLst>
          </a:prstGeom>
          <a:solidFill>
            <a:srgbClr val="4488FF">
              <a:alpha val="12000"/>
            </a:srgbClr>
          </a:solidFill>
          <a:ln w="10160">
            <a:solidFill>
              <a:srgbClr val="4488FF">
                <a:alpha val="30000"/>
              </a:srgbClr>
            </a:solidFill>
            <a:prstDash val="solid"/>
          </a:ln>
        </p:spPr>
      </p:sp>
      <p:sp>
        <p:nvSpPr>
          <p:cNvPr id="14" name="Text 12"/>
          <p:cNvSpPr/>
          <p:nvPr/>
        </p:nvSpPr>
        <p:spPr>
          <a:xfrm>
            <a:off x="14640244" y="732155"/>
            <a:ext cx="1134110" cy="322580"/>
          </a:xfrm>
          <a:prstGeom prst="rect">
            <a:avLst/>
          </a:prstGeom>
          <a:noFill/>
          <a:ln/>
        </p:spPr>
        <p:txBody>
          <a:bodyPr wrap="square" lIns="25400" tIns="25400" rIns="25400" bIns="25400" rtlCol="0" anchor="t">
            <a:normAutofit/>
          </a:bodyPr>
          <a:lstStyle/>
          <a:p>
            <a:pPr marL="0" indent="0" algn="l">
              <a:buNone/>
            </a:pPr>
            <a:r>
              <a:rPr lang="en-US" sz="1950" dirty="0">
                <a:solidFill>
                  <a:srgbClr val="4488FF"/>
                </a:solidFill>
                <a:latin typeface="Arial" pitchFamily="34" charset="0"/>
                <a:ea typeface="Arial" pitchFamily="34" charset="-122"/>
                <a:cs typeface="Arial" pitchFamily="34" charset="-120"/>
              </a:rPr>
              <a:t>● Kalman</a:t>
            </a:r>
            <a:endParaRPr lang="en-US" sz="1950" dirty="0"/>
          </a:p>
        </p:txBody>
      </p:sp>
      <p:sp>
        <p:nvSpPr>
          <p:cNvPr id="15" name="Shape 13"/>
          <p:cNvSpPr/>
          <p:nvPr/>
        </p:nvSpPr>
        <p:spPr>
          <a:xfrm>
            <a:off x="16089313" y="626745"/>
            <a:ext cx="1246188" cy="495300"/>
          </a:xfrm>
          <a:prstGeom prst="roundRect">
            <a:avLst>
              <a:gd name="adj" fmla="val 11538"/>
            </a:avLst>
          </a:prstGeom>
          <a:solidFill>
            <a:srgbClr val="00FF88">
              <a:alpha val="12000"/>
            </a:srgbClr>
          </a:solidFill>
          <a:ln w="10160">
            <a:solidFill>
              <a:srgbClr val="00FF88">
                <a:alpha val="30000"/>
              </a:srgbClr>
            </a:solidFill>
            <a:prstDash val="solid"/>
          </a:ln>
        </p:spPr>
      </p:sp>
      <p:sp>
        <p:nvSpPr>
          <p:cNvPr id="16" name="Text 14"/>
          <p:cNvSpPr/>
          <p:nvPr/>
        </p:nvSpPr>
        <p:spPr>
          <a:xfrm>
            <a:off x="16328073" y="732155"/>
            <a:ext cx="844868" cy="322580"/>
          </a:xfrm>
          <a:prstGeom prst="rect">
            <a:avLst/>
          </a:prstGeom>
          <a:noFill/>
          <a:ln/>
        </p:spPr>
        <p:txBody>
          <a:bodyPr wrap="square" lIns="25400" tIns="25400" rIns="25400" bIns="25400" rtlCol="0" anchor="t">
            <a:normAutofit/>
          </a:bodyPr>
          <a:lstStyle/>
          <a:p>
            <a:pPr marL="0" indent="0" algn="l">
              <a:buNone/>
            </a:pPr>
            <a:r>
              <a:rPr lang="en-US" sz="1950" dirty="0">
                <a:solidFill>
                  <a:srgbClr val="00FF88"/>
                </a:solidFill>
                <a:latin typeface="Arial" pitchFamily="34" charset="0"/>
                <a:ea typeface="Arial" pitchFamily="34" charset="-122"/>
                <a:cs typeface="Arial" pitchFamily="34" charset="-120"/>
              </a:rPr>
              <a:t>● GRU</a:t>
            </a:r>
            <a:endParaRPr lang="en-US" sz="1950" dirty="0"/>
          </a:p>
        </p:txBody>
      </p:sp>
      <p:sp>
        <p:nvSpPr>
          <p:cNvPr id="17" name="Shape 15"/>
          <p:cNvSpPr/>
          <p:nvPr/>
        </p:nvSpPr>
        <p:spPr>
          <a:xfrm>
            <a:off x="457200" y="1619250"/>
            <a:ext cx="15906751" cy="7620001"/>
          </a:xfrm>
          <a:prstGeom prst="roundRect">
            <a:avLst>
              <a:gd name="adj" fmla="val 1000"/>
            </a:avLst>
          </a:prstGeom>
          <a:ln w="10160">
            <a:solidFill>
              <a:srgbClr val="00D4FF">
                <a:alpha val="20000"/>
              </a:srgbClr>
            </a:solidFill>
            <a:prstDash val="solid"/>
          </a:ln>
        </p:spPr>
      </p:sp>
      <p:pic>
        <p:nvPicPr>
          <p:cNvPr id="18" name="Image 0" descr="preencoded.png"/>
          <p:cNvPicPr>
            <a:picLocks noChangeAspect="1"/>
          </p:cNvPicPr>
          <p:nvPr/>
        </p:nvPicPr>
        <p:blipFill>
          <a:blip r:embed="rId3"/>
          <a:srcRect/>
          <a:stretch/>
        </p:blipFill>
        <p:spPr>
          <a:xfrm>
            <a:off x="457200" y="1619250"/>
            <a:ext cx="15906751" cy="7620001"/>
          </a:xfrm>
          <a:prstGeom prst="rect">
            <a:avLst/>
          </a:prstGeom>
        </p:spPr>
      </p:pic>
      <p:sp>
        <p:nvSpPr>
          <p:cNvPr id="19" name="Shape 16"/>
          <p:cNvSpPr/>
          <p:nvPr/>
        </p:nvSpPr>
        <p:spPr>
          <a:xfrm>
            <a:off x="0" y="9239251"/>
            <a:ext cx="18288001" cy="1047750"/>
          </a:xfrm>
          <a:prstGeom prst="rect">
            <a:avLst/>
          </a:prstGeom>
          <a:solidFill>
            <a:srgbClr val="0A1628">
              <a:alpha val="96000"/>
            </a:srgbClr>
          </a:solidFill>
          <a:ln/>
        </p:spPr>
      </p:sp>
      <p:sp>
        <p:nvSpPr>
          <p:cNvPr id="20" name="Shape 17"/>
          <p:cNvSpPr/>
          <p:nvPr/>
        </p:nvSpPr>
        <p:spPr>
          <a:xfrm>
            <a:off x="0" y="9239251"/>
            <a:ext cx="18288001" cy="10160"/>
          </a:xfrm>
          <a:prstGeom prst="rect">
            <a:avLst/>
          </a:prstGeom>
          <a:solidFill>
            <a:srgbClr val="00D4FF">
              <a:alpha val="10000"/>
            </a:srgbClr>
          </a:solidFill>
          <a:ln/>
        </p:spPr>
      </p:sp>
      <p:sp>
        <p:nvSpPr>
          <p:cNvPr id="21" name="Shape 18"/>
          <p:cNvSpPr/>
          <p:nvPr/>
        </p:nvSpPr>
        <p:spPr>
          <a:xfrm>
            <a:off x="3158808" y="9446261"/>
            <a:ext cx="10160" cy="643890"/>
          </a:xfrm>
          <a:prstGeom prst="rect">
            <a:avLst/>
          </a:prstGeom>
          <a:solidFill>
            <a:srgbClr val="00D4FF">
              <a:alpha val="10000"/>
            </a:srgbClr>
          </a:solidFill>
          <a:ln/>
        </p:spPr>
      </p:sp>
      <p:sp>
        <p:nvSpPr>
          <p:cNvPr id="22" name="Text 19"/>
          <p:cNvSpPr/>
          <p:nvPr/>
        </p:nvSpPr>
        <p:spPr>
          <a:xfrm>
            <a:off x="381000" y="9565006"/>
            <a:ext cx="380524" cy="444500"/>
          </a:xfrm>
          <a:prstGeom prst="rect">
            <a:avLst/>
          </a:prstGeom>
          <a:noFill/>
          <a:ln/>
        </p:spPr>
        <p:txBody>
          <a:bodyPr wrap="square" lIns="25400" tIns="25400" rIns="25400" bIns="25400" rtlCol="0" anchor="t">
            <a:normAutofit/>
          </a:bodyPr>
          <a:lstStyle/>
          <a:p>
            <a:pPr marL="0" indent="0" algn="l">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23" name="Text 20"/>
          <p:cNvSpPr/>
          <p:nvPr/>
        </p:nvSpPr>
        <p:spPr>
          <a:xfrm>
            <a:off x="837724" y="9446261"/>
            <a:ext cx="2016284" cy="681990"/>
          </a:xfrm>
          <a:prstGeom prst="rect">
            <a:avLst/>
          </a:prstGeom>
          <a:noFill/>
          <a:ln/>
        </p:spPr>
        <p:txBody>
          <a:bodyPr wrap="square" lIns="25400" tIns="25400" rIns="25400" bIns="25400" rtlCol="0" anchor="t">
            <a:normAutofit/>
          </a:bodyPr>
          <a:lstStyle/>
          <a:p>
            <a:pPr marL="0" indent="0" algn="l">
              <a:lnSpc>
                <a:spcPct val="130000"/>
              </a:lnSpc>
              <a:buNone/>
            </a:pPr>
            <a:r>
              <a:rPr lang="en-US" sz="1950" dirty="0">
                <a:solidFill>
                  <a:srgbClr val="FFFFFF"/>
                </a:solidFill>
                <a:latin typeface="Arial" pitchFamily="34" charset="0"/>
                <a:ea typeface="Arial" pitchFamily="34" charset="-122"/>
                <a:cs typeface="Arial" pitchFamily="34" charset="-120"/>
              </a:rPr>
              <a:t>All 3 methods on NAT map</a:t>
            </a:r>
            <a:endParaRPr lang="en-US" sz="1950" dirty="0"/>
          </a:p>
        </p:txBody>
      </p:sp>
      <p:sp>
        <p:nvSpPr>
          <p:cNvPr id="24" name="Shape 21"/>
          <p:cNvSpPr/>
          <p:nvPr/>
        </p:nvSpPr>
        <p:spPr>
          <a:xfrm>
            <a:off x="6327775" y="9446261"/>
            <a:ext cx="10160" cy="643890"/>
          </a:xfrm>
          <a:prstGeom prst="rect">
            <a:avLst/>
          </a:prstGeom>
          <a:solidFill>
            <a:srgbClr val="00D4FF">
              <a:alpha val="10000"/>
            </a:srgbClr>
          </a:solidFill>
          <a:ln/>
        </p:spPr>
      </p:sp>
      <p:sp>
        <p:nvSpPr>
          <p:cNvPr id="25" name="Text 22"/>
          <p:cNvSpPr/>
          <p:nvPr/>
        </p:nvSpPr>
        <p:spPr>
          <a:xfrm>
            <a:off x="3549968" y="9565006"/>
            <a:ext cx="494824" cy="444500"/>
          </a:xfrm>
          <a:prstGeom prst="rect">
            <a:avLst/>
          </a:prstGeom>
          <a:noFill/>
          <a:ln/>
        </p:spPr>
        <p:txBody>
          <a:bodyPr wrap="square" lIns="25400" tIns="25400" rIns="25400" bIns="25400" rtlCol="0" anchor="t">
            <a:normAutofit/>
          </a:bodyPr>
          <a:lstStyle/>
          <a:p>
            <a:pPr marL="0" indent="0" algn="l">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26" name="Text 23"/>
          <p:cNvSpPr/>
          <p:nvPr/>
        </p:nvSpPr>
        <p:spPr>
          <a:xfrm>
            <a:off x="4120991" y="9446261"/>
            <a:ext cx="1901984" cy="681990"/>
          </a:xfrm>
          <a:prstGeom prst="rect">
            <a:avLst/>
          </a:prstGeom>
          <a:noFill/>
          <a:ln/>
        </p:spPr>
        <p:txBody>
          <a:bodyPr wrap="square" lIns="25400" tIns="25400" rIns="25400" bIns="25400" rtlCol="0" anchor="t">
            <a:normAutofit/>
          </a:bodyPr>
          <a:lstStyle/>
          <a:p>
            <a:pPr marL="0" indent="0" algn="l">
              <a:lnSpc>
                <a:spcPct val="130000"/>
              </a:lnSpc>
              <a:buNone/>
            </a:pPr>
            <a:r>
              <a:rPr lang="en-US" sz="1950" dirty="0">
                <a:solidFill>
                  <a:srgbClr val="FFFFFF"/>
                </a:solidFill>
                <a:latin typeface="Arial" pitchFamily="34" charset="0"/>
                <a:ea typeface="Arial" pitchFamily="34" charset="-122"/>
                <a:cs typeface="Arial" pitchFamily="34" charset="-120"/>
              </a:rPr>
              <a:t>Per-flight error metrics</a:t>
            </a:r>
            <a:endParaRPr lang="en-US" sz="1950" dirty="0"/>
          </a:p>
        </p:txBody>
      </p:sp>
      <p:sp>
        <p:nvSpPr>
          <p:cNvPr id="27" name="Shape 24"/>
          <p:cNvSpPr/>
          <p:nvPr/>
        </p:nvSpPr>
        <p:spPr>
          <a:xfrm>
            <a:off x="9496743" y="9446261"/>
            <a:ext cx="10160" cy="643890"/>
          </a:xfrm>
          <a:prstGeom prst="rect">
            <a:avLst/>
          </a:prstGeom>
          <a:solidFill>
            <a:srgbClr val="00D4FF">
              <a:alpha val="10000"/>
            </a:srgbClr>
          </a:solidFill>
          <a:ln/>
        </p:spPr>
      </p:sp>
      <p:sp>
        <p:nvSpPr>
          <p:cNvPr id="28" name="Text 25"/>
          <p:cNvSpPr/>
          <p:nvPr/>
        </p:nvSpPr>
        <p:spPr>
          <a:xfrm>
            <a:off x="6718935" y="9565006"/>
            <a:ext cx="494824" cy="444500"/>
          </a:xfrm>
          <a:prstGeom prst="rect">
            <a:avLst/>
          </a:prstGeom>
          <a:noFill/>
          <a:ln/>
        </p:spPr>
        <p:txBody>
          <a:bodyPr wrap="square" lIns="25400" tIns="25400" rIns="25400" bIns="25400" rtlCol="0" anchor="t">
            <a:normAutofit/>
          </a:bodyPr>
          <a:lstStyle/>
          <a:p>
            <a:pPr marL="0" indent="0" algn="l">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29" name="Text 26"/>
          <p:cNvSpPr/>
          <p:nvPr/>
        </p:nvSpPr>
        <p:spPr>
          <a:xfrm>
            <a:off x="7227767" y="9502026"/>
            <a:ext cx="1901984" cy="681990"/>
          </a:xfrm>
          <a:prstGeom prst="rect">
            <a:avLst/>
          </a:prstGeom>
          <a:noFill/>
          <a:ln/>
        </p:spPr>
        <p:txBody>
          <a:bodyPr wrap="square" lIns="25400" tIns="25400" rIns="25400" bIns="25400" rtlCol="0" anchor="t">
            <a:normAutofit/>
          </a:bodyPr>
          <a:lstStyle/>
          <a:p>
            <a:pPr marL="0" indent="0" algn="l">
              <a:lnSpc>
                <a:spcPct val="130000"/>
              </a:lnSpc>
              <a:buNone/>
            </a:pPr>
            <a:r>
              <a:rPr lang="en-US" sz="1600" dirty="0">
                <a:solidFill>
                  <a:srgbClr val="FFFFFF"/>
                </a:solidFill>
                <a:latin typeface="Arial" pitchFamily="34" charset="0"/>
                <a:ea typeface="Arial" pitchFamily="34" charset="-122"/>
                <a:cs typeface="Arial" pitchFamily="34" charset="-120"/>
              </a:rPr>
              <a:t>19 best showcase flights</a:t>
            </a:r>
            <a:endParaRPr lang="en-US" sz="1600" dirty="0"/>
          </a:p>
        </p:txBody>
      </p:sp>
      <p:sp>
        <p:nvSpPr>
          <p:cNvPr id="30" name="Text 27"/>
          <p:cNvSpPr/>
          <p:nvPr/>
        </p:nvSpPr>
        <p:spPr>
          <a:xfrm>
            <a:off x="9887903" y="9565006"/>
            <a:ext cx="494824" cy="444500"/>
          </a:xfrm>
          <a:prstGeom prst="rect">
            <a:avLst/>
          </a:prstGeom>
          <a:noFill/>
          <a:ln/>
        </p:spPr>
        <p:txBody>
          <a:bodyPr wrap="square" lIns="25400" tIns="25400" rIns="25400" bIns="25400" rtlCol="0" anchor="t">
            <a:normAutofit/>
          </a:bodyPr>
          <a:lstStyle/>
          <a:p>
            <a:pPr marL="0" indent="0" algn="l">
              <a:buNone/>
            </a:pPr>
            <a:r>
              <a:rPr lang="en-US" sz="2400" dirty="0">
                <a:solidFill>
                  <a:srgbClr val="FFFFFF"/>
                </a:solidFill>
                <a:latin typeface="Arial" pitchFamily="34" charset="0"/>
                <a:ea typeface="Arial" pitchFamily="34" charset="-122"/>
                <a:cs typeface="Arial" pitchFamily="34" charset="-120"/>
              </a:rPr>
              <a:t>🐳</a:t>
            </a:r>
            <a:endParaRPr lang="en-US" sz="2400" dirty="0"/>
          </a:p>
        </p:txBody>
      </p:sp>
      <p:sp>
        <p:nvSpPr>
          <p:cNvPr id="31" name="Text 28"/>
          <p:cNvSpPr/>
          <p:nvPr/>
        </p:nvSpPr>
        <p:spPr>
          <a:xfrm>
            <a:off x="10458927" y="9504045"/>
            <a:ext cx="4380337" cy="566420"/>
          </a:xfrm>
          <a:prstGeom prst="rect">
            <a:avLst/>
          </a:prstGeom>
          <a:noFill/>
          <a:ln/>
        </p:spPr>
        <p:txBody>
          <a:bodyPr wrap="square" lIns="25400" tIns="25400" rIns="25400" bIns="25400" rtlCol="0" anchor="t">
            <a:normAutofit/>
          </a:bodyPr>
          <a:lstStyle/>
          <a:p>
            <a:pPr marL="0" indent="0" algn="l">
              <a:buNone/>
            </a:pPr>
            <a:r>
              <a:rPr lang="en-US" sz="1800" dirty="0">
                <a:solidFill>
                  <a:srgbClr val="00D4FF"/>
                </a:solidFill>
                <a:latin typeface="Courier New" pitchFamily="34" charset="0"/>
                <a:ea typeface="Courier New" pitchFamily="34" charset="-122"/>
                <a:cs typeface="Courier New" pitchFamily="34" charset="-120"/>
              </a:rPr>
              <a:t>docker pull johnelhachem/aeroengineering_ml</a:t>
            </a:r>
            <a:endParaRPr lang="en-US" sz="1800" dirty="0"/>
          </a:p>
        </p:txBody>
      </p:sp>
      <p:sp>
        <p:nvSpPr>
          <p:cNvPr id="32" name="Shape 29"/>
          <p:cNvSpPr/>
          <p:nvPr/>
        </p:nvSpPr>
        <p:spPr>
          <a:xfrm>
            <a:off x="15092681" y="9610726"/>
            <a:ext cx="10160" cy="314960"/>
          </a:xfrm>
          <a:prstGeom prst="rect">
            <a:avLst/>
          </a:prstGeom>
          <a:solidFill>
            <a:srgbClr val="00D4FF">
              <a:alpha val="10000"/>
            </a:srgbClr>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01" cy="10287000"/>
          </a:xfrm>
          <a:prstGeom prst="rect">
            <a:avLst/>
          </a:prstGeom>
          <a:solidFill>
            <a:srgbClr val="00D4FF">
              <a:alpha val="3000"/>
            </a:srgbClr>
          </a:solidFill>
          <a:ln/>
        </p:spPr>
      </p:sp>
      <p:sp>
        <p:nvSpPr>
          <p:cNvPr id="3" name="Shape 1"/>
          <p:cNvSpPr/>
          <p:nvPr/>
        </p:nvSpPr>
        <p:spPr>
          <a:xfrm>
            <a:off x="342900" y="266700"/>
            <a:ext cx="342900" cy="10160"/>
          </a:xfrm>
          <a:prstGeom prst="rect">
            <a:avLst/>
          </a:prstGeom>
          <a:solidFill>
            <a:srgbClr val="00D4FF">
              <a:alpha val="35000"/>
            </a:srgbClr>
          </a:solidFill>
          <a:ln/>
        </p:spPr>
      </p:sp>
      <p:sp>
        <p:nvSpPr>
          <p:cNvPr id="4" name="Shape 2"/>
          <p:cNvSpPr/>
          <p:nvPr/>
        </p:nvSpPr>
        <p:spPr>
          <a:xfrm>
            <a:off x="342900" y="266700"/>
            <a:ext cx="10160" cy="342900"/>
          </a:xfrm>
          <a:prstGeom prst="rect">
            <a:avLst/>
          </a:prstGeom>
          <a:solidFill>
            <a:srgbClr val="00D4FF">
              <a:alpha val="35000"/>
            </a:srgbClr>
          </a:solidFill>
          <a:ln/>
        </p:spPr>
      </p:sp>
      <p:sp>
        <p:nvSpPr>
          <p:cNvPr id="5" name="Shape 3"/>
          <p:cNvSpPr/>
          <p:nvPr/>
        </p:nvSpPr>
        <p:spPr>
          <a:xfrm>
            <a:off x="17602201" y="10010141"/>
            <a:ext cx="342900" cy="10160"/>
          </a:xfrm>
          <a:prstGeom prst="rect">
            <a:avLst/>
          </a:prstGeom>
          <a:solidFill>
            <a:srgbClr val="00D4FF">
              <a:alpha val="35000"/>
            </a:srgbClr>
          </a:solidFill>
          <a:ln/>
        </p:spPr>
      </p:sp>
      <p:sp>
        <p:nvSpPr>
          <p:cNvPr id="6" name="Shape 4"/>
          <p:cNvSpPr/>
          <p:nvPr/>
        </p:nvSpPr>
        <p:spPr>
          <a:xfrm>
            <a:off x="17934941" y="9677401"/>
            <a:ext cx="10160" cy="342900"/>
          </a:xfrm>
          <a:prstGeom prst="rect">
            <a:avLst/>
          </a:prstGeom>
          <a:solidFill>
            <a:srgbClr val="00D4FF">
              <a:alpha val="35000"/>
            </a:srgbClr>
          </a:solidFill>
          <a:ln/>
        </p:spPr>
      </p:sp>
      <p:sp>
        <p:nvSpPr>
          <p:cNvPr id="7" name="Shape 5"/>
          <p:cNvSpPr/>
          <p:nvPr/>
        </p:nvSpPr>
        <p:spPr>
          <a:xfrm>
            <a:off x="952500" y="762000"/>
            <a:ext cx="2001838" cy="398780"/>
          </a:xfrm>
          <a:prstGeom prst="roundRect">
            <a:avLst>
              <a:gd name="adj" fmla="val 9554"/>
            </a:avLst>
          </a:prstGeom>
          <a:ln w="10160">
            <a:solidFill>
              <a:srgbClr val="00D4FF"/>
            </a:solidFill>
            <a:prstDash val="solid"/>
          </a:ln>
        </p:spPr>
      </p:sp>
      <p:sp>
        <p:nvSpPr>
          <p:cNvPr id="8" name="Text 6"/>
          <p:cNvSpPr/>
          <p:nvPr/>
        </p:nvSpPr>
        <p:spPr>
          <a:xfrm>
            <a:off x="1153160" y="829310"/>
            <a:ext cx="1676717" cy="30226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00D4FF"/>
                </a:solidFill>
                <a:latin typeface="Courier New" pitchFamily="34" charset="0"/>
                <a:ea typeface="Courier New" pitchFamily="34" charset="-122"/>
                <a:cs typeface="Courier New" pitchFamily="34" charset="-120"/>
              </a:rPr>
              <a:t>CONCLUSION</a:t>
            </a:r>
            <a:endParaRPr lang="en-US" sz="1800" dirty="0"/>
          </a:p>
        </p:txBody>
      </p:sp>
      <p:sp>
        <p:nvSpPr>
          <p:cNvPr id="9" name="Text 7"/>
          <p:cNvSpPr/>
          <p:nvPr/>
        </p:nvSpPr>
        <p:spPr>
          <a:xfrm>
            <a:off x="952500" y="1465580"/>
            <a:ext cx="16874491" cy="708660"/>
          </a:xfrm>
          <a:prstGeom prst="rect">
            <a:avLst/>
          </a:prstGeom>
          <a:noFill/>
          <a:ln/>
        </p:spPr>
        <p:txBody>
          <a:bodyPr wrap="square" lIns="25400" tIns="25400" rIns="25400" bIns="25400" rtlCol="0" anchor="t">
            <a:normAutofit/>
          </a:bodyPr>
          <a:lstStyle/>
          <a:p>
            <a:pPr marL="0" indent="0" algn="l">
              <a:lnSpc>
                <a:spcPct val="110000"/>
              </a:lnSpc>
              <a:buNone/>
            </a:pPr>
            <a:r>
              <a:rPr lang="en-US" sz="4800" b="1" dirty="0">
                <a:solidFill>
                  <a:srgbClr val="E8F4FF"/>
                </a:solidFill>
                <a:latin typeface="Arial" pitchFamily="34" charset="0"/>
                <a:ea typeface="Arial" pitchFamily="34" charset="-122"/>
                <a:cs typeface="Arial" pitchFamily="34" charset="-120"/>
              </a:rPr>
              <a:t>What We </a:t>
            </a:r>
            <a:r>
              <a:rPr lang="en-US" sz="4800" b="1" dirty="0">
                <a:solidFill>
                  <a:srgbClr val="00D4FF"/>
                </a:solidFill>
                <a:latin typeface="Arial" pitchFamily="34" charset="0"/>
                <a:ea typeface="Arial" pitchFamily="34" charset="-122"/>
                <a:cs typeface="Arial" pitchFamily="34" charset="-120"/>
              </a:rPr>
              <a:t>Built</a:t>
            </a:r>
            <a:endParaRPr lang="en-US" sz="4800" dirty="0"/>
          </a:p>
        </p:txBody>
      </p:sp>
      <p:sp>
        <p:nvSpPr>
          <p:cNvPr id="10" name="Shape 8"/>
          <p:cNvSpPr/>
          <p:nvPr/>
        </p:nvSpPr>
        <p:spPr>
          <a:xfrm>
            <a:off x="952500" y="2593340"/>
            <a:ext cx="3924300" cy="2226310"/>
          </a:xfrm>
          <a:prstGeom prst="roundRect">
            <a:avLst>
              <a:gd name="adj" fmla="val 4278"/>
            </a:avLst>
          </a:prstGeom>
          <a:solidFill>
            <a:srgbClr val="00D4FF">
              <a:alpha val="7000"/>
            </a:srgbClr>
          </a:solidFill>
          <a:ln w="10160">
            <a:solidFill>
              <a:srgbClr val="00D4FF">
                <a:alpha val="20000"/>
              </a:srgbClr>
            </a:solidFill>
            <a:prstDash val="solid"/>
          </a:ln>
        </p:spPr>
      </p:sp>
      <p:sp>
        <p:nvSpPr>
          <p:cNvPr id="11" name="Text 9"/>
          <p:cNvSpPr/>
          <p:nvPr/>
        </p:nvSpPr>
        <p:spPr>
          <a:xfrm>
            <a:off x="1100315" y="2946400"/>
            <a:ext cx="3628670" cy="800100"/>
          </a:xfrm>
          <a:prstGeom prst="rect">
            <a:avLst/>
          </a:prstGeom>
          <a:noFill/>
          <a:ln/>
        </p:spPr>
        <p:txBody>
          <a:bodyPr wrap="square" lIns="25400" tIns="25400" rIns="25400" bIns="25400" rtlCol="0" anchor="t">
            <a:normAutofit/>
          </a:bodyPr>
          <a:lstStyle/>
          <a:p>
            <a:pPr marL="0" indent="0" algn="ctr">
              <a:lnSpc>
                <a:spcPct val="100000"/>
              </a:lnSpc>
              <a:buNone/>
            </a:pPr>
            <a:r>
              <a:rPr lang="en-US" sz="6000" b="1" dirty="0">
                <a:solidFill>
                  <a:srgbClr val="00D4FF"/>
                </a:solidFill>
                <a:latin typeface="Courier New" pitchFamily="34" charset="0"/>
                <a:ea typeface="Courier New" pitchFamily="34" charset="-122"/>
                <a:cs typeface="Courier New" pitchFamily="34" charset="-120"/>
              </a:rPr>
              <a:t>1,704</a:t>
            </a:r>
            <a:endParaRPr lang="en-US" sz="6000" dirty="0"/>
          </a:p>
        </p:txBody>
      </p:sp>
      <p:sp>
        <p:nvSpPr>
          <p:cNvPr id="12" name="Text 10"/>
          <p:cNvSpPr/>
          <p:nvPr/>
        </p:nvSpPr>
        <p:spPr>
          <a:xfrm>
            <a:off x="1100315" y="3822700"/>
            <a:ext cx="3628670" cy="681990"/>
          </a:xfrm>
          <a:prstGeom prst="rect">
            <a:avLst/>
          </a:prstGeom>
          <a:noFill/>
          <a:ln/>
        </p:spPr>
        <p:txBody>
          <a:bodyPr wrap="square" lIns="25400" tIns="25400" rIns="25400" bIns="25400" rtlCol="0" anchor="t">
            <a:normAutofit/>
          </a:bodyPr>
          <a:lstStyle/>
          <a:p>
            <a:pPr marL="0" indent="0" algn="ctr">
              <a:lnSpc>
                <a:spcPct val="130000"/>
              </a:lnSpc>
              <a:buNone/>
            </a:pPr>
            <a:r>
              <a:rPr lang="en-US" sz="1950" dirty="0">
                <a:solidFill>
                  <a:srgbClr val="E8F4FF">
                    <a:alpha val="70000"/>
                  </a:srgbClr>
                </a:solidFill>
                <a:latin typeface="Arial" pitchFamily="34" charset="0"/>
                <a:ea typeface="Arial" pitchFamily="34" charset="-122"/>
                <a:cs typeface="Arial" pitchFamily="34" charset="-120"/>
              </a:rPr>
              <a:t>validated NAT crossings ingested</a:t>
            </a:r>
            <a:endParaRPr lang="en-US" sz="1950" dirty="0"/>
          </a:p>
        </p:txBody>
      </p:sp>
      <p:sp>
        <p:nvSpPr>
          <p:cNvPr id="13" name="Shape 11"/>
          <p:cNvSpPr/>
          <p:nvPr/>
        </p:nvSpPr>
        <p:spPr>
          <a:xfrm>
            <a:off x="5105400" y="2593340"/>
            <a:ext cx="3924300" cy="2226310"/>
          </a:xfrm>
          <a:prstGeom prst="roundRect">
            <a:avLst>
              <a:gd name="adj" fmla="val 4278"/>
            </a:avLst>
          </a:prstGeom>
          <a:solidFill>
            <a:srgbClr val="00FF88">
              <a:alpha val="7000"/>
            </a:srgbClr>
          </a:solidFill>
          <a:ln w="10160">
            <a:solidFill>
              <a:srgbClr val="00FF88">
                <a:alpha val="30000"/>
              </a:srgbClr>
            </a:solidFill>
            <a:prstDash val="solid"/>
          </a:ln>
        </p:spPr>
      </p:sp>
      <p:sp>
        <p:nvSpPr>
          <p:cNvPr id="14" name="Text 12"/>
          <p:cNvSpPr/>
          <p:nvPr/>
        </p:nvSpPr>
        <p:spPr>
          <a:xfrm>
            <a:off x="5253216" y="2946400"/>
            <a:ext cx="3628670" cy="800100"/>
          </a:xfrm>
          <a:prstGeom prst="rect">
            <a:avLst/>
          </a:prstGeom>
          <a:noFill/>
          <a:ln/>
        </p:spPr>
        <p:txBody>
          <a:bodyPr wrap="square" lIns="25400" tIns="25400" rIns="25400" bIns="25400" rtlCol="0" anchor="t">
            <a:normAutofit/>
          </a:bodyPr>
          <a:lstStyle/>
          <a:p>
            <a:pPr marL="0" indent="0" algn="ctr">
              <a:lnSpc>
                <a:spcPct val="100000"/>
              </a:lnSpc>
              <a:buNone/>
            </a:pPr>
            <a:r>
              <a:rPr lang="en-US" sz="6000" b="1" dirty="0">
                <a:solidFill>
                  <a:srgbClr val="00FF88"/>
                </a:solidFill>
                <a:latin typeface="Courier New" pitchFamily="34" charset="0"/>
                <a:ea typeface="Courier New" pitchFamily="34" charset="-122"/>
                <a:cs typeface="Courier New" pitchFamily="34" charset="-120"/>
              </a:rPr>
              <a:t>51%</a:t>
            </a:r>
            <a:endParaRPr lang="en-US" sz="6000" dirty="0"/>
          </a:p>
        </p:txBody>
      </p:sp>
      <p:sp>
        <p:nvSpPr>
          <p:cNvPr id="15" name="Text 13"/>
          <p:cNvSpPr/>
          <p:nvPr/>
        </p:nvSpPr>
        <p:spPr>
          <a:xfrm>
            <a:off x="5253216" y="3822700"/>
            <a:ext cx="3628670" cy="681990"/>
          </a:xfrm>
          <a:prstGeom prst="rect">
            <a:avLst/>
          </a:prstGeom>
          <a:noFill/>
          <a:ln/>
        </p:spPr>
        <p:txBody>
          <a:bodyPr wrap="square" lIns="25400" tIns="25400" rIns="25400" bIns="25400" rtlCol="0" anchor="t">
            <a:normAutofit/>
          </a:bodyPr>
          <a:lstStyle/>
          <a:p>
            <a:pPr marL="0" indent="0" algn="ctr">
              <a:lnSpc>
                <a:spcPct val="130000"/>
              </a:lnSpc>
              <a:buNone/>
            </a:pPr>
            <a:r>
              <a:rPr lang="en-US" sz="1950" dirty="0">
                <a:solidFill>
                  <a:srgbClr val="E8F4FF">
                    <a:alpha val="70000"/>
                  </a:srgbClr>
                </a:solidFill>
                <a:latin typeface="Arial" pitchFamily="34" charset="0"/>
                <a:ea typeface="Arial" pitchFamily="34" charset="-122"/>
                <a:cs typeface="Arial" pitchFamily="34" charset="-120"/>
              </a:rPr>
              <a:t>median error reduction vs baseline</a:t>
            </a:r>
            <a:endParaRPr lang="en-US" sz="1950" dirty="0"/>
          </a:p>
        </p:txBody>
      </p:sp>
      <p:sp>
        <p:nvSpPr>
          <p:cNvPr id="16" name="Shape 14"/>
          <p:cNvSpPr/>
          <p:nvPr/>
        </p:nvSpPr>
        <p:spPr>
          <a:xfrm>
            <a:off x="9258301" y="2593340"/>
            <a:ext cx="3924300" cy="2226310"/>
          </a:xfrm>
          <a:prstGeom prst="roundRect">
            <a:avLst>
              <a:gd name="adj" fmla="val 4278"/>
            </a:avLst>
          </a:prstGeom>
          <a:solidFill>
            <a:srgbClr val="00FF88">
              <a:alpha val="7000"/>
            </a:srgbClr>
          </a:solidFill>
          <a:ln w="10160">
            <a:solidFill>
              <a:srgbClr val="00FF88">
                <a:alpha val="30000"/>
              </a:srgbClr>
            </a:solidFill>
            <a:prstDash val="solid"/>
          </a:ln>
        </p:spPr>
      </p:sp>
      <p:sp>
        <p:nvSpPr>
          <p:cNvPr id="17" name="Text 15"/>
          <p:cNvSpPr/>
          <p:nvPr/>
        </p:nvSpPr>
        <p:spPr>
          <a:xfrm>
            <a:off x="9406116" y="2946400"/>
            <a:ext cx="3628670" cy="800100"/>
          </a:xfrm>
          <a:prstGeom prst="rect">
            <a:avLst/>
          </a:prstGeom>
          <a:noFill/>
          <a:ln/>
        </p:spPr>
        <p:txBody>
          <a:bodyPr wrap="square" lIns="25400" tIns="25400" rIns="25400" bIns="25400" rtlCol="0" anchor="t">
            <a:normAutofit/>
          </a:bodyPr>
          <a:lstStyle/>
          <a:p>
            <a:pPr marL="0" indent="0" algn="ctr">
              <a:lnSpc>
                <a:spcPct val="100000"/>
              </a:lnSpc>
              <a:buNone/>
            </a:pPr>
            <a:r>
              <a:rPr lang="en-US" sz="6000" b="1" dirty="0">
                <a:solidFill>
                  <a:srgbClr val="00FF88"/>
                </a:solidFill>
                <a:latin typeface="Courier New" pitchFamily="34" charset="0"/>
                <a:ea typeface="Courier New" pitchFamily="34" charset="-122"/>
                <a:cs typeface="Courier New" pitchFamily="34" charset="-120"/>
              </a:rPr>
              <a:t>64 km</a:t>
            </a:r>
            <a:endParaRPr lang="en-US" sz="6000" dirty="0"/>
          </a:p>
        </p:txBody>
      </p:sp>
      <p:sp>
        <p:nvSpPr>
          <p:cNvPr id="18" name="Text 16"/>
          <p:cNvSpPr/>
          <p:nvPr/>
        </p:nvSpPr>
        <p:spPr>
          <a:xfrm>
            <a:off x="9406116" y="3822700"/>
            <a:ext cx="3628670" cy="681990"/>
          </a:xfrm>
          <a:prstGeom prst="rect">
            <a:avLst/>
          </a:prstGeom>
          <a:noFill/>
          <a:ln/>
        </p:spPr>
        <p:txBody>
          <a:bodyPr wrap="square" lIns="25400" tIns="25400" rIns="25400" bIns="25400" rtlCol="0" anchor="t">
            <a:normAutofit/>
          </a:bodyPr>
          <a:lstStyle/>
          <a:p>
            <a:pPr marL="0" indent="0" algn="ctr">
              <a:lnSpc>
                <a:spcPct val="130000"/>
              </a:lnSpc>
              <a:buNone/>
            </a:pPr>
            <a:r>
              <a:rPr lang="en-US" sz="1950" dirty="0">
                <a:solidFill>
                  <a:srgbClr val="E8F4FF">
                    <a:alpha val="70000"/>
                  </a:srgbClr>
                </a:solidFill>
                <a:latin typeface="Arial" pitchFamily="34" charset="0"/>
                <a:ea typeface="Arial" pitchFamily="34" charset="-122"/>
                <a:cs typeface="Arial" pitchFamily="34" charset="-120"/>
              </a:rPr>
              <a:t>GRU median error on 240 test flights</a:t>
            </a:r>
            <a:endParaRPr lang="en-US" sz="1950" dirty="0"/>
          </a:p>
        </p:txBody>
      </p:sp>
      <p:sp>
        <p:nvSpPr>
          <p:cNvPr id="19" name="Shape 17"/>
          <p:cNvSpPr/>
          <p:nvPr/>
        </p:nvSpPr>
        <p:spPr>
          <a:xfrm>
            <a:off x="13411201" y="2593340"/>
            <a:ext cx="3924300" cy="2226310"/>
          </a:xfrm>
          <a:prstGeom prst="roundRect">
            <a:avLst>
              <a:gd name="adj" fmla="val 4278"/>
            </a:avLst>
          </a:prstGeom>
          <a:solidFill>
            <a:srgbClr val="00D4FF">
              <a:alpha val="7000"/>
            </a:srgbClr>
          </a:solidFill>
          <a:ln w="10160">
            <a:solidFill>
              <a:srgbClr val="00D4FF">
                <a:alpha val="20000"/>
              </a:srgbClr>
            </a:solidFill>
            <a:prstDash val="solid"/>
          </a:ln>
        </p:spPr>
      </p:sp>
      <p:sp>
        <p:nvSpPr>
          <p:cNvPr id="20" name="Text 18"/>
          <p:cNvSpPr/>
          <p:nvPr/>
        </p:nvSpPr>
        <p:spPr>
          <a:xfrm>
            <a:off x="13559016" y="2946400"/>
            <a:ext cx="3628670" cy="800100"/>
          </a:xfrm>
          <a:prstGeom prst="rect">
            <a:avLst/>
          </a:prstGeom>
          <a:noFill/>
          <a:ln/>
        </p:spPr>
        <p:txBody>
          <a:bodyPr wrap="square" lIns="25400" tIns="25400" rIns="25400" bIns="25400" rtlCol="0" anchor="t">
            <a:normAutofit/>
          </a:bodyPr>
          <a:lstStyle/>
          <a:p>
            <a:pPr marL="0" indent="0" algn="ctr">
              <a:lnSpc>
                <a:spcPct val="100000"/>
              </a:lnSpc>
              <a:buNone/>
            </a:pPr>
            <a:r>
              <a:rPr lang="en-US" sz="6000" b="1" dirty="0">
                <a:solidFill>
                  <a:srgbClr val="00D4FF"/>
                </a:solidFill>
                <a:latin typeface="Courier New" pitchFamily="34" charset="0"/>
                <a:ea typeface="Courier New" pitchFamily="34" charset="-122"/>
                <a:cs typeface="Courier New" pitchFamily="34" charset="-120"/>
              </a:rPr>
              <a:t>8</a:t>
            </a:r>
            <a:endParaRPr lang="en-US" sz="6000" dirty="0"/>
          </a:p>
        </p:txBody>
      </p:sp>
      <p:sp>
        <p:nvSpPr>
          <p:cNvPr id="21" name="Text 19"/>
          <p:cNvSpPr/>
          <p:nvPr/>
        </p:nvSpPr>
        <p:spPr>
          <a:xfrm>
            <a:off x="13559016" y="3822700"/>
            <a:ext cx="3628670" cy="681990"/>
          </a:xfrm>
          <a:prstGeom prst="rect">
            <a:avLst/>
          </a:prstGeom>
          <a:noFill/>
          <a:ln/>
        </p:spPr>
        <p:txBody>
          <a:bodyPr wrap="square" lIns="25400" tIns="25400" rIns="25400" bIns="25400" rtlCol="0" anchor="t">
            <a:normAutofit/>
          </a:bodyPr>
          <a:lstStyle/>
          <a:p>
            <a:pPr marL="0" indent="0" algn="ctr">
              <a:lnSpc>
                <a:spcPct val="130000"/>
              </a:lnSpc>
              <a:buNone/>
            </a:pPr>
            <a:r>
              <a:rPr lang="en-US" sz="1950" dirty="0">
                <a:solidFill>
                  <a:srgbClr val="E8F4FF">
                    <a:alpha val="70000"/>
                  </a:srgbClr>
                </a:solidFill>
                <a:latin typeface="Arial" pitchFamily="34" charset="0"/>
                <a:ea typeface="Arial" pitchFamily="34" charset="-122"/>
                <a:cs typeface="Arial" pitchFamily="34" charset="-120"/>
              </a:rPr>
              <a:t>pipeline steps from raw data to live API</a:t>
            </a:r>
            <a:endParaRPr lang="en-US" sz="1950" dirty="0"/>
          </a:p>
        </p:txBody>
      </p:sp>
      <p:sp>
        <p:nvSpPr>
          <p:cNvPr id="22" name="Shape 20"/>
          <p:cNvSpPr/>
          <p:nvPr/>
        </p:nvSpPr>
        <p:spPr>
          <a:xfrm>
            <a:off x="952500" y="5162550"/>
            <a:ext cx="16383001" cy="1049020"/>
          </a:xfrm>
          <a:prstGeom prst="roundRect">
            <a:avLst>
              <a:gd name="adj" fmla="val 7264"/>
            </a:avLst>
          </a:prstGeom>
          <a:solidFill>
            <a:srgbClr val="00D4FF">
              <a:alpha val="5000"/>
            </a:srgbClr>
          </a:solidFill>
          <a:ln w="10160">
            <a:solidFill>
              <a:srgbClr val="00D4FF">
                <a:alpha val="15000"/>
              </a:srgbClr>
            </a:solidFill>
            <a:prstDash val="solid"/>
          </a:ln>
        </p:spPr>
      </p:sp>
      <p:sp>
        <p:nvSpPr>
          <p:cNvPr id="23" name="Text 21"/>
          <p:cNvSpPr/>
          <p:nvPr/>
        </p:nvSpPr>
        <p:spPr>
          <a:xfrm>
            <a:off x="1305560" y="5549900"/>
            <a:ext cx="1928654" cy="312420"/>
          </a:xfrm>
          <a:prstGeom prst="rect">
            <a:avLst/>
          </a:prstGeom>
          <a:noFill/>
          <a:ln/>
        </p:spPr>
        <p:txBody>
          <a:bodyPr wrap="square" lIns="25400" tIns="25400" rIns="25400" bIns="25400" rtlCol="0" anchor="t">
            <a:normAutofit/>
          </a:bodyPr>
          <a:lstStyle/>
          <a:p>
            <a:pPr marL="0" indent="0" algn="l">
              <a:buNone/>
            </a:pPr>
            <a:r>
              <a:rPr lang="en-US" sz="1950" kern="0" spc="156" dirty="0">
                <a:solidFill>
                  <a:srgbClr val="00D4FF"/>
                </a:solidFill>
                <a:latin typeface="Courier New" pitchFamily="34" charset="0"/>
                <a:ea typeface="Courier New" pitchFamily="34" charset="-122"/>
                <a:cs typeface="Courier New" pitchFamily="34" charset="-120"/>
              </a:rPr>
              <a:t>FUTURE WORK</a:t>
            </a:r>
            <a:endParaRPr lang="en-US" sz="1950" dirty="0"/>
          </a:p>
        </p:txBody>
      </p:sp>
      <p:sp>
        <p:nvSpPr>
          <p:cNvPr id="24" name="Shape 22"/>
          <p:cNvSpPr/>
          <p:nvPr/>
        </p:nvSpPr>
        <p:spPr>
          <a:xfrm>
            <a:off x="3500914" y="5439410"/>
            <a:ext cx="3015774" cy="495300"/>
          </a:xfrm>
          <a:prstGeom prst="roundRect">
            <a:avLst>
              <a:gd name="adj" fmla="val 7692"/>
            </a:avLst>
          </a:prstGeom>
          <a:solidFill>
            <a:srgbClr val="00D4FF">
              <a:alpha val="8000"/>
            </a:srgbClr>
          </a:solidFill>
          <a:ln w="10160">
            <a:solidFill>
              <a:srgbClr val="00D4FF">
                <a:alpha val="20000"/>
              </a:srgbClr>
            </a:solidFill>
            <a:prstDash val="solid"/>
          </a:ln>
        </p:spPr>
      </p:sp>
      <p:sp>
        <p:nvSpPr>
          <p:cNvPr id="25" name="Text 23"/>
          <p:cNvSpPr/>
          <p:nvPr/>
        </p:nvSpPr>
        <p:spPr>
          <a:xfrm>
            <a:off x="3701574" y="5544820"/>
            <a:ext cx="2704927" cy="322580"/>
          </a:xfrm>
          <a:prstGeom prst="rect">
            <a:avLst/>
          </a:prstGeom>
          <a:noFill/>
          <a:ln/>
        </p:spPr>
        <p:txBody>
          <a:bodyPr wrap="square" lIns="25400" tIns="25400" rIns="25400" bIns="25400" rtlCol="0" anchor="t">
            <a:normAutofit/>
          </a:bodyPr>
          <a:lstStyle/>
          <a:p>
            <a:pPr marL="0" indent="0" algn="l">
              <a:buNone/>
            </a:pPr>
            <a:r>
              <a:rPr lang="en-US" sz="1950" dirty="0">
                <a:solidFill>
                  <a:srgbClr val="FFFFFF"/>
                </a:solidFill>
                <a:latin typeface="Arial" pitchFamily="34" charset="0"/>
                <a:ea typeface="Arial" pitchFamily="34" charset="-122"/>
                <a:cs typeface="Arial" pitchFamily="34" charset="-120"/>
              </a:rPr>
              <a:t>Pacific &amp; polar corridors</a:t>
            </a:r>
            <a:endParaRPr lang="en-US" sz="1950" dirty="0"/>
          </a:p>
        </p:txBody>
      </p:sp>
      <p:sp>
        <p:nvSpPr>
          <p:cNvPr id="26" name="Shape 24"/>
          <p:cNvSpPr/>
          <p:nvPr/>
        </p:nvSpPr>
        <p:spPr>
          <a:xfrm>
            <a:off x="6707188" y="5439410"/>
            <a:ext cx="3217863" cy="495300"/>
          </a:xfrm>
          <a:prstGeom prst="roundRect">
            <a:avLst>
              <a:gd name="adj" fmla="val 7692"/>
            </a:avLst>
          </a:prstGeom>
          <a:solidFill>
            <a:srgbClr val="00D4FF">
              <a:alpha val="8000"/>
            </a:srgbClr>
          </a:solidFill>
          <a:ln w="10160">
            <a:solidFill>
              <a:srgbClr val="00D4FF">
                <a:alpha val="20000"/>
              </a:srgbClr>
            </a:solidFill>
            <a:prstDash val="solid"/>
          </a:ln>
        </p:spPr>
      </p:sp>
      <p:sp>
        <p:nvSpPr>
          <p:cNvPr id="27" name="Text 25"/>
          <p:cNvSpPr/>
          <p:nvPr/>
        </p:nvSpPr>
        <p:spPr>
          <a:xfrm>
            <a:off x="6907848" y="5544820"/>
            <a:ext cx="2913078" cy="322580"/>
          </a:xfrm>
          <a:prstGeom prst="rect">
            <a:avLst/>
          </a:prstGeom>
          <a:noFill/>
          <a:ln/>
        </p:spPr>
        <p:txBody>
          <a:bodyPr wrap="square" lIns="25400" tIns="25400" rIns="25400" bIns="25400" rtlCol="0" anchor="t">
            <a:normAutofit/>
          </a:bodyPr>
          <a:lstStyle/>
          <a:p>
            <a:pPr marL="0" indent="0" algn="l">
              <a:buNone/>
            </a:pPr>
            <a:r>
              <a:rPr lang="en-US" sz="1950" dirty="0">
                <a:solidFill>
                  <a:srgbClr val="FFFFFF"/>
                </a:solidFill>
                <a:latin typeface="Arial" pitchFamily="34" charset="0"/>
                <a:ea typeface="Arial" pitchFamily="34" charset="-122"/>
                <a:cs typeface="Arial" pitchFamily="34" charset="-120"/>
              </a:rPr>
              <a:t>Real-time ATC integration</a:t>
            </a:r>
            <a:endParaRPr lang="en-US" sz="1950" dirty="0"/>
          </a:p>
        </p:txBody>
      </p:sp>
      <p:sp>
        <p:nvSpPr>
          <p:cNvPr id="28" name="Shape 26"/>
          <p:cNvSpPr/>
          <p:nvPr/>
        </p:nvSpPr>
        <p:spPr>
          <a:xfrm>
            <a:off x="10115550" y="5439410"/>
            <a:ext cx="3243104" cy="495300"/>
          </a:xfrm>
          <a:prstGeom prst="roundRect">
            <a:avLst>
              <a:gd name="adj" fmla="val 7692"/>
            </a:avLst>
          </a:prstGeom>
          <a:solidFill>
            <a:srgbClr val="00D4FF">
              <a:alpha val="8000"/>
            </a:srgbClr>
          </a:solidFill>
          <a:ln w="10160">
            <a:solidFill>
              <a:srgbClr val="00D4FF">
                <a:alpha val="20000"/>
              </a:srgbClr>
            </a:solidFill>
            <a:prstDash val="solid"/>
          </a:ln>
        </p:spPr>
      </p:sp>
      <p:sp>
        <p:nvSpPr>
          <p:cNvPr id="29" name="Text 27"/>
          <p:cNvSpPr/>
          <p:nvPr/>
        </p:nvSpPr>
        <p:spPr>
          <a:xfrm>
            <a:off x="10316210" y="5544820"/>
            <a:ext cx="2939077" cy="322580"/>
          </a:xfrm>
          <a:prstGeom prst="rect">
            <a:avLst/>
          </a:prstGeom>
          <a:noFill/>
          <a:ln/>
        </p:spPr>
        <p:txBody>
          <a:bodyPr wrap="square" lIns="25400" tIns="25400" rIns="25400" bIns="25400" rtlCol="0" anchor="t">
            <a:normAutofit/>
          </a:bodyPr>
          <a:lstStyle/>
          <a:p>
            <a:pPr marL="0" indent="0" algn="l">
              <a:buNone/>
            </a:pPr>
            <a:r>
              <a:rPr lang="en-US" sz="1950" dirty="0">
                <a:solidFill>
                  <a:srgbClr val="FFFFFF"/>
                </a:solidFill>
                <a:latin typeface="Arial" pitchFamily="34" charset="0"/>
                <a:ea typeface="Arial" pitchFamily="34" charset="-122"/>
                <a:cs typeface="Arial" pitchFamily="34" charset="-120"/>
              </a:rPr>
              <a:t>Ensemble GRU + Kalman</a:t>
            </a:r>
            <a:endParaRPr lang="en-US" sz="1950" dirty="0"/>
          </a:p>
        </p:txBody>
      </p:sp>
      <p:sp>
        <p:nvSpPr>
          <p:cNvPr id="30" name="Shape 28"/>
          <p:cNvSpPr/>
          <p:nvPr/>
        </p:nvSpPr>
        <p:spPr>
          <a:xfrm>
            <a:off x="4111784" y="6478270"/>
            <a:ext cx="7588250" cy="629920"/>
          </a:xfrm>
          <a:prstGeom prst="roundRect">
            <a:avLst>
              <a:gd name="adj" fmla="val 9073"/>
            </a:avLst>
          </a:prstGeom>
          <a:solidFill>
            <a:srgbClr val="00D4FF">
              <a:alpha val="7000"/>
            </a:srgbClr>
          </a:solidFill>
          <a:ln w="10160">
            <a:solidFill>
              <a:srgbClr val="00D4FF">
                <a:alpha val="20000"/>
              </a:srgbClr>
            </a:solidFill>
            <a:prstDash val="solid"/>
          </a:ln>
        </p:spPr>
      </p:sp>
      <p:sp>
        <p:nvSpPr>
          <p:cNvPr id="31" name="Text 29"/>
          <p:cNvSpPr/>
          <p:nvPr/>
        </p:nvSpPr>
        <p:spPr>
          <a:xfrm>
            <a:off x="4464844" y="6640830"/>
            <a:ext cx="7109778" cy="342900"/>
          </a:xfrm>
          <a:prstGeom prst="rect">
            <a:avLst/>
          </a:prstGeom>
          <a:noFill/>
          <a:ln/>
        </p:spPr>
        <p:txBody>
          <a:bodyPr wrap="square" lIns="25400" tIns="25400" rIns="25400" bIns="25400" rtlCol="0" anchor="t">
            <a:normAutofit/>
          </a:bodyPr>
          <a:lstStyle/>
          <a:p>
            <a:pPr marL="0" indent="0" algn="l">
              <a:buNone/>
            </a:pPr>
            <a:r>
              <a:rPr lang="en-US" sz="2100" dirty="0">
                <a:solidFill>
                  <a:srgbClr val="00D4FF"/>
                </a:solidFill>
                <a:latin typeface="Courier New" pitchFamily="34" charset="0"/>
                <a:ea typeface="Courier New" pitchFamily="34" charset="-122"/>
                <a:cs typeface="Courier New" pitchFamily="34" charset="-120"/>
              </a:rPr>
              <a:t>docker pull johnelhachem/aeroengineering_ml</a:t>
            </a:r>
            <a:endParaRPr lang="en-US" sz="2100" dirty="0"/>
          </a:p>
        </p:txBody>
      </p:sp>
      <p:sp>
        <p:nvSpPr>
          <p:cNvPr id="32" name="Text 30"/>
          <p:cNvSpPr/>
          <p:nvPr/>
        </p:nvSpPr>
        <p:spPr>
          <a:xfrm>
            <a:off x="11928635" y="6569711"/>
            <a:ext cx="2323783" cy="485140"/>
          </a:xfrm>
          <a:prstGeom prst="rect">
            <a:avLst/>
          </a:prstGeom>
          <a:noFill/>
          <a:ln/>
        </p:spPr>
        <p:txBody>
          <a:bodyPr wrap="square" lIns="25400" tIns="25400" rIns="25400" bIns="25400" rtlCol="0" anchor="t">
            <a:normAutofit/>
          </a:bodyPr>
          <a:lstStyle/>
          <a:p>
            <a:pPr marL="0" indent="0" algn="l">
              <a:buNone/>
            </a:pPr>
            <a:r>
              <a:rPr lang="en-US" sz="2700" b="1" dirty="0">
                <a:solidFill>
                  <a:srgbClr val="FFFFFF"/>
                </a:solidFill>
                <a:latin typeface="Arial" pitchFamily="34" charset="0"/>
                <a:ea typeface="Arial" pitchFamily="34" charset="-122"/>
                <a:cs typeface="Arial" pitchFamily="34" charset="-120"/>
              </a:rPr>
              <a:t>✈ Thank you</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1668</Words>
  <Application>Microsoft Office PowerPoint</Application>
  <PresentationFormat>Custom</PresentationFormat>
  <Paragraphs>312</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John El Hachem</cp:lastModifiedBy>
  <cp:revision>6</cp:revision>
  <dcterms:created xsi:type="dcterms:W3CDTF">2026-04-26T19:04:50Z</dcterms:created>
  <dcterms:modified xsi:type="dcterms:W3CDTF">2026-04-26T20:47:50Z</dcterms:modified>
</cp:coreProperties>
</file>